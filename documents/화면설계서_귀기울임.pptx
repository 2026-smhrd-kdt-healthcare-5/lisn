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72" r:id="rId22"/>
    <p:sldId id="261" r:id="rId9"/>
    <p:sldId id="262" r:id="rId10"/>
    <p:sldId id="271" r:id="rId11"/>
    <p:sldId id="263" r:id="rId12"/>
    <p:sldId id="264" r:id="rId13"/>
    <p:sldId id="265" r:id="rId14"/>
    <p:sldId id="269" r:id="rId15"/>
    <p:sldId id="273" r:id="rId23"/>
    <p:sldId id="270" r:id="rId16"/>
    <p:sldId id="274" r:id="rId24"/>
    <p:sldId id="275" r:id="rId25"/>
    <p:sldId id="276" r:id="rId26"/>
    <p:sldId id="277" r:id="rId27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57D0C9-0EA7-4B0F-8A54-AE788284F1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1104" y="72"/>
      </p:cViewPr>
      <p:guideLst>
        <p:guide orient="horz" pos="2159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 sz="1200" b="0" i="0" u="none" strike="noStrik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2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7" name="Google Shape;257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63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342" name="Google Shape;342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7398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342" name="Google Shape;342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46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9906000" cy="511746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6539" y="1080135"/>
            <a:ext cx="9150985" cy="17944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과제명 (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멀티모달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라이프로그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감정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맞춤형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LLM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케어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모니터링시스템</a:t>
            </a: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부제 (</a:t>
            </a:r>
            <a:r>
              <a:rPr lang="ko-KR" altLang="en-US" sz="2000" b="1">
                <a:solidFill>
                  <a:schemeClr val="bg1"/>
                </a:solidFill>
              </a:rPr>
              <a:t>디지털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라이프로그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기반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정서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케어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서비스</a:t>
            </a: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54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화면설계서</a:t>
            </a:r>
            <a:endParaRPr sz="54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351314" y="951706"/>
            <a:ext cx="410845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5464175" y="5868050"/>
            <a:ext cx="4298950" cy="6343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팀명 : 귀기울임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팀원 : 이응균 / 김건영 / 윤일준 / 함은선</a:t>
            </a:r>
            <a:endParaRPr sz="18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2615" y="6136640"/>
            <a:ext cx="1339215" cy="367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2026. 07. 30</a:t>
            </a:r>
            <a:endParaRPr lang="en-US" altLang="ko-KR" sz="18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422275" y="408305"/>
            <a:ext cx="1826260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변경이력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2"/>
          <p:cNvCxnSpPr/>
          <p:nvPr/>
        </p:nvCxnSpPr>
        <p:spPr>
          <a:xfrm>
            <a:off x="553720" y="1099185"/>
            <a:ext cx="873315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100" name="Google Shape;100;p2"/>
          <p:cNvGraphicFramePr/>
          <p:nvPr/>
        </p:nvGraphicFramePr>
        <p:xfrm>
          <a:off x="553720" y="1443355"/>
          <a:ext cx="8733150" cy="3281100"/>
        </p:xfrm>
        <a:graphic>
          <a:graphicData uri="http://schemas.openxmlformats.org/drawingml/2006/table">
            <a:tbl>
              <a:tblPr firstRow="1" bandRow="1">
                <a:noFill/>
                <a:tableStyleId>{4657D0C9-0EA7-4B0F-8A54-AE788284F10E}</a:tableStyleId>
              </a:tblPr>
              <a:tblGrid>
                <a:gridCol w="81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버전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작성일자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수정사항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검수자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0.1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2026.07.20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메뉴 구성 페이지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2026.07.21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플로우 차트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0.3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설계 화면 설명 수정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0.4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화면 설계 페이지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2026.07.28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플로우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차트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수정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및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로그인, 회원가입, 회원가입 정보 입력, 챗봇 성격 선택, 실시간 대화 및 대화기록 조회, 메인 홈 대시보드 화면 관련 유스케이스ID 수정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0.6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2026.07.29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화면 설계 페이지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수정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Google Shape;101;p2"/>
          <p:cNvSpPr txBox="1"/>
          <p:nvPr/>
        </p:nvSpPr>
        <p:spPr>
          <a:xfrm>
            <a:off x="553720" y="5022512"/>
            <a:ext cx="73329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작성방법)</a:t>
            </a:r>
            <a:endParaRPr b="1">
              <a:solidFill>
                <a:srgbClr val="FF0000"/>
              </a:solidFill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화면설계서가 수정될 때마다 버전, 작성자, 수정사항, 수정날짜를 작성하여 이력을 작성해야 한다.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버전은 화면설계서가 수정될 때마다 작성해야 한다.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수정사항은 과거버전 대비 어떠한 내용이 달라졌는지(추가/수정/삭제)를 작성해야 한다.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작성자는 화면설계내용을 작성한 사람이다.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검수자는 화면설계에 대해 문제가 없는지 점검하는 사람이다.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현재 문서를 제출할 경우 현재 작성방법에 대한 내용은 모두 지우고 제출해야 한다.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3"/>
          <p:cNvCxnSpPr/>
          <p:nvPr/>
        </p:nvCxnSpPr>
        <p:spPr>
          <a:xfrm rot="10800000">
            <a:off x="1233946" y="2928490"/>
            <a:ext cx="1200" cy="146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" name="Google Shape;108;p3"/>
          <p:cNvCxnSpPr/>
          <p:nvPr/>
        </p:nvCxnSpPr>
        <p:spPr>
          <a:xfrm rot="10800000" flipH="1">
            <a:off x="8672195" y="2929255"/>
            <a:ext cx="635" cy="173609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9" name="Google Shape;109;p3"/>
          <p:cNvCxnSpPr>
            <a:stCxn id="110" idx="0"/>
            <a:endCxn id="111" idx="2"/>
          </p:cNvCxnSpPr>
          <p:nvPr/>
        </p:nvCxnSpPr>
        <p:spPr>
          <a:xfrm rot="5400000" flipH="1">
            <a:off x="6462493" y="1070390"/>
            <a:ext cx="699900" cy="3717600"/>
          </a:xfrm>
          <a:prstGeom prst="bent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3"/>
          <p:cNvCxnSpPr/>
          <p:nvPr/>
        </p:nvCxnSpPr>
        <p:spPr>
          <a:xfrm rot="10800000" flipH="1">
            <a:off x="2660015" y="2926715"/>
            <a:ext cx="635" cy="181483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" name="Google Shape;113;p3"/>
          <p:cNvCxnSpPr/>
          <p:nvPr/>
        </p:nvCxnSpPr>
        <p:spPr>
          <a:xfrm rot="10800000" flipH="1">
            <a:off x="4159249" y="2926715"/>
            <a:ext cx="635" cy="23152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4" name="Google Shape;114;p3"/>
          <p:cNvCxnSpPr/>
          <p:nvPr/>
        </p:nvCxnSpPr>
        <p:spPr>
          <a:xfrm rot="-5400000">
            <a:off x="4740621" y="3864899"/>
            <a:ext cx="187382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5" name="Google Shape;115;p3"/>
          <p:cNvCxnSpPr/>
          <p:nvPr/>
        </p:nvCxnSpPr>
        <p:spPr>
          <a:xfrm rot="10800000">
            <a:off x="7169785" y="2926715"/>
            <a:ext cx="1270" cy="13925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3"/>
          <p:cNvSpPr txBox="1"/>
          <p:nvPr/>
        </p:nvSpPr>
        <p:spPr>
          <a:xfrm>
            <a:off x="422275" y="408305"/>
            <a:ext cx="1918970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메뉴 구성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553720" y="1099185"/>
            <a:ext cx="873315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4173855" y="2211070"/>
            <a:ext cx="1559560" cy="36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귀기울임(LISN)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05886" y="3279140"/>
            <a:ext cx="875700" cy="349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로그인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23012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734435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홈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24129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챗봇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73354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라이프로그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23341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설정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21615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약관 동의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216150" y="415607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기본정보 입력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216150" y="459549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가입 완료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720464" y="371729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오늘의 감정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720464" y="505460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콘텐츠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22732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성격 선택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23341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웨어러블 연동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233410" y="415607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알림 설정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201795" y="5460365"/>
            <a:ext cx="939165" cy="1194435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242435" y="5508625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명상 / 호흡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42435" y="5877560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음악 / 힐링 사운드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3"/>
          <p:cNvGrpSpPr/>
          <p:nvPr/>
        </p:nvGrpSpPr>
        <p:grpSpPr>
          <a:xfrm>
            <a:off x="8051800" y="1193800"/>
            <a:ext cx="1238250" cy="1435100"/>
            <a:chOff x="8051800" y="1193800"/>
            <a:chExt cx="1238250" cy="1435100"/>
          </a:xfrm>
        </p:grpSpPr>
        <p:sp>
          <p:nvSpPr>
            <p:cNvPr id="135" name="Google Shape;135;p3"/>
            <p:cNvSpPr/>
            <p:nvPr/>
          </p:nvSpPr>
          <p:spPr>
            <a:xfrm>
              <a:off x="8054975" y="1535430"/>
              <a:ext cx="1235075" cy="300355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메인메뉴이름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8054975" y="1877060"/>
              <a:ext cx="1235075" cy="30035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90D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서브메뉴이름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8051800" y="2218690"/>
              <a:ext cx="1235075" cy="410210"/>
            </a:xfrm>
            <a:prstGeom prst="rect">
              <a:avLst/>
            </a:prstGeom>
            <a:solidFill>
              <a:srgbClr val="0090D0">
                <a:alpha val="10196"/>
              </a:srgbClr>
            </a:solidFill>
            <a:ln w="28575" cap="flat" cmpd="sng">
              <a:solidFill>
                <a:srgbClr val="0090D0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서브메뉴 내 메뉴이름</a:t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8054975" y="1193800"/>
              <a:ext cx="1231900" cy="30035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프로젝트명</a:t>
              </a:r>
              <a:endParaRPr/>
            </a:p>
          </p:txBody>
        </p:sp>
      </p:grpSp>
      <p:sp>
        <p:nvSpPr>
          <p:cNvPr id="139" name="Google Shape;139;p3"/>
          <p:cNvSpPr/>
          <p:nvPr/>
        </p:nvSpPr>
        <p:spPr>
          <a:xfrm>
            <a:off x="805744" y="371919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로그인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08284" y="415988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243070" y="6255385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산책 / 운동 추천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220075" y="458470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계정 관리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729730" y="372999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정서 리포트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729730" y="41516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라이프로그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726815" y="415861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라이프로그 요약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726180" y="459994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한줄 요약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226685" y="4154169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대화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236210" y="4588508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725160" y="4984747"/>
            <a:ext cx="939165" cy="810895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765800" y="5033007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 상세보기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765800" y="5401942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삭제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3"/>
          <p:cNvCxnSpPr/>
          <p:nvPr/>
        </p:nvCxnSpPr>
        <p:spPr>
          <a:xfrm rot="-5400000">
            <a:off x="2745980" y="1068265"/>
            <a:ext cx="699900" cy="3717600"/>
          </a:xfrm>
          <a:prstGeom prst="bent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4" name="도형 154"/>
          <p:cNvSpPr/>
          <p:nvPr/>
        </p:nvSpPr>
        <p:spPr>
          <a:xfrm>
            <a:off x="8711565" y="4980112"/>
            <a:ext cx="939165" cy="441960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도형 155"/>
          <p:cNvSpPr/>
          <p:nvPr/>
        </p:nvSpPr>
        <p:spPr>
          <a:xfrm>
            <a:off x="8749665" y="5029007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회원 탈퇴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도형 156"/>
          <p:cNvSpPr/>
          <p:nvPr/>
        </p:nvSpPr>
        <p:spPr>
          <a:xfrm>
            <a:off x="805744" y="460057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비밀번호 재설정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도형 157"/>
          <p:cNvSpPr/>
          <p:nvPr/>
        </p:nvSpPr>
        <p:spPr>
          <a:xfrm>
            <a:off x="805744" y="546036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긴급 상담 연결(전역)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4178935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회원가입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3539064" y="86279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회원가입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3539251" y="162485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회원가입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페이지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3538855" y="4145900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tx1"/>
                </a:solidFill>
              </a:rPr>
              <a:t>회원가입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정보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7" name="사각형: 둥근 모서리 28"/>
          <p:cNvSpPr/>
          <p:nvPr/>
        </p:nvSpPr>
        <p:spPr>
          <a:xfrm>
            <a:off x="7646244" y="6126375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로그인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화면</a:t>
            </a:r>
            <a:br>
              <a:rPr lang="en-US" altLang="ko-KR" sz="1200" b="1" dirty="0">
                <a:solidFill>
                  <a:srgbClr val="FFFFFF"/>
                </a:solidFill>
              </a:rPr>
            </a:br>
            <a:r>
              <a:rPr lang="ko-KR" altLang="en-US" sz="1200" b="1" dirty="0">
                <a:solidFill>
                  <a:srgbClr val="FFFFFF"/>
                </a:solidFill>
              </a:rPr>
              <a:t>이동</a:t>
            </a:r>
          </a:p>
        </p:txBody>
      </p:sp>
      <p:cxnSp>
        <p:nvCxnSpPr>
          <p:cNvPr id="8" name="prstName"/>
          <p:cNvCxnSpPr/>
          <p:nvPr/>
        </p:nvCxnSpPr>
        <p:spPr>
          <a:xfrm rot="5400000">
            <a:off x="4158376" y="1539221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stName"/>
          <p:cNvSpPr/>
          <p:nvPr/>
        </p:nvSpPr>
        <p:spPr>
          <a:xfrm>
            <a:off x="3538855" y="5982925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입력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정보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유효성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검사</a:t>
            </a:r>
          </a:p>
        </p:txBody>
      </p:sp>
      <p:sp>
        <p:nvSpPr>
          <p:cNvPr id="11" name="prstName"/>
          <p:cNvSpPr/>
          <p:nvPr/>
        </p:nvSpPr>
        <p:spPr>
          <a:xfrm>
            <a:off x="3538855" y="2423347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이용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약관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동의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cxnSp>
        <p:nvCxnSpPr>
          <p:cNvPr id="13" name="prstName"/>
          <p:cNvCxnSpPr/>
          <p:nvPr/>
        </p:nvCxnSpPr>
        <p:spPr>
          <a:xfrm rot="16200000" flipH="1">
            <a:off x="4062731" y="3528855"/>
            <a:ext cx="381000" cy="3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stName"/>
          <p:cNvSpPr/>
          <p:nvPr/>
        </p:nvSpPr>
        <p:spPr>
          <a:xfrm>
            <a:off x="7646036" y="4935175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정보</a:t>
            </a:r>
            <a:r>
              <a:rPr lang="en-US" altLang="ko-KR" sz="1200" b="1" dirty="0">
                <a:solidFill>
                  <a:schemeClr val="tx1"/>
                </a:solidFill>
              </a:rPr>
              <a:t> DB </a:t>
            </a:r>
            <a:r>
              <a:rPr lang="ko-KR" altLang="en-US" sz="1200" b="1" dirty="0">
                <a:solidFill>
                  <a:schemeClr val="tx1"/>
                </a:solidFill>
              </a:rPr>
              <a:t>저장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가입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처리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16" name="prstName"/>
          <p:cNvCxnSpPr/>
          <p:nvPr/>
        </p:nvCxnSpPr>
        <p:spPr>
          <a:xfrm rot="10800000">
            <a:off x="2943621" y="3576977"/>
            <a:ext cx="857489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rstName"/>
          <p:cNvCxnSpPr/>
          <p:nvPr/>
        </p:nvCxnSpPr>
        <p:spPr>
          <a:xfrm rot="10800000">
            <a:off x="2921318" y="2338511"/>
            <a:ext cx="1212533" cy="21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rstName"/>
          <p:cNvCxnSpPr/>
          <p:nvPr/>
        </p:nvCxnSpPr>
        <p:spPr>
          <a:xfrm rot="16200000" flipH="1">
            <a:off x="2324500" y="2976268"/>
            <a:ext cx="1238250" cy="635"/>
          </a:xfrm>
          <a:prstGeom prst="line">
            <a:avLst/>
          </a:prstGeom>
          <a:ln w="44450">
            <a:solidFill>
              <a:schemeClr val="tx1">
                <a:alpha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rstName"/>
          <p:cNvCxnSpPr/>
          <p:nvPr/>
        </p:nvCxnSpPr>
        <p:spPr>
          <a:xfrm>
            <a:off x="5349037" y="6410915"/>
            <a:ext cx="1457325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rstName"/>
          <p:cNvCxnSpPr/>
          <p:nvPr/>
        </p:nvCxnSpPr>
        <p:spPr>
          <a:xfrm rot="10800000">
            <a:off x="6763386" y="5125040"/>
            <a:ext cx="8953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rstName"/>
          <p:cNvCxnSpPr/>
          <p:nvPr/>
        </p:nvCxnSpPr>
        <p:spPr>
          <a:xfrm rot="5400000" flipH="1" flipV="1">
            <a:off x="6140212" y="5768297"/>
            <a:ext cx="1285875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stName"/>
          <p:cNvCxnSpPr>
            <a:stCxn id="15" idx="4"/>
            <a:endCxn id="7" idx="0"/>
          </p:cNvCxnSpPr>
          <p:nvPr/>
        </p:nvCxnSpPr>
        <p:spPr>
          <a:xfrm rot="16200000" flipH="1">
            <a:off x="8050665" y="5816423"/>
            <a:ext cx="619700" cy="20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"/>
          <p:cNvSpPr txBox="1"/>
          <p:nvPr/>
        </p:nvSpPr>
        <p:spPr>
          <a:xfrm>
            <a:off x="3155696" y="6249046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sp>
        <p:nvSpPr>
          <p:cNvPr id="27" name="TextBox"/>
          <p:cNvSpPr txBox="1"/>
          <p:nvPr/>
        </p:nvSpPr>
        <p:spPr>
          <a:xfrm>
            <a:off x="4890734" y="6248813"/>
            <a:ext cx="575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28" name="TextBox"/>
          <p:cNvSpPr txBox="1"/>
          <p:nvPr/>
        </p:nvSpPr>
        <p:spPr>
          <a:xfrm>
            <a:off x="3987297" y="3709550"/>
            <a:ext cx="61409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29" name="TextBox"/>
          <p:cNvSpPr txBox="1"/>
          <p:nvPr/>
        </p:nvSpPr>
        <p:spPr>
          <a:xfrm>
            <a:off x="3731875" y="3424633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0" name="prstName"/>
          <p:cNvCxnSpPr/>
          <p:nvPr/>
        </p:nvCxnSpPr>
        <p:spPr>
          <a:xfrm rot="10800000">
            <a:off x="4109085" y="3576977"/>
            <a:ext cx="142875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32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sp>
        <p:nvSpPr>
          <p:cNvPr id="34" name="prstName">
            <a:extLst>
              <a:ext uri="{FF2B5EF4-FFF2-40B4-BE49-F238E27FC236}">
                <a16:creationId xmlns:a16="http://schemas.microsoft.com/office/drawing/2014/main" id="{A158F8C2-CB63-E1B3-A8F5-5B31452FF578}"/>
              </a:ext>
            </a:extLst>
          </p:cNvPr>
          <p:cNvSpPr/>
          <p:nvPr/>
        </p:nvSpPr>
        <p:spPr>
          <a:xfrm>
            <a:off x="3539252" y="494117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rgbClr val="000000"/>
                </a:solidFill>
              </a:rPr>
              <a:t>사용 가능한 이메일</a:t>
            </a:r>
            <a:r>
              <a:rPr lang="en-US" altLang="ko-KR" sz="1200" b="1" dirty="0">
                <a:solidFill>
                  <a:srgbClr val="000000"/>
                </a:solidFill>
              </a:rPr>
              <a:t>?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cxnSp>
        <p:nvCxnSpPr>
          <p:cNvPr id="68" name="prstName">
            <a:extLst>
              <a:ext uri="{FF2B5EF4-FFF2-40B4-BE49-F238E27FC236}">
                <a16:creationId xmlns:a16="http://schemas.microsoft.com/office/drawing/2014/main" id="{A9387E69-1203-F1DB-7E0B-D5FBC80D2631}"/>
              </a:ext>
            </a:extLst>
          </p:cNvPr>
          <p:cNvCxnSpPr/>
          <p:nvPr/>
        </p:nvCxnSpPr>
        <p:spPr>
          <a:xfrm rot="5400000">
            <a:off x="4158376" y="2303493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prstName">
            <a:extLst>
              <a:ext uri="{FF2B5EF4-FFF2-40B4-BE49-F238E27FC236}">
                <a16:creationId xmlns:a16="http://schemas.microsoft.com/office/drawing/2014/main" id="{D03AA4F6-2DB0-6302-9FFA-149B36FCF65D}"/>
              </a:ext>
            </a:extLst>
          </p:cNvPr>
          <p:cNvCxnSpPr/>
          <p:nvPr/>
        </p:nvCxnSpPr>
        <p:spPr>
          <a:xfrm rot="5400000">
            <a:off x="4158376" y="404342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prstName">
            <a:extLst>
              <a:ext uri="{FF2B5EF4-FFF2-40B4-BE49-F238E27FC236}">
                <a16:creationId xmlns:a16="http://schemas.microsoft.com/office/drawing/2014/main" id="{EB5D3CE3-2F7B-3FCE-B4FD-AB60A07A8283}"/>
              </a:ext>
            </a:extLst>
          </p:cNvPr>
          <p:cNvCxnSpPr/>
          <p:nvPr/>
        </p:nvCxnSpPr>
        <p:spPr>
          <a:xfrm rot="5400000">
            <a:off x="4158376" y="482950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prstName">
            <a:extLst>
              <a:ext uri="{FF2B5EF4-FFF2-40B4-BE49-F238E27FC236}">
                <a16:creationId xmlns:a16="http://schemas.microsoft.com/office/drawing/2014/main" id="{D4C611C5-F608-CFB5-36ED-6CF717AD9632}"/>
              </a:ext>
            </a:extLst>
          </p:cNvPr>
          <p:cNvCxnSpPr/>
          <p:nvPr/>
        </p:nvCxnSpPr>
        <p:spPr>
          <a:xfrm rot="5400000">
            <a:off x="4158376" y="590203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">
            <a:extLst>
              <a:ext uri="{FF2B5EF4-FFF2-40B4-BE49-F238E27FC236}">
                <a16:creationId xmlns:a16="http://schemas.microsoft.com/office/drawing/2014/main" id="{371AF7F4-F061-701B-6E13-FB3172E2F552}"/>
              </a:ext>
            </a:extLst>
          </p:cNvPr>
          <p:cNvSpPr txBox="1"/>
          <p:nvPr/>
        </p:nvSpPr>
        <p:spPr>
          <a:xfrm>
            <a:off x="3151777" y="5211125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sp>
        <p:nvSpPr>
          <p:cNvPr id="73" name="TextBox">
            <a:extLst>
              <a:ext uri="{FF2B5EF4-FFF2-40B4-BE49-F238E27FC236}">
                <a16:creationId xmlns:a16="http://schemas.microsoft.com/office/drawing/2014/main" id="{892C6387-1E9A-DE2B-F041-B30A9A1A32F5}"/>
              </a:ext>
            </a:extLst>
          </p:cNvPr>
          <p:cNvSpPr txBox="1"/>
          <p:nvPr/>
        </p:nvSpPr>
        <p:spPr>
          <a:xfrm>
            <a:off x="4322725" y="5724500"/>
            <a:ext cx="575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D9804C1-31C1-CDE6-AB74-56819C4EDEDD}"/>
              </a:ext>
            </a:extLst>
          </p:cNvPr>
          <p:cNvCxnSpPr>
            <a:cxnSpLocks/>
            <a:stCxn id="72" idx="1"/>
          </p:cNvCxnSpPr>
          <p:nvPr/>
        </p:nvCxnSpPr>
        <p:spPr>
          <a:xfrm rot="10800000" flipH="1">
            <a:off x="3151777" y="4848951"/>
            <a:ext cx="982074" cy="514575"/>
          </a:xfrm>
          <a:prstGeom prst="bentConnector3">
            <a:avLst>
              <a:gd name="adj1" fmla="val -23277"/>
            </a:avLst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순서도: 문서 40">
            <a:extLst>
              <a:ext uri="{FF2B5EF4-FFF2-40B4-BE49-F238E27FC236}">
                <a16:creationId xmlns:a16="http://schemas.microsoft.com/office/drawing/2014/main" id="{526E9EDB-E7DC-1F0C-0BC1-95E5A4100721}"/>
              </a:ext>
            </a:extLst>
          </p:cNvPr>
          <p:cNvSpPr/>
          <p:nvPr/>
        </p:nvSpPr>
        <p:spPr>
          <a:xfrm>
            <a:off x="1374032" y="4559597"/>
            <a:ext cx="1428750" cy="1143000"/>
          </a:xfrm>
          <a:prstGeom prst="flowChartDocumen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시스템 알림</a:t>
            </a:r>
            <a:r>
              <a:rPr lang="en-US" altLang="ko-KR" sz="1200" b="1" dirty="0">
                <a:solidFill>
                  <a:schemeClr val="tx1"/>
                </a:solidFill>
              </a:rPr>
              <a:t>]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이미 가입된 이메일 입니다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B3BE001B-BC2C-EC70-ABB6-B8C378E0F1E5}"/>
              </a:ext>
            </a:extLst>
          </p:cNvPr>
          <p:cNvCxnSpPr>
            <a:cxnSpLocks/>
            <a:stCxn id="26" idx="1"/>
            <a:endCxn id="28" idx="1"/>
          </p:cNvCxnSpPr>
          <p:nvPr/>
        </p:nvCxnSpPr>
        <p:spPr>
          <a:xfrm rot="10800000" flipH="1">
            <a:off x="3155695" y="3861950"/>
            <a:ext cx="831601" cy="2539496"/>
          </a:xfrm>
          <a:prstGeom prst="bentConnector3">
            <a:avLst>
              <a:gd name="adj1" fmla="val -275180"/>
            </a:avLst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0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3772535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로그인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4118184" y="1026417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4118371" y="192246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로그인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페이지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28"/>
          <p:cNvSpPr/>
          <p:nvPr/>
        </p:nvSpPr>
        <p:spPr>
          <a:xfrm>
            <a:off x="4118184" y="5794632"/>
            <a:ext cx="1428750" cy="571500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메인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화면</a:t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ko-KR" altLang="en-US" sz="1200" b="1" dirty="0">
                <a:solidFill>
                  <a:schemeClr val="bg1"/>
                </a:solidFill>
              </a:rPr>
              <a:t>이동</a:t>
            </a:r>
          </a:p>
        </p:txBody>
      </p:sp>
      <p:cxnSp>
        <p:nvCxnSpPr>
          <p:cNvPr id="7" name="prstName"/>
          <p:cNvCxnSpPr>
            <a:endCxn id="5" idx="0"/>
          </p:cNvCxnSpPr>
          <p:nvPr/>
        </p:nvCxnSpPr>
        <p:spPr>
          <a:xfrm rot="16200000" flipH="1">
            <a:off x="4670504" y="1760220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stName"/>
          <p:cNvSpPr/>
          <p:nvPr/>
        </p:nvSpPr>
        <p:spPr>
          <a:xfrm>
            <a:off x="4117975" y="371570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계정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인증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및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유효성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검사</a:t>
            </a:r>
          </a:p>
        </p:txBody>
      </p:sp>
      <p:sp>
        <p:nvSpPr>
          <p:cNvPr id="9" name="prstName"/>
          <p:cNvSpPr/>
          <p:nvPr/>
        </p:nvSpPr>
        <p:spPr>
          <a:xfrm>
            <a:off x="4117976" y="2819082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이메일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비밀번호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입력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10" name="prstName"/>
          <p:cNvCxnSpPr/>
          <p:nvPr/>
        </p:nvCxnSpPr>
        <p:spPr>
          <a:xfrm rot="10800000">
            <a:off x="2971165" y="4493577"/>
            <a:ext cx="11239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rstName"/>
          <p:cNvCxnSpPr/>
          <p:nvPr/>
        </p:nvCxnSpPr>
        <p:spPr>
          <a:xfrm rot="5400000" flipH="1" flipV="1">
            <a:off x="2051255" y="3582335"/>
            <a:ext cx="1857375" cy="825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prstName"/>
          <p:cNvCxnSpPr/>
          <p:nvPr/>
        </p:nvCxnSpPr>
        <p:spPr>
          <a:xfrm rot="10800000" flipV="1">
            <a:off x="2960892" y="2645727"/>
            <a:ext cx="1700213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23"/>
          <p:cNvSpPr/>
          <p:nvPr/>
        </p:nvSpPr>
        <p:spPr>
          <a:xfrm>
            <a:off x="4118371" y="489807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로그인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세션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생성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및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상태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유지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TextBox"/>
          <p:cNvSpPr txBox="1"/>
          <p:nvPr/>
        </p:nvSpPr>
        <p:spPr>
          <a:xfrm>
            <a:off x="3238096" y="4376158"/>
            <a:ext cx="1322705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sz="1400"/>
              <a:t>NO</a:t>
            </a:r>
          </a:p>
          <a:p>
            <a:pPr lvl="0">
              <a:defRPr/>
            </a:pPr>
            <a:r>
              <a:rPr lang="en-US" altLang="ko-KR" sz="1400"/>
              <a:t>(</a:t>
            </a:r>
            <a:r>
              <a:rPr lang="ko-KR" altLang="en-US" sz="1400"/>
              <a:t>로그인</a:t>
            </a:r>
            <a:r>
              <a:rPr lang="en-US" altLang="ko-KR" sz="1400"/>
              <a:t> </a:t>
            </a:r>
            <a:r>
              <a:rPr lang="ko-KR" altLang="en-US" sz="1400"/>
              <a:t>실패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15" name="TextBox"/>
          <p:cNvSpPr txBox="1"/>
          <p:nvPr/>
        </p:nvSpPr>
        <p:spPr>
          <a:xfrm>
            <a:off x="4846452" y="4514990"/>
            <a:ext cx="1508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YES(</a:t>
            </a:r>
            <a:r>
              <a:rPr lang="ko-KR" altLang="en-US" sz="1400" dirty="0"/>
              <a:t>로그인성공</a:t>
            </a:r>
            <a:r>
              <a:rPr lang="en-US" altLang="ko-KR" sz="1400" dirty="0"/>
              <a:t>)</a:t>
            </a:r>
            <a:endParaRPr lang="ko-KR" altLang="en-US" sz="1400"/>
          </a:p>
        </p:txBody>
      </p:sp>
      <p:sp>
        <p:nvSpPr>
          <p:cNvPr id="16" name="순서도: 문서 40"/>
          <p:cNvSpPr/>
          <p:nvPr/>
        </p:nvSpPr>
        <p:spPr>
          <a:xfrm>
            <a:off x="1428634" y="2906583"/>
            <a:ext cx="1428750" cy="1143000"/>
          </a:xfrm>
          <a:prstGeom prst="flowChartDocumen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시스템 알림</a:t>
            </a:r>
            <a:r>
              <a:rPr lang="en-US" altLang="ko-KR" sz="1200" b="1" dirty="0">
                <a:solidFill>
                  <a:schemeClr val="tx1"/>
                </a:solidFill>
              </a:rPr>
              <a:t>]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이메일 또는 비밀번호를 확인하세요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18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cxnSp>
        <p:nvCxnSpPr>
          <p:cNvPr id="19" name="prstName"/>
          <p:cNvCxnSpPr/>
          <p:nvPr/>
        </p:nvCxnSpPr>
        <p:spPr>
          <a:xfrm rot="16200000" flipH="1">
            <a:off x="4670504" y="265620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rstName"/>
          <p:cNvCxnSpPr/>
          <p:nvPr/>
        </p:nvCxnSpPr>
        <p:spPr>
          <a:xfrm rot="16200000" flipH="1">
            <a:off x="4670504" y="355282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rstName"/>
          <p:cNvCxnSpPr/>
          <p:nvPr/>
        </p:nvCxnSpPr>
        <p:spPr>
          <a:xfrm rot="16200000" flipH="1">
            <a:off x="4670504" y="473519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rstName"/>
          <p:cNvCxnSpPr/>
          <p:nvPr/>
        </p:nvCxnSpPr>
        <p:spPr>
          <a:xfrm rot="16200000" flipH="1">
            <a:off x="4670504" y="563181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5604510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(AI </a:t>
            </a:r>
            <a:r>
              <a:rPr lang="ko-KR" altLang="en-US" sz="3200" b="1" dirty="0"/>
              <a:t>페르소나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챗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봇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1029544" y="115913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A</a:t>
            </a:r>
            <a:r>
              <a:rPr lang="en-US" altLang="ko-KR" sz="1200" b="1" dirty="0">
                <a:solidFill>
                  <a:srgbClr val="FFFFFF"/>
                </a:solidFill>
              </a:rPr>
              <a:t>I </a:t>
            </a:r>
            <a:r>
              <a:rPr lang="ko-KR" altLang="en-US" sz="1200" b="1" dirty="0">
                <a:solidFill>
                  <a:srgbClr val="FFFFFF"/>
                </a:solidFill>
              </a:rPr>
              <a:t>챗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봇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1029731" y="2224087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A</a:t>
            </a:r>
            <a:r>
              <a:rPr lang="en-US" altLang="ko-KR" sz="1200" b="1">
                <a:solidFill>
                  <a:schemeClr val="tx1"/>
                </a:solidFill>
              </a:rPr>
              <a:t>I </a:t>
            </a:r>
            <a:r>
              <a:rPr lang="ko-KR" altLang="en-US" sz="1200" b="1">
                <a:solidFill>
                  <a:schemeClr val="tx1"/>
                </a:solidFill>
              </a:rPr>
              <a:t>챗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봇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화면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1029335" y="449230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>
                <a:solidFill>
                  <a:schemeClr val="tx1"/>
                </a:solidFill>
              </a:rPr>
              <a:t>AI </a:t>
            </a:r>
            <a:r>
              <a:rPr lang="ko-KR" altLang="en-US" sz="1200" b="1">
                <a:solidFill>
                  <a:schemeClr val="tx1"/>
                </a:solidFill>
              </a:rPr>
              <a:t>인사말</a:t>
            </a:r>
            <a:br>
              <a:rPr lang="en-US" altLang="ko-KR" sz="1200" b="1">
                <a:solidFill>
                  <a:schemeClr val="tx1"/>
                </a:solidFill>
              </a:rPr>
            </a:br>
            <a:r>
              <a:rPr lang="ko-KR" altLang="en-US" sz="1200" b="1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7" name="prstName"/>
          <p:cNvSpPr/>
          <p:nvPr/>
        </p:nvSpPr>
        <p:spPr>
          <a:xfrm>
            <a:off x="4601210" y="257587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위기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대응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답변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제공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8" name="사각형: 둥근 모서리 28"/>
          <p:cNvSpPr/>
          <p:nvPr/>
        </p:nvSpPr>
        <p:spPr>
          <a:xfrm>
            <a:off x="7343349" y="613245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메인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화면</a:t>
            </a:r>
            <a:br>
              <a:rPr lang="en-US" altLang="ko-KR" sz="1200" b="1" dirty="0">
                <a:solidFill>
                  <a:srgbClr val="FFFFFF"/>
                </a:solidFill>
              </a:rPr>
            </a:br>
            <a:r>
              <a:rPr lang="ko-KR" altLang="en-US" sz="1200" b="1" dirty="0">
                <a:solidFill>
                  <a:srgbClr val="FFFFFF"/>
                </a:solidFill>
              </a:rPr>
              <a:t>이동</a:t>
            </a:r>
          </a:p>
        </p:txBody>
      </p:sp>
      <p:cxnSp>
        <p:nvCxnSpPr>
          <p:cNvPr id="9" name="prstName"/>
          <p:cNvCxnSpPr/>
          <p:nvPr/>
        </p:nvCxnSpPr>
        <p:spPr>
          <a:xfrm rot="16200000" flipH="1">
            <a:off x="1505887" y="1968724"/>
            <a:ext cx="476250" cy="18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prstName"/>
          <p:cNvCxnSpPr/>
          <p:nvPr/>
        </p:nvCxnSpPr>
        <p:spPr>
          <a:xfrm rot="5400000">
            <a:off x="1505981" y="3033712"/>
            <a:ext cx="47625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rstName"/>
          <p:cNvSpPr/>
          <p:nvPr/>
        </p:nvSpPr>
        <p:spPr>
          <a:xfrm>
            <a:off x="1029335" y="554005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tx1"/>
                </a:solidFill>
              </a:rPr>
              <a:t>사용자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메세지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입력</a:t>
            </a:r>
          </a:p>
        </p:txBody>
      </p:sp>
      <p:cxnSp>
        <p:nvCxnSpPr>
          <p:cNvPr id="12" name="prstName"/>
          <p:cNvCxnSpPr/>
          <p:nvPr/>
        </p:nvCxnSpPr>
        <p:spPr>
          <a:xfrm rot="16200000" flipH="1">
            <a:off x="1419225" y="4167821"/>
            <a:ext cx="64897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rstName"/>
          <p:cNvCxnSpPr/>
          <p:nvPr/>
        </p:nvCxnSpPr>
        <p:spPr>
          <a:xfrm rot="5400000">
            <a:off x="1505981" y="5301932"/>
            <a:ext cx="47625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rstName"/>
          <p:cNvCxnSpPr/>
          <p:nvPr/>
        </p:nvCxnSpPr>
        <p:spPr>
          <a:xfrm rot="5400000">
            <a:off x="5196919" y="6012815"/>
            <a:ext cx="238125" cy="2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stName"/>
          <p:cNvSpPr/>
          <p:nvPr/>
        </p:nvSpPr>
        <p:spPr>
          <a:xfrm>
            <a:off x="4601210" y="115919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위기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발화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여부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sp>
        <p:nvSpPr>
          <p:cNvPr id="16" name="직사각형 23"/>
          <p:cNvSpPr/>
          <p:nvPr/>
        </p:nvSpPr>
        <p:spPr>
          <a:xfrm>
            <a:off x="4601606" y="3562667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관리자</a:t>
            </a:r>
            <a:r>
              <a:rPr lang="en-US" altLang="ko-KR" sz="1200" b="1" dirty="0">
                <a:solidFill>
                  <a:schemeClr val="tx1"/>
                </a:solidFill>
              </a:rPr>
              <a:t> , </a:t>
            </a:r>
            <a:r>
              <a:rPr lang="ko-KR" altLang="en-US" sz="1200" b="1" dirty="0">
                <a:solidFill>
                  <a:schemeClr val="tx1"/>
                </a:solidFill>
              </a:rPr>
              <a:t>긴급상담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연결</a:t>
            </a:r>
            <a:r>
              <a:rPr lang="en-US" altLang="ko-KR" sz="1200" b="1" dirty="0">
                <a:solidFill>
                  <a:schemeClr val="tx1"/>
                </a:solidFill>
              </a:rPr>
              <a:t> UI </a:t>
            </a:r>
            <a:r>
              <a:rPr lang="ko-KR" altLang="en-US" sz="1200" b="1" dirty="0">
                <a:solidFill>
                  <a:schemeClr val="tx1"/>
                </a:solidFill>
              </a:rPr>
              <a:t>노출</a:t>
            </a:r>
          </a:p>
        </p:txBody>
      </p:sp>
      <p:cxnSp>
        <p:nvCxnSpPr>
          <p:cNvPr id="17" name="prstName"/>
          <p:cNvCxnSpPr/>
          <p:nvPr/>
        </p:nvCxnSpPr>
        <p:spPr>
          <a:xfrm rot="16200000" flipH="1">
            <a:off x="5108138" y="3354824"/>
            <a:ext cx="415290" cy="39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rstName"/>
          <p:cNvCxnSpPr/>
          <p:nvPr/>
        </p:nvCxnSpPr>
        <p:spPr>
          <a:xfrm rot="16200000" flipH="1">
            <a:off x="5173106" y="2439988"/>
            <a:ext cx="2857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23"/>
          <p:cNvSpPr/>
          <p:nvPr/>
        </p:nvSpPr>
        <p:spPr>
          <a:xfrm>
            <a:off x="4601606" y="613251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대화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기록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20" name="prstName"/>
          <p:cNvCxnSpPr>
            <a:endCxn id="8" idx="1"/>
          </p:cNvCxnSpPr>
          <p:nvPr/>
        </p:nvCxnSpPr>
        <p:spPr>
          <a:xfrm flipV="1">
            <a:off x="6030355" y="6418203"/>
            <a:ext cx="1312993" cy="59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rstName"/>
          <p:cNvCxnSpPr/>
          <p:nvPr/>
        </p:nvCxnSpPr>
        <p:spPr>
          <a:xfrm rot="16200000" flipH="1">
            <a:off x="5206046" y="5555614"/>
            <a:ext cx="219080" cy="3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rstName"/>
          <p:cNvSpPr/>
          <p:nvPr/>
        </p:nvSpPr>
        <p:spPr>
          <a:xfrm>
            <a:off x="6896415" y="3185936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tx1"/>
                </a:solidFill>
              </a:rPr>
              <a:t>A</a:t>
            </a:r>
            <a:r>
              <a:rPr lang="en-US" altLang="ko-KR" sz="1200" b="1" dirty="0">
                <a:solidFill>
                  <a:schemeClr val="tx1"/>
                </a:solidFill>
              </a:rPr>
              <a:t>I </a:t>
            </a:r>
            <a:r>
              <a:rPr lang="ko-KR" altLang="en-US" sz="1200" b="1" dirty="0">
                <a:solidFill>
                  <a:schemeClr val="tx1"/>
                </a:solidFill>
              </a:rPr>
              <a:t>답변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</a:p>
        </p:txBody>
      </p:sp>
      <p:cxnSp>
        <p:nvCxnSpPr>
          <p:cNvPr id="23" name="prstName"/>
          <p:cNvCxnSpPr>
            <a:stCxn id="11" idx="2"/>
          </p:cNvCxnSpPr>
          <p:nvPr/>
        </p:nvCxnSpPr>
        <p:spPr>
          <a:xfrm>
            <a:off x="2386762" y="5825807"/>
            <a:ext cx="12382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rstName"/>
          <p:cNvCxnSpPr/>
          <p:nvPr/>
        </p:nvCxnSpPr>
        <p:spPr>
          <a:xfrm rot="10800000">
            <a:off x="3610611" y="1587182"/>
            <a:ext cx="8953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stName"/>
          <p:cNvCxnSpPr>
            <a:cxnSpLocks/>
          </p:cNvCxnSpPr>
          <p:nvPr/>
        </p:nvCxnSpPr>
        <p:spPr>
          <a:xfrm>
            <a:off x="6390640" y="1588452"/>
            <a:ext cx="486343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rstName"/>
          <p:cNvCxnSpPr>
            <a:cxnSpLocks/>
            <a:stCxn id="22" idx="4"/>
          </p:cNvCxnSpPr>
          <p:nvPr/>
        </p:nvCxnSpPr>
        <p:spPr>
          <a:xfrm>
            <a:off x="7610790" y="3757436"/>
            <a:ext cx="3176" cy="57421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rstName"/>
          <p:cNvCxnSpPr/>
          <p:nvPr/>
        </p:nvCxnSpPr>
        <p:spPr>
          <a:xfrm rot="5400000" flipH="1" flipV="1">
            <a:off x="1500584" y="3717291"/>
            <a:ext cx="425958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rstName"/>
          <p:cNvSpPr/>
          <p:nvPr/>
        </p:nvSpPr>
        <p:spPr>
          <a:xfrm>
            <a:off x="4601210" y="4588827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대화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종료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cxnSp>
        <p:nvCxnSpPr>
          <p:cNvPr id="29" name="prstName"/>
          <p:cNvCxnSpPr>
            <a:cxnSpLocks/>
          </p:cNvCxnSpPr>
          <p:nvPr/>
        </p:nvCxnSpPr>
        <p:spPr>
          <a:xfrm>
            <a:off x="5648959" y="4350702"/>
            <a:ext cx="198691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rstName"/>
          <p:cNvSpPr/>
          <p:nvPr/>
        </p:nvSpPr>
        <p:spPr>
          <a:xfrm>
            <a:off x="1029335" y="327183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페르소나</a:t>
            </a:r>
            <a:r>
              <a:rPr lang="en-US" altLang="ko-KR" sz="1200" b="1" dirty="0">
                <a:solidFill>
                  <a:schemeClr val="tx1"/>
                </a:solidFill>
              </a:rPr>
              <a:t>  </a:t>
            </a:r>
            <a:r>
              <a:rPr lang="ko-KR" altLang="en-US" sz="1200" b="1" dirty="0">
                <a:solidFill>
                  <a:schemeClr val="tx1"/>
                </a:solidFill>
              </a:rPr>
              <a:t>선택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31" name="TextBox"/>
          <p:cNvSpPr txBox="1"/>
          <p:nvPr/>
        </p:nvSpPr>
        <p:spPr>
          <a:xfrm>
            <a:off x="5057843" y="5640210"/>
            <a:ext cx="621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YES</a:t>
            </a:r>
            <a:endParaRPr lang="ko-KR" altLang="en-US" sz="1400"/>
          </a:p>
        </p:txBody>
      </p:sp>
      <p:sp>
        <p:nvSpPr>
          <p:cNvPr id="32" name="TextBox"/>
          <p:cNvSpPr txBox="1"/>
          <p:nvPr/>
        </p:nvSpPr>
        <p:spPr>
          <a:xfrm>
            <a:off x="4170426" y="4834932"/>
            <a:ext cx="526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3" name="prstName"/>
          <p:cNvCxnSpPr/>
          <p:nvPr/>
        </p:nvCxnSpPr>
        <p:spPr>
          <a:xfrm rot="5400000">
            <a:off x="5088454" y="4361299"/>
            <a:ext cx="454658" cy="39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"/>
          <p:cNvSpPr txBox="1"/>
          <p:nvPr/>
        </p:nvSpPr>
        <p:spPr>
          <a:xfrm>
            <a:off x="5048217" y="2016265"/>
            <a:ext cx="62123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35" name="TextBox"/>
          <p:cNvSpPr txBox="1"/>
          <p:nvPr/>
        </p:nvSpPr>
        <p:spPr>
          <a:xfrm>
            <a:off x="5995416" y="1416423"/>
            <a:ext cx="52088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7" name="prstName"/>
          <p:cNvCxnSpPr/>
          <p:nvPr/>
        </p:nvCxnSpPr>
        <p:spPr>
          <a:xfrm>
            <a:off x="385877" y="6512242"/>
            <a:ext cx="400050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rstName"/>
          <p:cNvCxnSpPr/>
          <p:nvPr/>
        </p:nvCxnSpPr>
        <p:spPr>
          <a:xfrm rot="5400000">
            <a:off x="-237423" y="5907780"/>
            <a:ext cx="1247775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rstName"/>
          <p:cNvCxnSpPr/>
          <p:nvPr/>
        </p:nvCxnSpPr>
        <p:spPr>
          <a:xfrm flipV="1">
            <a:off x="385445" y="5301932"/>
            <a:ext cx="12382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41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sp>
        <p:nvSpPr>
          <p:cNvPr id="46" name="prstName">
            <a:extLst>
              <a:ext uri="{FF2B5EF4-FFF2-40B4-BE49-F238E27FC236}">
                <a16:creationId xmlns:a16="http://schemas.microsoft.com/office/drawing/2014/main" id="{2E096118-B1E8-6326-77E2-C66F4037D3E3}"/>
              </a:ext>
            </a:extLst>
          </p:cNvPr>
          <p:cNvSpPr/>
          <p:nvPr/>
        </p:nvSpPr>
        <p:spPr>
          <a:xfrm>
            <a:off x="6899591" y="1166223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rgbClr val="000000"/>
                </a:solidFill>
              </a:rPr>
              <a:t>주의</a:t>
            </a:r>
            <a:br>
              <a:rPr lang="en-US" altLang="ko-KR" sz="1200" b="1" dirty="0">
                <a:solidFill>
                  <a:srgbClr val="000000"/>
                </a:solidFill>
              </a:rPr>
            </a:br>
            <a:r>
              <a:rPr lang="ko-KR" altLang="en-US" sz="1200" b="1" dirty="0">
                <a:solidFill>
                  <a:srgbClr val="000000"/>
                </a:solidFill>
              </a:rPr>
              <a:t>신호</a:t>
            </a:r>
            <a:br>
              <a:rPr lang="en-US" altLang="ko-KR" sz="1200" b="1" dirty="0">
                <a:solidFill>
                  <a:srgbClr val="000000"/>
                </a:solidFill>
              </a:rPr>
            </a:br>
            <a:r>
              <a:rPr lang="ko-KR" altLang="en-US" sz="1200" b="1" dirty="0">
                <a:solidFill>
                  <a:srgbClr val="000000"/>
                </a:solidFill>
              </a:rPr>
              <a:t>감지</a:t>
            </a:r>
            <a:r>
              <a:rPr lang="en-US" altLang="ko-KR" sz="1200" b="1" dirty="0">
                <a:solidFill>
                  <a:srgbClr val="000000"/>
                </a:solidFill>
              </a:rPr>
              <a:t>?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55" name="TextBox">
            <a:extLst>
              <a:ext uri="{FF2B5EF4-FFF2-40B4-BE49-F238E27FC236}">
                <a16:creationId xmlns:a16="http://schemas.microsoft.com/office/drawing/2014/main" id="{422E7D80-57C0-8FEB-C037-990403BABBA8}"/>
              </a:ext>
            </a:extLst>
          </p:cNvPr>
          <p:cNvSpPr txBox="1"/>
          <p:nvPr/>
        </p:nvSpPr>
        <p:spPr>
          <a:xfrm>
            <a:off x="8302593" y="1444882"/>
            <a:ext cx="62123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cxnSp>
        <p:nvCxnSpPr>
          <p:cNvPr id="56" name="prstName">
            <a:extLst>
              <a:ext uri="{FF2B5EF4-FFF2-40B4-BE49-F238E27FC236}">
                <a16:creationId xmlns:a16="http://schemas.microsoft.com/office/drawing/2014/main" id="{5D1CEA2C-A6FB-0A3B-7F3C-89C702D0BBB1}"/>
              </a:ext>
            </a:extLst>
          </p:cNvPr>
          <p:cNvCxnSpPr>
            <a:cxnSpLocks/>
          </p:cNvCxnSpPr>
          <p:nvPr/>
        </p:nvCxnSpPr>
        <p:spPr>
          <a:xfrm>
            <a:off x="7610790" y="2388346"/>
            <a:ext cx="0" cy="79759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prstName">
            <a:extLst>
              <a:ext uri="{FF2B5EF4-FFF2-40B4-BE49-F238E27FC236}">
                <a16:creationId xmlns:a16="http://schemas.microsoft.com/office/drawing/2014/main" id="{AEACEA39-124B-47C8-4B7D-A56E6408F50C}"/>
              </a:ext>
            </a:extLst>
          </p:cNvPr>
          <p:cNvCxnSpPr>
            <a:cxnSpLocks/>
          </p:cNvCxnSpPr>
          <p:nvPr/>
        </p:nvCxnSpPr>
        <p:spPr>
          <a:xfrm>
            <a:off x="4384790" y="5118418"/>
            <a:ext cx="0" cy="141356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4A607A9-94FA-B08B-FAFD-80D8F90EB3B5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8613211" y="1749682"/>
            <a:ext cx="0" cy="2953444"/>
          </a:xfrm>
          <a:prstGeom prst="straightConnector1">
            <a:avLst/>
          </a:prstGeom>
          <a:ln w="44450">
            <a:solidFill>
              <a:srgbClr val="000000">
                <a:alpha val="100000"/>
              </a:srgb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rstName">
            <a:extLst>
              <a:ext uri="{FF2B5EF4-FFF2-40B4-BE49-F238E27FC236}">
                <a16:creationId xmlns:a16="http://schemas.microsoft.com/office/drawing/2014/main" id="{54F82A43-C057-43EF-6B86-4037894DCCBD}"/>
              </a:ext>
            </a:extLst>
          </p:cNvPr>
          <p:cNvSpPr/>
          <p:nvPr/>
        </p:nvSpPr>
        <p:spPr>
          <a:xfrm>
            <a:off x="7898835" y="4739291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힐링 콘텐츠 추천 연계</a:t>
            </a:r>
          </a:p>
        </p:txBody>
      </p:sp>
      <p:cxnSp>
        <p:nvCxnSpPr>
          <p:cNvPr id="76" name="prstName">
            <a:extLst>
              <a:ext uri="{FF2B5EF4-FFF2-40B4-BE49-F238E27FC236}">
                <a16:creationId xmlns:a16="http://schemas.microsoft.com/office/drawing/2014/main" id="{1C10AC58-0A19-9448-9603-6E06812D54EA}"/>
              </a:ext>
            </a:extLst>
          </p:cNvPr>
          <p:cNvCxnSpPr>
            <a:cxnSpLocks/>
            <a:stCxn id="74" idx="5"/>
            <a:endCxn id="28" idx="3"/>
          </p:cNvCxnSpPr>
          <p:nvPr/>
        </p:nvCxnSpPr>
        <p:spPr>
          <a:xfrm flipH="1" flipV="1">
            <a:off x="6029960" y="5017452"/>
            <a:ext cx="1940313" cy="7589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">
            <a:extLst>
              <a:ext uri="{FF2B5EF4-FFF2-40B4-BE49-F238E27FC236}">
                <a16:creationId xmlns:a16="http://schemas.microsoft.com/office/drawing/2014/main" id="{FD0B9588-F1F8-A046-0D91-C3B4CE40FF30}"/>
              </a:ext>
            </a:extLst>
          </p:cNvPr>
          <p:cNvSpPr txBox="1"/>
          <p:nvPr/>
        </p:nvSpPr>
        <p:spPr>
          <a:xfrm>
            <a:off x="7375431" y="2054543"/>
            <a:ext cx="52088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7953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743200" y="5162247"/>
            <a:ext cx="7162800" cy="1695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020060" y="547243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3020060" y="5817870"/>
            <a:ext cx="6688455" cy="8191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이메일 입력창: 계정 이메일 입력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비밀번호 입력창: 마스킹 처리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로그인 버튼: JWT 발급 후 MAIN_HOME_01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비밀번호 찾기: MAIN_LOGIN_02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회원가입 버튼: MAIN_JOIN_01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5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09" name="Google Shape;209;p5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MAIN_LOGIN_01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12" name="Google Shape;212;p5"/>
            <p:cNvSpPr txBox="1"/>
            <p:nvPr/>
          </p:nvSpPr>
          <p:spPr>
            <a:xfrm>
              <a:off x="285750" y="1318260"/>
              <a:ext cx="100584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5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215" name="Google Shape;215;p5"/>
            <p:cNvSpPr txBox="1"/>
            <p:nvPr/>
          </p:nvSpPr>
          <p:spPr>
            <a:xfrm>
              <a:off x="285750" y="2386330"/>
              <a:ext cx="189865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285750" y="271716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MLCM_100 / MLCM_102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5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18" name="Google Shape;218;p5"/>
            <p:cNvSpPr txBox="1"/>
            <p:nvPr/>
          </p:nvSpPr>
          <p:spPr>
            <a:xfrm>
              <a:off x="285750" y="5814695"/>
              <a:ext cx="80073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285750" y="3289935"/>
            <a:ext cx="2379345" cy="975360"/>
            <a:chOff x="285750" y="3289935"/>
            <a:chExt cx="2379345" cy="975360"/>
          </a:xfrm>
        </p:grpSpPr>
        <p:sp>
          <p:nvSpPr>
            <p:cNvPr id="221" name="Google Shape;221;p5"/>
            <p:cNvSpPr txBox="1"/>
            <p:nvPr/>
          </p:nvSpPr>
          <p:spPr>
            <a:xfrm>
              <a:off x="285750" y="3289935"/>
              <a:ext cx="100584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 txBox="1"/>
            <p:nvPr/>
          </p:nvSpPr>
          <p:spPr>
            <a:xfrm>
              <a:off x="285750" y="3621405"/>
              <a:ext cx="23793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사용자가 로그인에 필요한 </a:t>
              </a: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이메일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/ 비밀번호를 입력하고 로그인 하는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5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224" name="Google Shape;224;p5"/>
            <p:cNvSpPr txBox="1"/>
            <p:nvPr/>
          </p:nvSpPr>
          <p:spPr>
            <a:xfrm>
              <a:off x="285750" y="4504055"/>
              <a:ext cx="109855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8" name="그림 2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29" name="가로 글상자 228"/>
          <p:cNvSpPr txBox="1"/>
          <p:nvPr/>
        </p:nvSpPr>
        <p:spPr>
          <a:xfrm>
            <a:off x="5010708" y="2309069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30" name="가로 글상자 229"/>
          <p:cNvSpPr txBox="1"/>
          <p:nvPr/>
        </p:nvSpPr>
        <p:spPr>
          <a:xfrm>
            <a:off x="5010708" y="2893695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31" name="가로 글상자 230"/>
          <p:cNvSpPr txBox="1"/>
          <p:nvPr/>
        </p:nvSpPr>
        <p:spPr>
          <a:xfrm>
            <a:off x="5154234" y="3189167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32" name="가로 글상자 231"/>
          <p:cNvSpPr txBox="1"/>
          <p:nvPr/>
        </p:nvSpPr>
        <p:spPr>
          <a:xfrm>
            <a:off x="5154234" y="347595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33" name="가로 글상자 233"/>
          <p:cNvSpPr txBox="1"/>
          <p:nvPr/>
        </p:nvSpPr>
        <p:spPr>
          <a:xfrm>
            <a:off x="5154234" y="3762752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3020060" y="5673090"/>
            <a:ext cx="6688455" cy="10020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전체 동의: 필수 및 선택 약관 전체 동의 체크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서비스 이용약관 · 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개인정보 수집·이용 동의 (필수)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민감정보(생체·건강) 수집 동의: 별도 동의 (필수)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선택 동의 · ❻ 약관에 대한 상세내용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필수 약관 모두 동의 시 기본정보 입력 단계로 이동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0" y="10795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6"/>
          <p:cNvGrpSpPr/>
          <p:nvPr/>
        </p:nvGrpSpPr>
        <p:grpSpPr>
          <a:xfrm>
            <a:off x="285750" y="435610"/>
            <a:ext cx="2171700" cy="608330"/>
            <a:chOff x="285750" y="435610"/>
            <a:chExt cx="2171700" cy="608330"/>
          </a:xfrm>
        </p:grpSpPr>
        <p:sp>
          <p:nvSpPr>
            <p:cNvPr id="238" name="Google Shape;238;p6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285750" y="766445"/>
              <a:ext cx="2171700" cy="277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41" name="Google Shape;241;p6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화면(약관 동의)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44" name="Google Shape;244;p6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6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47" name="Google Shape;247;p6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6"/>
          <p:cNvGrpSpPr/>
          <p:nvPr/>
        </p:nvGrpSpPr>
        <p:grpSpPr>
          <a:xfrm>
            <a:off x="285750" y="3289935"/>
            <a:ext cx="2171700" cy="977900"/>
            <a:chOff x="285750" y="3289935"/>
            <a:chExt cx="2171700" cy="977900"/>
          </a:xfrm>
        </p:grpSpPr>
        <p:sp>
          <p:nvSpPr>
            <p:cNvPr id="250" name="Google Shape;250;p6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285750" y="3621405"/>
              <a:ext cx="2171700" cy="646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서비스 이용약관 및 민감정보(생체/건강 데이터) 수집 동의 처리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253" name="Google Shape;253;p6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7" name="그림 2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58" name="가로 글상자 257"/>
          <p:cNvSpPr txBox="1"/>
          <p:nvPr/>
        </p:nvSpPr>
        <p:spPr>
          <a:xfrm>
            <a:off x="5184743" y="1050430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59" name="가로 글상자 258"/>
          <p:cNvSpPr txBox="1"/>
          <p:nvPr/>
        </p:nvSpPr>
        <p:spPr>
          <a:xfrm>
            <a:off x="5184743" y="1416548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60" name="가로 글상자 259"/>
          <p:cNvSpPr txBox="1"/>
          <p:nvPr/>
        </p:nvSpPr>
        <p:spPr>
          <a:xfrm>
            <a:off x="5184743" y="166977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61" name="가로 글상자 260"/>
          <p:cNvSpPr txBox="1"/>
          <p:nvPr/>
        </p:nvSpPr>
        <p:spPr>
          <a:xfrm>
            <a:off x="5184743" y="191995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62" name="가로 글상자 261"/>
          <p:cNvSpPr txBox="1"/>
          <p:nvPr/>
        </p:nvSpPr>
        <p:spPr>
          <a:xfrm>
            <a:off x="5184743" y="2652195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  <p:sp>
        <p:nvSpPr>
          <p:cNvPr id="263" name="가로 글상자 262"/>
          <p:cNvSpPr txBox="1"/>
          <p:nvPr/>
        </p:nvSpPr>
        <p:spPr>
          <a:xfrm>
            <a:off x="5184743" y="3061026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endParaRPr lang="ko-KR" altLang="en-US"/>
          </a:p>
        </p:txBody>
      </p:sp>
      <p:sp>
        <p:nvSpPr>
          <p:cNvPr id="265" name="가로 글상자 264"/>
          <p:cNvSpPr txBox="1"/>
          <p:nvPr/>
        </p:nvSpPr>
        <p:spPr>
          <a:xfrm>
            <a:off x="7183136" y="1416548"/>
            <a:ext cx="266700" cy="271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그림 29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59" name="Google Shape;259;p7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3020060" y="5673090"/>
            <a:ext cx="6688455" cy="1002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~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계정 정보 입력: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및 비밀번호/비밀번호 확인 입력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 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중복 확인 버튼: 입력한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이메일을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DB와 대조해서 중복하는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이메일이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있는지 확인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~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사용자 인적사항: 이름, 생년월일, 성별, 키(선택)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비상 연락처 입력 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(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선택사항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❽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회원가입 완료 버튼: 정보 유효성 검증 후 홈 화면으로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0" y="-12700"/>
            <a:ext cx="2743835" cy="68770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65" name="Google Shape;265;p7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285750" y="1318260"/>
            <a:ext cx="2219960" cy="608330"/>
            <a:chOff x="285750" y="1318260"/>
            <a:chExt cx="2219960" cy="608330"/>
          </a:xfrm>
        </p:grpSpPr>
        <p:sp>
          <p:nvSpPr>
            <p:cNvPr id="268" name="Google Shape;268;p7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285750" y="1649730"/>
              <a:ext cx="22199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정보 입력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71" name="Google Shape;271;p7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74" name="Google Shape;274;p7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285750" y="3289935"/>
            <a:ext cx="2171700" cy="608330"/>
            <a:chOff x="285750" y="3289935"/>
            <a:chExt cx="2171700" cy="608330"/>
          </a:xfrm>
        </p:grpSpPr>
        <p:sp>
          <p:nvSpPr>
            <p:cNvPr id="277" name="Google Shape;277;p7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285750" y="362140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계정 정보 및 인적 사항 입력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280" name="Google Shape;280;p7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로그인/약관동의/회원가입 정보 입력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가로 글상자 287"/>
          <p:cNvSpPr txBox="1"/>
          <p:nvPr/>
        </p:nvSpPr>
        <p:spPr>
          <a:xfrm>
            <a:off x="5184743" y="961951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89" name="가로 글상자 288"/>
          <p:cNvSpPr txBox="1"/>
          <p:nvPr/>
        </p:nvSpPr>
        <p:spPr>
          <a:xfrm>
            <a:off x="5184743" y="1651473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90" name="가로 글상자 289"/>
          <p:cNvSpPr txBox="1"/>
          <p:nvPr/>
        </p:nvSpPr>
        <p:spPr>
          <a:xfrm>
            <a:off x="5184743" y="2344046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91" name="가로 글상자 290"/>
          <p:cNvSpPr txBox="1"/>
          <p:nvPr/>
        </p:nvSpPr>
        <p:spPr>
          <a:xfrm>
            <a:off x="5184743" y="2804744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  <p:sp>
        <p:nvSpPr>
          <p:cNvPr id="292" name="가로 글상자 291"/>
          <p:cNvSpPr txBox="1"/>
          <p:nvPr/>
        </p:nvSpPr>
        <p:spPr>
          <a:xfrm>
            <a:off x="5184743" y="3262391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endParaRPr lang="ko-KR" altLang="en-US"/>
          </a:p>
        </p:txBody>
      </p:sp>
      <p:sp>
        <p:nvSpPr>
          <p:cNvPr id="293" name="가로 글상자 292"/>
          <p:cNvSpPr txBox="1"/>
          <p:nvPr/>
        </p:nvSpPr>
        <p:spPr>
          <a:xfrm>
            <a:off x="5184743" y="3726140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endParaRPr lang="ko-KR" altLang="en-US"/>
          </a:p>
        </p:txBody>
      </p:sp>
      <p:sp>
        <p:nvSpPr>
          <p:cNvPr id="295" name="가로 글상자 294"/>
          <p:cNvSpPr txBox="1"/>
          <p:nvPr/>
        </p:nvSpPr>
        <p:spPr>
          <a:xfrm>
            <a:off x="6984822" y="961951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96" name="가로 글상자 296"/>
          <p:cNvSpPr txBox="1"/>
          <p:nvPr/>
        </p:nvSpPr>
        <p:spPr>
          <a:xfrm>
            <a:off x="5184743" y="4110563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❽</a:t>
            </a: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3020060" y="5673090"/>
            <a:ext cx="6688455" cy="1002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가입 완료 안내 및 수집 항목: 필수(활동량·수면)와 선택(체성분) 구분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항목별 동의 체크박스: 필수·선택 항목에 대해 개별 동의를 받음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연동하기 버튼: Health Connect 권한 요청 창 호출 후 연동 상태 저장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건너뛰기: 연동 없이 홈으로 이동. 이후 설정(MAIN_SETTING_01)에서 연동 가능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endParaRPr lang="ko-KR"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0" y="-12700"/>
            <a:ext cx="2743835" cy="68770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65" name="Google Shape;265;p7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285750" y="1318260"/>
            <a:ext cx="2219960" cy="594340"/>
            <a:chOff x="285750" y="1318260"/>
            <a:chExt cx="2219960" cy="594340"/>
          </a:xfrm>
        </p:grpSpPr>
        <p:sp>
          <p:nvSpPr>
            <p:cNvPr id="268" name="Google Shape;268;p7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285750" y="1649730"/>
              <a:ext cx="221996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웨어러블 연동 </a:t>
              </a: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 화면</a:t>
              </a: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71" name="Google Shape;271;p7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MLCM_110</a:t>
              </a:r>
              <a:endParaRPr lang="en-US" altLang="ko-K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74" name="Google Shape;274;p7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285750" y="3289935"/>
            <a:ext cx="2171700" cy="965815"/>
            <a:chOff x="285750" y="3289935"/>
            <a:chExt cx="2171700" cy="965815"/>
          </a:xfrm>
        </p:grpSpPr>
        <p:sp>
          <p:nvSpPr>
            <p:cNvPr id="277" name="Google Shape;277;p7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285750" y="3621405"/>
              <a:ext cx="2171700" cy="6343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완료 후 스마트워치·체성분계 수집 항목에 동의하고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Health Connect 연동 권한을 설정하는 화면</a:t>
              </a:r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280" name="Google Shape;280;p7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로그인/약관동의/회원가입 정보 입력/웨어러블 연동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4" name="그림 28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1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3020060" y="5781675"/>
            <a:ext cx="6688455" cy="8172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❶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[F] 따스한 공감형 : 감정 경청 및 따뜻한 위로 중심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[T] 현실적인 조언형 : 객관적 상황 분석 및 문제 해결 중심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대화 시작: 실시간 대화 화면(MAIN_CHAT_02)으로 이동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최근 대화한 성격이 기본 표시되며 「최근 대화」 배지로 구분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8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93" name="Google Shape;293;p8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MAIN_CHAT_01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96" name="Google Shape;296;p8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챗봇 성격 선택 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299" name="Google Shape;299;p8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MLCM_30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02" name="Google Shape;302;p8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285750" y="3289935"/>
            <a:ext cx="2314575" cy="608330"/>
            <a:chOff x="285750" y="3289935"/>
            <a:chExt cx="2314575" cy="608330"/>
          </a:xfrm>
        </p:grpSpPr>
        <p:sp>
          <p:nvSpPr>
            <p:cNvPr id="305" name="Google Shape;305;p8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285750" y="3621405"/>
              <a:ext cx="2314575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대화할 챗봇을 선택하는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8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308" name="Google Shape;308;p8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홈/AI 챗봇/성격 선택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1" name="그림 3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313" name="가로 글상자 312"/>
          <p:cNvSpPr txBox="1"/>
          <p:nvPr/>
        </p:nvSpPr>
        <p:spPr>
          <a:xfrm>
            <a:off x="5269278" y="1525490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314" name="가로 글상자 313"/>
          <p:cNvSpPr txBox="1"/>
          <p:nvPr/>
        </p:nvSpPr>
        <p:spPr>
          <a:xfrm>
            <a:off x="6367631" y="1525490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315" name="가로 글상자 314"/>
          <p:cNvSpPr txBox="1"/>
          <p:nvPr/>
        </p:nvSpPr>
        <p:spPr>
          <a:xfrm>
            <a:off x="5269278" y="4271372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3020060" y="5781675"/>
            <a:ext cx="6688455" cy="99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선택한 대화 상대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메시지 영역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입력: 텍스트 입력 후 전송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기록: 세션 목록 최근순 조회·상세·삭제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대화종료: 홈 화면(MAIN_HOME_01)으로 이동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endParaRPr lang="ko-KR"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9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21" name="Google Shape;321;p9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MAIN_CHAT_02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285750" y="1318260"/>
            <a:ext cx="2171700" cy="784860"/>
            <a:chOff x="285750" y="1318260"/>
            <a:chExt cx="2171700" cy="784860"/>
          </a:xfrm>
        </p:grpSpPr>
        <p:sp>
          <p:nvSpPr>
            <p:cNvPr id="324" name="Google Shape;324;p9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285750" y="1649730"/>
              <a:ext cx="2171700" cy="453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실시간 대화 및 대화기록 조회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9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327" name="Google Shape;327;p9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310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30" name="Google Shape;330;p9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9"/>
          <p:cNvGrpSpPr/>
          <p:nvPr/>
        </p:nvGrpSpPr>
        <p:grpSpPr>
          <a:xfrm>
            <a:off x="285750" y="3289935"/>
            <a:ext cx="2380615" cy="793115"/>
            <a:chOff x="285750" y="3289935"/>
            <a:chExt cx="2380615" cy="793115"/>
          </a:xfrm>
        </p:grpSpPr>
        <p:sp>
          <p:nvSpPr>
            <p:cNvPr id="333" name="Google Shape;333;p9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285750" y="3621405"/>
              <a:ext cx="2380615" cy="461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실제 AI와 대화를 주고받는 메인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화면, 대화 기록 조회/삭제 가능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336" name="Google Shape;336;p9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홈/AI 챗봇/성격 선택/실시간 대화 및 대화 기록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9"/>
          <p:cNvSpPr txBox="1"/>
          <p:nvPr/>
        </p:nvSpPr>
        <p:spPr>
          <a:xfrm>
            <a:off x="285750" y="3289935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그림 3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342" name="가로 글상자 341"/>
          <p:cNvSpPr txBox="1"/>
          <p:nvPr/>
        </p:nvSpPr>
        <p:spPr>
          <a:xfrm>
            <a:off x="6366782" y="94189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343" name="가로 글상자 342"/>
          <p:cNvSpPr txBox="1"/>
          <p:nvPr/>
        </p:nvSpPr>
        <p:spPr>
          <a:xfrm>
            <a:off x="5279571" y="472757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344" name="가로 글상자 343"/>
          <p:cNvSpPr txBox="1"/>
          <p:nvPr/>
        </p:nvSpPr>
        <p:spPr>
          <a:xfrm>
            <a:off x="5184743" y="4723810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345" name="가로 글상자 344"/>
          <p:cNvSpPr txBox="1"/>
          <p:nvPr/>
        </p:nvSpPr>
        <p:spPr>
          <a:xfrm>
            <a:off x="5184743" y="1697238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346" name="가로 글상자 346"/>
          <p:cNvSpPr txBox="1"/>
          <p:nvPr/>
        </p:nvSpPr>
        <p:spPr>
          <a:xfrm>
            <a:off x="7137371" y="55810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오늘의 마음 상태: 상태 안내 문구와 정서 점수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라이프로그 요약: 수면 시간, 걸음 수, HRV 스트레스 요약 지표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AI 한줄 요약: LLM 기반 일일 감정 종합 리포트 및 반응 피드백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추천 콘텐츠: 사용자 컨디션 맞춤형 영상(3-4-1), 음악(3-4-2), 운동(3-4-3)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하단 네비게이션 바: [홈], [AI 챗봇], [라이프로그], [설정] 4개 고정 메뉴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MAIN_HOME_01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603885"/>
            <a:chOff x="285750" y="1318260"/>
            <a:chExt cx="2171700" cy="603885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724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메인 홈 대시보드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400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ko-K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하단 네비게이션 바 기반의 접근성을 확보하고, 감정 상태&amp;라이프로그요약&amp;AI피드백 및 콘텐츠 추천을 통합 제공하는 대시보드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그림 36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조회 기간 선택: 일·주·월 단위 전환 및 최종 동기화 시각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활동량 차트: 걸음 수·이동 거리·소모 칼로리 기간별 추이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수면 차트: 단계별(깊은수면·얕은수면·REM·각성) 구성과 수면 효율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생체 지표 차트: 심박수·심박변이도(HRV) 기간별 추이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체성분 기록: 체중·체지방·근육량·기초대사량 측정 이력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LIFELOG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_01</a:t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 기록 조회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4438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수집된 라이프로그를 기간별로 조회하는 화면. 활동량·수면·생체 지표·체성분을 차트로 확인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그림 36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8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웨어러블 연동: 기기명·연동 여부, 항목별 동의 개별 토글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알림 설정: 맞춤 케어 알림 수신 토글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계정 관리: 계정 관리·회원 탈퇴 화면(MAIN_SETTING_02)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로그아웃: 세션 무효화 후 로그인 화면(MAIN_LOGIN_01) 복귀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SETTING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_01</a:t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110 / MLCM_101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웨어러블 연동과 항목별 수집 동의, 알림을 설정하고 계정 기능으로 진입하는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이메일 입력창: 가입 시 사용한 이메일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인증 메일 발송: 재설정 링크·인증 코드 발송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발송 안내: 미가입 이메일도 동일 문구, 실제 미발송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새 비밀번호 입력창: 새 비밀번호·확인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재설정 완료: 비밀번호 갱신 후 MAIN_LOGIN_01 이동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MAIN_LOGIN_02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비밀번호 재설정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비밀번호 분실 시 이메일 인증을 통해 새 비밀번호로 재설정하는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로그인/비밀번호 찾기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조회 기간: 주·월·직접 지정 전환. 변경 시 재조회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감정 변화 곡선: 기간별 감정 스코어 추이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위험 단계 분포: 안정·주의·심각 단계 비율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결합 차트: 감정 추이와 수면·활동량 동일 시간축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종합 요약 문구·PDF 내보내기 버튼 제공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MAIN_REPORT_01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정서 리포트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MLCM_500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본인의 기간별 감정 위험도 스코어 추이와 라이프로그 변화를 대시보드로 조회하고 PDF로 내보내는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라이프로그/정서 리포트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계정 정보: 이메일, 이름, 가입일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비밀번호 변경: 현재 비밀번호 확인 후 변경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회원 탈퇴: 탈퇴 절차 시작. 비밀번호 재입력 확인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삭제 범위 안내: 라이프로그·체성분·대화·분석·기기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최종 확인 후 탈퇴 처리, MAIN_LOGIN_01 복귀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MAIN_SETTING_02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계정 관리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MLCM_103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계정 정보를 확인하고 회원 탈퇴를 처리하는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설정/계정 관리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상태 안내: 도움이 필요한 신호가 감지되었음을 안내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긴급 상담 연결: 109 자살예방상담전화 통화 연결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개인정보 안내: 전화 앱만 실행, 분석 데이터 미전송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닫기: 이전 화면 복귀. 판정 이력은 기록됨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노출 중 힐링 콘텐츠 추천은 표시하지 않음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MAIN_EMERGENCY_01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긴급 상담 연결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정서 위험도가 CRITICAL로 판정된 경우 콘텐츠 추천을 중단하고 전문 상담기관 직통 연결을 안내하는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(전역 · CRITICAL 판정 시 자동 노출)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이메일 입력창: 관리자 계정 이메일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비밀번호 입력창: 마스킹 처리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로그인 버튼: 인증 성공 시 ADMIN_DASH_01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관리자 권한이 아니면 접근 불가 안내 노출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ADMIN_LOGIN_01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관리자 로그인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MLCM_100 / MLCM_501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관리자가 관제 대시보드에 접근하기 위해 로그인하는 웹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(관리자 웹) 로그인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2000" y="1075027"/>
            <a:ext cx="4800000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위험도 분포 요약: 안정·주의·심각 인원수 집계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~❸ 조회 조건: 위험도 필터, 이름·이메일 검색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대상자 목록: 심각·주의 우선 정렬, 평가일시·점수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대상자 상세: 기간별 감정 스코어·라이프로그 차트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❻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위기 사건 조회 · ❼ 관리자 권한 계정만 접근 가능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ADMIN_DASH_01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관리자 관제 대시보드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관리자가 전체 사용자의 위험도 분포를 요약 조회하고 고위험군을 우선 식별하는 웹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(관리자 웹) 관제 대시보드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2000" y="1075027"/>
            <a:ext cx="4800000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44450">
          <a:solidFill>
            <a:srgbClr val="000000">
              <a:alpha val="100000"/>
            </a:srgbClr>
          </a:solidFill>
          <a:head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1458</Words>
  <Application>Microsoft Office PowerPoint</Application>
  <PresentationFormat>A4 용지(210x297mm)</PresentationFormat>
  <Paragraphs>331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Malgun Gothic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smhrd</dc:creator>
  <cp:lastModifiedBy>smhrd1</cp:lastModifiedBy>
  <cp:revision>29</cp:revision>
  <dcterms:modified xsi:type="dcterms:W3CDTF">2026-07-31T08:39:29Z</dcterms:modified>
  <cp:version/>
</cp:coreProperties>
</file>