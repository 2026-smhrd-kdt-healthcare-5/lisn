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6-1.mp4"/><Relationship Id="rId2" Type="http://schemas.microsoft.com/office/2007/relationships/media" Target="../media/media-6-1.mp4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0"/>
            <a:ext cx="5943600" cy="5943600"/>
          </a:xfrm>
          <a:prstGeom prst="ellipse">
            <a:avLst/>
          </a:prstGeom>
          <a:solidFill>
            <a:srgbClr val="24325F"/>
          </a:solidFill>
          <a:ln/>
        </p:spPr>
      </p:sp>
      <p:sp>
        <p:nvSpPr>
          <p:cNvPr id="3" name="Shape 1"/>
          <p:cNvSpPr/>
          <p:nvPr/>
        </p:nvSpPr>
        <p:spPr>
          <a:xfrm>
            <a:off x="7528255" y="457200"/>
            <a:ext cx="4206240" cy="4206240"/>
          </a:xfrm>
          <a:prstGeom prst="ellipse">
            <a:avLst/>
          </a:prstGeom>
          <a:solidFill>
            <a:srgbClr val="2C3A6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A9C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스마트인재개발원 KDT 헬스케어 5팀 · 기업주제(라라랩스)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귀기울임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41248" y="3063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8A9C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LISN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DCF5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멀티모달 라이프로그 감정 분석 기반 맞춤형 LLM 케어 및 모니터링 시스템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" y="4434840"/>
            <a:ext cx="2926080" cy="0"/>
          </a:xfrm>
          <a:prstGeom prst="line">
            <a:avLst/>
          </a:prstGeom>
          <a:noFill/>
          <a:ln w="12700">
            <a:solidFill>
              <a:srgbClr val="3E4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최종 발표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2026. 08. 28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41248" y="5989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DEA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이응균 · PM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93008" y="5989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DEA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김건영 · AI/DATA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44768" y="5989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DEA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윤일준 · 백엔드/DB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796528" y="5989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DEA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함은선 · 프론트엔드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C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9CF0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48840" y="20848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문제와 해결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2148840" y="25877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왜 귀기울임인가 · 먼저 다가간다는 것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3081528"/>
            <a:ext cx="8778240" cy="0"/>
          </a:xfrm>
          <a:prstGeom prst="line">
            <a:avLst/>
          </a:prstGeom>
          <a:noFill/>
          <a:ln w="9525">
            <a:solidFill>
              <a:srgbClr val="333F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27832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9CF0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48840" y="325526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만들었나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148840" y="37581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아키텍처 · AI 판단 방식 · 안전 설계 · 보안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251960"/>
            <a:ext cx="8778240" cy="0"/>
          </a:xfrm>
          <a:prstGeom prst="line">
            <a:avLst/>
          </a:prstGeom>
          <a:noFill/>
          <a:ln w="9525">
            <a:solidFill>
              <a:srgbClr val="333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398264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9CF0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148840" y="442569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성과와 한계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2148840" y="492861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실측 지표 · 관제 화면 · 못 한 것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귀기울임 LISN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8575" y="5120640"/>
            <a:ext cx="1280160" cy="1280160"/>
          </a:xfrm>
          <a:prstGeom prst="ellipse">
            <a:avLst/>
          </a:prstGeom>
          <a:ln w="15240">
            <a:solidFill>
              <a:srgbClr val="8A9CF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02775" y="4434840"/>
            <a:ext cx="2651760" cy="2651760"/>
          </a:xfrm>
          <a:prstGeom prst="ellipse">
            <a:avLst/>
          </a:prstGeom>
          <a:ln w="15240">
            <a:solidFill>
              <a:srgbClr val="8A9CF0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16975" y="3749040"/>
            <a:ext cx="4023360" cy="4023360"/>
          </a:xfrm>
          <a:prstGeom prst="ellipse">
            <a:avLst/>
          </a:prstGeom>
          <a:ln w="15240">
            <a:solidFill>
              <a:srgbClr val="8A9CF0">
                <a:alpha val="21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31175" y="3063240"/>
            <a:ext cx="5394960" cy="5394960"/>
          </a:xfrm>
          <a:prstGeom prst="ellipse">
            <a:avLst/>
          </a:prstGeom>
          <a:ln w="15240">
            <a:solidFill>
              <a:srgbClr val="8A9CF0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46359" y="5678424"/>
            <a:ext cx="164592" cy="164592"/>
          </a:xfrm>
          <a:prstGeom prst="ellipse">
            <a:avLst/>
          </a:prstGeom>
          <a:solidFill>
            <a:srgbClr val="8A9CF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514600"/>
            <a:ext cx="1371600" cy="1371600"/>
          </a:xfrm>
          <a:prstGeom prst="ellipse">
            <a:avLst/>
          </a:prstGeom>
          <a:solidFill>
            <a:srgbClr val="5A6BE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14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14600" y="2651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C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 &amp;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301752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문제와 해결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귀기울임 LISN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 &amp; ANSWER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데이터는 쌓이는데, 사용자는 앱을 열지 않습니다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F4F6FD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131" y="209969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288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걸음·수면·심박은 매일 기록되지만, 케어로 이어지려면 사용자가 앱을 열어야 합니다.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26771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그런데 정작 힘든 순간에는 사용자가 앱을 열 힘조차 없습니다. 감지해 놓고도 사용자를 기다리는 구조가 문제입니다.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0632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«관찰 → 판단 → 선제 접촉»으로 설계했습니다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611880"/>
            <a:ext cx="35204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47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41248" y="3886200"/>
            <a:ext cx="566928" cy="566928"/>
          </a:xfrm>
          <a:prstGeom prst="ellipse">
            <a:avLst/>
          </a:prstGeom>
          <a:solidFill>
            <a:srgbClr val="EAF8F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807" y="4013759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38862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C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41248" y="4572000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수집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841248" y="4983480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Health Connect로 걸음·수면·심박·HRV를 앱이 읽어 서버로 보냅니다. 사용자가 입력할 것이 없습니다.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368" y="4023360"/>
            <a:ext cx="237744" cy="23774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343400" y="3611880"/>
            <a:ext cx="35204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47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636008" y="3886200"/>
            <a:ext cx="566928" cy="566928"/>
          </a:xfrm>
          <a:prstGeom prst="ellipse">
            <a:avLst/>
          </a:prstGeom>
          <a:solidFill>
            <a:srgbClr val="EAF5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567" y="4013759"/>
            <a:ext cx="311810" cy="31181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49240" y="38862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C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636008" y="4572000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평소와 얼마나 다른가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4636008" y="4983480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그 사람 본인의 평소(14일)와 비교해 징후를 봅니다. 감정을 분류하지 않습니다.</a:t>
            </a:r>
            <a:endParaRPr lang="en-US" sz="11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28" y="4023360"/>
            <a:ext cx="237744" cy="237744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138160" y="3611880"/>
            <a:ext cx="35204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47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430768" y="3886200"/>
            <a:ext cx="566928" cy="566928"/>
          </a:xfrm>
          <a:prstGeom prst="ellipse">
            <a:avLst/>
          </a:prstGeom>
          <a:solidFill>
            <a:srgbClr val="FFF0E9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8327" y="4013759"/>
            <a:ext cx="311810" cy="31181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144000" y="38862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C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8430768" y="4572000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선제 접촉</a:t>
            </a:r>
            <a:endParaRPr lang="en-US" sz="1550" dirty="0"/>
          </a:p>
        </p:txBody>
      </p:sp>
      <p:sp>
        <p:nvSpPr>
          <p:cNvPr id="29" name="Text 21"/>
          <p:cNvSpPr/>
          <p:nvPr/>
        </p:nvSpPr>
        <p:spPr>
          <a:xfrm>
            <a:off x="8430768" y="4983480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콘텐츠 추천에서 그치지 않고, 필요하면 시스템이 먼저 말을 거는 선제 접촉까지 이어집니다.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CCB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CCB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귀기울임 LISN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C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앱을 열기 전에, 먼저 다가갑니다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03520" cy="2286000"/>
          </a:xfrm>
          <a:prstGeom prst="roundRect">
            <a:avLst>
              <a:gd name="adj" fmla="val 3600"/>
            </a:avLst>
          </a:prstGeom>
          <a:solidFill>
            <a:srgbClr val="2A356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B3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서비스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감지 → 사용자가 앱을 열어야 확인 → 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DEA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위기일수록 앱을 열 힘이 없는데, 확인 자체를 사용자에게 맡깁니다.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5A6BE0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E7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귀기울임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23774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감지 → 시스템이 먼저 말을 겁니다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30632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EEFF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연속 이탈 3일 → 조건 6개 검사 → 첫 발화 생성 → 세션 선생성 → FCM 푸시 · 홈 카드 · 배너로 먼저 말을 겁니다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"감시 아닌가요?" — 그래서 장치를 마련했습니다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2A3564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5029200"/>
            <a:ext cx="457200" cy="457200"/>
          </a:xfrm>
          <a:prstGeom prst="ellipse">
            <a:avLst/>
          </a:prstGeom>
          <a:solidFill>
            <a:srgbClr val="384280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678" y="5132070"/>
            <a:ext cx="251460" cy="2514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49808" y="55595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옵트인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49808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9C0E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케어 알림은 콘텐츠 알림과 따로 동의받습니다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364992" y="484632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2A3564"/>
          </a:solidFill>
          <a:ln/>
        </p:spPr>
      </p:sp>
      <p:sp>
        <p:nvSpPr>
          <p:cNvPr id="19" name="Shape 16"/>
          <p:cNvSpPr/>
          <p:nvPr/>
        </p:nvSpPr>
        <p:spPr>
          <a:xfrm>
            <a:off x="3566160" y="5029200"/>
            <a:ext cx="457200" cy="457200"/>
          </a:xfrm>
          <a:prstGeom prst="ellipse">
            <a:avLst/>
          </a:prstGeom>
          <a:solidFill>
            <a:srgbClr val="38428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5132070"/>
            <a:ext cx="251460" cy="2514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566160" y="55595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빈도 상한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3566160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9C0E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쿨다운 3일 · 하루 1회 · 09~21시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181344" y="484632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2A3564"/>
          </a:solidFill>
          <a:ln/>
        </p:spPr>
      </p:sp>
      <p:sp>
        <p:nvSpPr>
          <p:cNvPr id="24" name="Shape 20"/>
          <p:cNvSpPr/>
          <p:nvPr/>
        </p:nvSpPr>
        <p:spPr>
          <a:xfrm>
            <a:off x="6382512" y="5029200"/>
            <a:ext cx="457200" cy="457200"/>
          </a:xfrm>
          <a:prstGeom prst="ellipse">
            <a:avLst/>
          </a:prstGeom>
          <a:solidFill>
            <a:srgbClr val="384280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382" y="5132070"/>
            <a:ext cx="251460" cy="2514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82512" y="55595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겹침 방지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6382512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9C0E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같은 날 콘텐츠 알림이 있으면 보류합니다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8997696" y="484632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2A3564"/>
          </a:solidFill>
          <a:ln/>
        </p:spPr>
      </p:sp>
      <p:sp>
        <p:nvSpPr>
          <p:cNvPr id="29" name="Shape 24"/>
          <p:cNvSpPr/>
          <p:nvPr/>
        </p:nvSpPr>
        <p:spPr>
          <a:xfrm>
            <a:off x="9198864" y="5029200"/>
            <a:ext cx="457200" cy="457200"/>
          </a:xfrm>
          <a:prstGeom prst="ellipse">
            <a:avLst/>
          </a:prstGeom>
          <a:solidFill>
            <a:srgbClr val="384280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1734" y="5132070"/>
            <a:ext cx="251460" cy="2514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198864" y="55595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제시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9198864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9C0E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왜 말을 걸었는지 첫 마디에 담습니다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04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귀기울임 LISN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3분으로 보는 귀기울임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클릭하면 재생됩니다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09064" y="1636776"/>
            <a:ext cx="7973568" cy="4533138"/>
          </a:xfrm>
          <a:prstGeom prst="roundRect">
            <a:avLst>
              <a:gd name="adj" fmla="val 1614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228600" dist="63500" dir="5400000">
              <a:srgbClr val="1B2547">
                <a:alpha val="12000"/>
              </a:srgbClr>
            </a:outerShdw>
          </a:effectLst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163928" y="1691640"/>
            <a:ext cx="7863840" cy="44234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CCB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CCB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귀기울임 LISN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8575" y="5120640"/>
            <a:ext cx="1280160" cy="1280160"/>
          </a:xfrm>
          <a:prstGeom prst="ellipse">
            <a:avLst/>
          </a:prstGeom>
          <a:ln w="15240">
            <a:solidFill>
              <a:srgbClr val="8A9CF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02775" y="4434840"/>
            <a:ext cx="2651760" cy="2651760"/>
          </a:xfrm>
          <a:prstGeom prst="ellipse">
            <a:avLst/>
          </a:prstGeom>
          <a:ln w="15240">
            <a:solidFill>
              <a:srgbClr val="8A9CF0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16975" y="3749040"/>
            <a:ext cx="4023360" cy="4023360"/>
          </a:xfrm>
          <a:prstGeom prst="ellipse">
            <a:avLst/>
          </a:prstGeom>
          <a:ln w="15240">
            <a:solidFill>
              <a:srgbClr val="8A9CF0">
                <a:alpha val="21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31175" y="3063240"/>
            <a:ext cx="5394960" cy="5394960"/>
          </a:xfrm>
          <a:prstGeom prst="ellipse">
            <a:avLst/>
          </a:prstGeom>
          <a:ln w="15240">
            <a:solidFill>
              <a:srgbClr val="8A9CF0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46359" y="5678424"/>
            <a:ext cx="164592" cy="164592"/>
          </a:xfrm>
          <a:prstGeom prst="ellipse">
            <a:avLst/>
          </a:prstGeom>
          <a:solidFill>
            <a:srgbClr val="8A9CF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514600"/>
            <a:ext cx="1371600" cy="1371600"/>
          </a:xfrm>
          <a:prstGeom prst="ellipse">
            <a:avLst/>
          </a:prstGeom>
          <a:solidFill>
            <a:srgbClr val="5A6BE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14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14600" y="2651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C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HOW WE BUILT 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301752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어떻게 만들었나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06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귀기울임 LISN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서버를 둘로 나눴나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24325F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542032"/>
            <a:ext cx="502920" cy="502920"/>
          </a:xfrm>
          <a:prstGeom prst="ellipse">
            <a:avLst/>
          </a:prstGeom>
          <a:solidFill>
            <a:srgbClr val="3340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829" y="2655189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127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Flutter 앱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434840" y="228600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47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90872" y="2542032"/>
            <a:ext cx="502920" cy="502920"/>
          </a:xfrm>
          <a:prstGeom prst="ellipse">
            <a:avLst/>
          </a:prstGeom>
          <a:solidFill>
            <a:srgbClr val="EAF5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029" y="2655189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90872" y="3127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서버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8869680" y="2286000"/>
            <a:ext cx="2788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47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25712" y="2542032"/>
            <a:ext cx="502920" cy="502920"/>
          </a:xfrm>
          <a:prstGeom prst="ellipse">
            <a:avLst/>
          </a:prstGeom>
          <a:solidFill>
            <a:srgbClr val="EAF5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8869" y="2655189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25712" y="31272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추론 서버</a:t>
            </a:r>
            <a:endParaRPr lang="en-US" sz="14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180" y="2834640"/>
            <a:ext cx="274320" cy="274320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20" y="283464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310128" y="199339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걸음·수면·심박 push</a:t>
            </a:r>
            <a:endParaRPr lang="en-US" sz="850" dirty="0"/>
          </a:p>
        </p:txBody>
      </p:sp>
      <p:sp>
        <p:nvSpPr>
          <p:cNvPr id="19" name="Text 12"/>
          <p:cNvSpPr/>
          <p:nvPr/>
        </p:nvSpPr>
        <p:spPr>
          <a:xfrm>
            <a:off x="7772400" y="199339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내부 통신</a:t>
            </a:r>
            <a:endParaRPr lang="en-US" sz="850" dirty="0"/>
          </a:p>
        </p:txBody>
      </p:sp>
      <p:sp>
        <p:nvSpPr>
          <p:cNvPr id="20" name="Text 13"/>
          <p:cNvSpPr/>
          <p:nvPr/>
        </p:nvSpPr>
        <p:spPr>
          <a:xfrm>
            <a:off x="548640" y="4069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위기 키워드 필터는 비즈니스 서버 안에 둡니다.  </a:t>
            </a:r>
            <a:pPr indent="0" marL="0">
              <a:buNone/>
            </a:pPr>
            <a:r>
              <a:rPr lang="en-US" sz="1350" dirty="0">
                <a:solidFill>
                  <a:srgbClr val="6E7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서버가 죽어도 탐지가 멈추면 안 되기 때문입니다.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4F6FD"/>
          </a:solidFill>
          <a:ln/>
        </p:spPr>
      </p:sp>
      <p:sp>
        <p:nvSpPr>
          <p:cNvPr id="22" name="Text 15"/>
          <p:cNvSpPr/>
          <p:nvPr/>
        </p:nvSpPr>
        <p:spPr>
          <a:xfrm>
            <a:off x="868680" y="468172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앱이 먼저 보내고, 서버는 끌어오지 않습니다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868680" y="50292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Health Connect는 Android 단말 안의 권한 모델이라 서버가 가질 OAuth 토큰이 없습니다. 그래서 앱이 읽어 push하고, 앱을 열지 않아도 WorkManager가 15분 주기로 백그라운드 전송합니다. 서버가 안 가져오는 것이 아니라, 가져올 수가 없습니다.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6BE0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STACK   </a:t>
            </a:r>
            <a:pPr indent="0" marL="0">
              <a:buNone/>
            </a:pPr>
            <a:r>
              <a:rPr lang="en-US" sz="100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Flutter · Health Connect · WorkManager   |   FastAPI · SQLAlchemy · PostgreSQL 17   |   React · Vite   |   OpenAI API   |   인프라: 로컬 데모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CCB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07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CCB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귀기울임 LISN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DESIGN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분류 모델은 검증하고 접었습니다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4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21992"/>
            <a:ext cx="420624" cy="420624"/>
          </a:xfrm>
          <a:prstGeom prst="ellipse">
            <a:avLst/>
          </a:prstGeom>
          <a:solidFill>
            <a:srgbClr val="EAF8F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21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9E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22199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807208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감정 라벨이 붙은 데이터로 분류 모델을 학습하려 했습니다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7368" y="2834640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343400" y="1965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47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221992"/>
            <a:ext cx="420624" cy="420624"/>
          </a:xfrm>
          <a:prstGeom prst="ellipse">
            <a:avLst/>
          </a:prstGeom>
          <a:solidFill>
            <a:srgbClr val="FFF0E9"/>
          </a:solidFill>
          <a:ln/>
        </p:spPr>
      </p:sp>
      <p:sp>
        <p:nvSpPr>
          <p:cNvPr id="12" name="Text 9"/>
          <p:cNvSpPr/>
          <p:nvPr/>
        </p:nvSpPr>
        <p:spPr>
          <a:xfrm>
            <a:off x="4617720" y="2221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74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166360" y="222199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617720" y="2807208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국내 라벨 데이터셋을 구하지 못해 공개 데이터(GLOBEM)로 검증했더니 ROC-AUC 0.528, 무작위 수준이었습니다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2834640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138160" y="1965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47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0" y="2221992"/>
            <a:ext cx="420624" cy="420624"/>
          </a:xfrm>
          <a:prstGeom prst="ellipse">
            <a:avLst/>
          </a:prstGeom>
          <a:solidFill>
            <a:srgbClr val="EAF5FF"/>
          </a:solidFill>
          <a:ln/>
        </p:spPr>
      </p:sp>
      <p:sp>
        <p:nvSpPr>
          <p:cNvPr id="18" name="Text 14"/>
          <p:cNvSpPr/>
          <p:nvPr/>
        </p:nvSpPr>
        <p:spPr>
          <a:xfrm>
            <a:off x="8412480" y="2221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7FC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961120" y="222199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8412480" y="2807208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개인 기준선 이탈 탐지로 방향을 바꿨습니다 — 중앙값·MAD robust z, 지표 7개 중 2개 이상 이탈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24325F"/>
          </a:solidFill>
          <a:ln/>
        </p:spPr>
      </p:sp>
      <p:sp>
        <p:nvSpPr>
          <p:cNvPr id="22" name="Text 18"/>
          <p:cNvSpPr/>
          <p:nvPr/>
        </p:nvSpPr>
        <p:spPr>
          <a:xfrm>
            <a:off x="868680" y="45262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"감정을 분석·분류합니다"라고 말하지 않는 이유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868680" y="4919472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DEA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감정 코드는 이탈 정도를 표시하는 규칙 기반 산출값입니다. 학습된 분류기가 정한 값이 아니라, 코드에서 model_version이 "rule-"로 시작하는 것이 그 표시입니다. 대신 그 사람 본인의 평소와 비교하는 개인 기준선 이탈 탐지로 실제 서비스를 완성했습니다.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CCB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08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CCB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귀기울임 LISN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CRISIS DETECTION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위기 탐지는 2단계입니다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4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12848"/>
            <a:ext cx="594360" cy="594360"/>
          </a:xfrm>
          <a:prstGeom prst="ellipse">
            <a:avLst/>
          </a:prstGeom>
          <a:solidFill>
            <a:srgbClr val="FFF0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361438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94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4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45920" y="24688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규칙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06324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외부 API가 죽어도 탐지가 멈추지 않습니다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37033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단독 재현율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8680" y="39136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74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0.081</a:t>
            </a:r>
            <a:endParaRPr lang="en-US" sz="2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3063240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172200" y="1920240"/>
            <a:ext cx="53492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47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92240" y="2212848"/>
            <a:ext cx="594360" cy="594360"/>
          </a:xfrm>
          <a:prstGeom prst="ellipse">
            <a:avLst/>
          </a:prstGeom>
          <a:solidFill>
            <a:srgbClr val="EAF8F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30" y="2361438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69480" y="2194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9E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269480" y="24688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문맥 판정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492240" y="306324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문장 맥락까지 읽어 더 정밀하게 판정합니다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92240" y="37033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최종 재현율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492240" y="39136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9E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0.946</a:t>
            </a:r>
            <a:endParaRPr lang="en-US" sz="2400" dirty="0"/>
          </a:p>
        </p:txBody>
      </p:sp>
      <p:sp>
        <p:nvSpPr>
          <p:cNvPr id="21" name="Shape 16"/>
          <p:cNvSpPr/>
          <p:nvPr/>
        </p:nvSpPr>
        <p:spPr>
          <a:xfrm>
            <a:off x="548640" y="4480560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F4F6FD"/>
          </a:solidFill>
          <a:ln/>
        </p:spPr>
      </p:sp>
      <p:sp>
        <p:nvSpPr>
          <p:cNvPr id="22" name="Text 17"/>
          <p:cNvSpPr/>
          <p:nvPr/>
        </p:nvSpPr>
        <p:spPr>
          <a:xfrm>
            <a:off x="868680" y="461772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정신건강 서비스라서 다르게 만든 것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868680" y="49834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4325F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CRITICAL이면 이미 만든 답변도 버립니다.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위기 판정과 응답 생성을 동시에 돌리지만, CRITICAL이면 만들어 둔 응답을 버립니다. 그래서 스트리밍을 쓰지 않습니다. 판정 전에 흘려보낸 글자는 되돌릴 수 없습니다.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68680" y="550468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4325F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경고색은 쓰지 않습니다.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빨강·주황은 불안을 키워 회피를 부릅니다.   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4325F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데이터가 없다고 "정상"이라 하지도 않습니다.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3일 미만이면 422로 끊습니다. 편차 0을 정상으로 적재하면 위험을 놓칩니다.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CCB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09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CCB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귀기울임 LISN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8575" y="5120640"/>
            <a:ext cx="1280160" cy="1280160"/>
          </a:xfrm>
          <a:prstGeom prst="ellipse">
            <a:avLst/>
          </a:prstGeom>
          <a:ln w="15240">
            <a:solidFill>
              <a:srgbClr val="8A9CF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02775" y="4434840"/>
            <a:ext cx="2651760" cy="2651760"/>
          </a:xfrm>
          <a:prstGeom prst="ellipse">
            <a:avLst/>
          </a:prstGeom>
          <a:ln w="15240">
            <a:solidFill>
              <a:srgbClr val="8A9CF0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16975" y="3749040"/>
            <a:ext cx="4023360" cy="4023360"/>
          </a:xfrm>
          <a:prstGeom prst="ellipse">
            <a:avLst/>
          </a:prstGeom>
          <a:ln w="15240">
            <a:solidFill>
              <a:srgbClr val="8A9CF0">
                <a:alpha val="21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31175" y="3063240"/>
            <a:ext cx="5394960" cy="5394960"/>
          </a:xfrm>
          <a:prstGeom prst="ellipse">
            <a:avLst/>
          </a:prstGeom>
          <a:ln w="15240">
            <a:solidFill>
              <a:srgbClr val="8A9CF0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46359" y="5678424"/>
            <a:ext cx="164592" cy="164592"/>
          </a:xfrm>
          <a:prstGeom prst="ellipse">
            <a:avLst/>
          </a:prstGeom>
          <a:solidFill>
            <a:srgbClr val="8A9CF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514600"/>
            <a:ext cx="1371600" cy="1371600"/>
          </a:xfrm>
          <a:prstGeom prst="ellipse">
            <a:avLst/>
          </a:prstGeom>
          <a:solidFill>
            <a:srgbClr val="5A6BE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14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14600" y="2651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C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RESULTS &amp; LIMITS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301752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성과와 한계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10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귀기울임 LISN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C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실측으로 증명한 것만 남겼습니다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1E2A54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91109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0.946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" y="255117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위기 판정 재현율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74136" y="1783080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1E2A54"/>
          </a:solidFill>
          <a:ln/>
        </p:spPr>
      </p:sp>
      <p:sp>
        <p:nvSpPr>
          <p:cNvPr id="8" name="Text 6"/>
          <p:cNvSpPr/>
          <p:nvPr/>
        </p:nvSpPr>
        <p:spPr>
          <a:xfrm>
            <a:off x="3575304" y="191109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0.921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75304" y="255117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위기 판정 정밀도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99632" y="1783080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1E2A5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91109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0.933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0" y="255117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위기 판정 F1-Score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025128" y="1783080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1E2A54"/>
          </a:solidFill>
          <a:ln/>
        </p:spPr>
      </p:sp>
      <p:sp>
        <p:nvSpPr>
          <p:cNvPr id="14" name="Text 12"/>
          <p:cNvSpPr/>
          <p:nvPr/>
        </p:nvSpPr>
        <p:spPr>
          <a:xfrm>
            <a:off x="9226296" y="191109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211건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226296" y="255117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자체 평가셋 · 위기 111 · 비위기 100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2인 교차 라벨링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465576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1E2A54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59359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33개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49808" y="423367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백엔드 API 엔드포인트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74136" y="3465576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1E2A54"/>
          </a:solidFill>
          <a:ln/>
        </p:spPr>
      </p:sp>
      <p:sp>
        <p:nvSpPr>
          <p:cNvPr id="20" name="Text 18"/>
          <p:cNvSpPr/>
          <p:nvPr/>
        </p:nvSpPr>
        <p:spPr>
          <a:xfrm>
            <a:off x="3575304" y="359359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9개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575304" y="423367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DB 테이블 · UUID·TIMESTAMPTZ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99632" y="3465576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1E2A54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59359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319건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00800" y="423367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회귀 테스트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백엔드 118 · AI 22 · 앱 165 · 관리자 14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25128" y="3465576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1E2A54"/>
          </a:solidFill>
          <a:ln/>
        </p:spPr>
      </p:sp>
      <p:sp>
        <p:nvSpPr>
          <p:cNvPr id="26" name="Text 24"/>
          <p:cNvSpPr/>
          <p:nvPr/>
        </p:nvSpPr>
        <p:spPr>
          <a:xfrm>
            <a:off x="9226296" y="359359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2052ms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26296" y="423367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AI 챗봇 응답 지연 최댓값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(예산 3000ms)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521208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E2A54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212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실서버 관통 점검 </a:t>
            </a:r>
            <a:pPr indent="0" marL="0">
              <a:buNone/>
            </a:pPr>
            <a:r>
              <a:rPr lang="en-US" sz="105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13건 수정 뒤 실패 0건    ·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문서 검사기 4종 </a:t>
            </a:r>
            <a:pPr indent="0" marL="0">
              <a:buNone/>
            </a:pPr>
            <a:r>
              <a:rPr lang="en-US" sz="105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— 같은 수치가 문서마다 갈리는 것을 사람이 세지 않고 기계가 대조    ·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db/schema.sql 정본 </a:t>
            </a:r>
            <a:pPr indent="0" marL="0">
              <a:buNone/>
            </a:pPr>
            <a:r>
              <a:rPr lang="en-US" sz="105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— 드리프트 테스트가 모델과 어긋나면 실패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1BE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※ 재현율은 8/05 0.793 → 8/12 0.946 — 팀이 확정한 라벨 기준을 프롬프트에 반영하고, 판정 모델을 gpt-5.6 → gpt-5.4로 교체(미탐 23 → 6건, 지연 최댓값 절반 이하)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11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귀기울임 LISN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ADMIN CONSOLE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관리자는 위험한 사람부터 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865376"/>
            <a:ext cx="6967728" cy="4398264"/>
          </a:xfrm>
          <a:prstGeom prst="roundRect">
            <a:avLst>
              <a:gd name="adj" fmla="val 2079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52400" dist="50800" dir="5400000">
              <a:srgbClr val="1B2547">
                <a:alpha val="12000"/>
              </a:srgbClr>
            </a:outerShdw>
          </a:effectLst>
        </p:spPr>
      </p:sp>
      <p:pic>
        <p:nvPicPr>
          <p:cNvPr id="5" name="Image 0" descr="C:\project\LISN\docs\design\ADMIN_DASH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6858000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965960"/>
            <a:ext cx="502920" cy="502920"/>
          </a:xfrm>
          <a:prstGeom prst="ellipse">
            <a:avLst/>
          </a:prstGeom>
          <a:solidFill>
            <a:srgbClr val="EAF5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850" y="2091690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3920" y="1947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위험도 분포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503920" y="22768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안정·주의·심각이 각각 몇 명인지 한눈에 봅니다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818120" y="3017520"/>
            <a:ext cx="502920" cy="502920"/>
          </a:xfrm>
          <a:prstGeom prst="ellipse">
            <a:avLst/>
          </a:prstGeom>
          <a:solidFill>
            <a:srgbClr val="EAF5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850" y="314325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03920" y="2999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 · 검색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8503920" y="332841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이름·이메일·상태로 즉시 필터링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7818120" y="4069080"/>
            <a:ext cx="502920" cy="502920"/>
          </a:xfrm>
          <a:prstGeom prst="ellipse">
            <a:avLst/>
          </a:prstGeom>
          <a:solidFill>
            <a:srgbClr val="EAF5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850" y="4194810"/>
            <a:ext cx="251460" cy="2514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503920" y="4050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조회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8503920" y="43799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개인별 라이프로그 추이와 대화 이력을 확인합니다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7818120" y="5120640"/>
            <a:ext cx="502920" cy="502920"/>
          </a:xfrm>
          <a:prstGeom prst="ellipse">
            <a:avLst/>
          </a:prstGeom>
          <a:solidFill>
            <a:srgbClr val="EAF5F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3850" y="5246370"/>
            <a:ext cx="251460" cy="2514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503920" y="51023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위기 이력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8503920" y="54315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판정 시점과 대응 이력을 시간순으로 따라갑니다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CCB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12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CCB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귀기울임 LISN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"전부 암호화"가 아니라 위험도 기반입니다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949440" cy="3072384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전송 구간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468880" y="187452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 / TLS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434840" y="1874520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앱 ↔ 백엔드, 백엔드 ↔ AI 서버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386584"/>
            <a:ext cx="6949440" cy="0"/>
          </a:xfrm>
          <a:prstGeom prst="line">
            <a:avLst/>
          </a:prstGeom>
          <a:noFill/>
          <a:ln w="9525">
            <a:solidFill>
              <a:srgbClr val="E3E7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8658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저장 매체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468880" y="238658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볼륨 디스크 암호화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34840" y="2386584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클라우드 배포 시에만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898648"/>
            <a:ext cx="6949440" cy="0"/>
          </a:xfrm>
          <a:prstGeom prst="line">
            <a:avLst/>
          </a:prstGeom>
          <a:noFill/>
          <a:ln w="9525">
            <a:solidFill>
              <a:srgbClr val="E3E7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9864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컬럼 단위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68880" y="289864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AES-256-GCM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34840" y="2898648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USERS.phone (연락처만)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410712"/>
            <a:ext cx="6949440" cy="0"/>
          </a:xfrm>
          <a:prstGeom prst="line">
            <a:avLst/>
          </a:prstGeom>
          <a:noFill/>
          <a:ln w="9525">
            <a:solidFill>
              <a:srgbClr val="E3E7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41071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비밀번호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468880" y="341071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bcrypt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434840" y="3410712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복호화하지 않음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22776"/>
            <a:ext cx="6949440" cy="0"/>
          </a:xfrm>
          <a:prstGeom prst="line">
            <a:avLst/>
          </a:prstGeom>
          <a:noFill/>
          <a:ln w="9525">
            <a:solidFill>
              <a:srgbClr val="E3E7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92277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대화 저장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468880" y="392277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정규식 PII 마스킹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34840" y="3922776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전화·주민번호·이메일을 저장 전에 마스킹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6949440" cy="0"/>
          </a:xfrm>
          <a:prstGeom prst="line">
            <a:avLst/>
          </a:prstGeom>
          <a:noFill/>
          <a:ln w="9525">
            <a:solidFill>
              <a:srgbClr val="E3E7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43484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식별자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468880" y="443484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UUID v4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34840" y="4434840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테이블 9곳 전부 — 열거 공격 방지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0" y="1874520"/>
            <a:ext cx="3840480" cy="3072384"/>
          </a:xfrm>
          <a:prstGeom prst="roundRect">
            <a:avLst>
              <a:gd name="adj" fmla="val 2381"/>
            </a:avLst>
          </a:prstGeom>
          <a:solidFill>
            <a:srgbClr val="24325F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0" y="1874520"/>
            <a:ext cx="329184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전 컬럼 암호화를 하지 않았나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C7CDEA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라이프로그 측정치를 컬럼 암호화하면 서비스가 동작하지 않습니다. 기간별 집계와 복합 인덱스가 핵심 동작인데, 암호화하면 범위 조회를 할 수 없습니다.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DEA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그래서 유출 시 즉각적 2차 피해가 나는 항목(연락처)만 컬럼 암호화하고, 측정치는 전송 구간 보호와 접근통제로 지킵니다.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25780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4F6FD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2578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7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"보안을 덜 했다"가 아니라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"보안 요구를 기능 제약과 함께 설계했다"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7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마스킹은 저장 전에 합니다 — 원문은 어디에도 남지 않고, 외부 LLM에도 마스킹된 텍스트만 전송됩니다.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CCB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13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CCB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귀기울임 LISN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HONEST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못 한 부분은 그대로 말씀드리겠습니다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47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Health Connect 실기기 검증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703320" y="2020824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FFF0E9"/>
          </a:solidFill>
          <a:ln/>
        </p:spPr>
      </p:sp>
      <p:sp>
        <p:nvSpPr>
          <p:cNvPr id="7" name="Text 5"/>
          <p:cNvSpPr/>
          <p:nvPr/>
        </p:nvSpPr>
        <p:spPr>
          <a:xfrm>
            <a:off x="3703320" y="202082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74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937760" y="187452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에뮬레이터에는 Health Connect가 없어 워커 동작만 확인했습니다.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47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58775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미수신 감지 스케줄러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2734056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FFF0E9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273405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74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남음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37760" y="2587752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NFR-DV-002 의 3시간 미갱신 감지입니다. 이걸 주기적으로 돌려 줄 주체를 아직 두지 않았습니다.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300984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47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30098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03320" y="344728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/>
        </p:spPr>
      </p:sp>
      <p:sp>
        <p:nvSpPr>
          <p:cNvPr id="17" name="Text 15"/>
          <p:cNvSpPr/>
          <p:nvPr/>
        </p:nvSpPr>
        <p:spPr>
          <a:xfrm>
            <a:off x="3703320" y="344728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7FC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 제외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37760" y="330098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기술적으로 불가능한 것은 아닙니다. macOS·Xcode·Apple 계정 등 장비와 일정 문제입니다.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014216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47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01421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인프라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03320" y="416052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FFF0E9"/>
          </a:solidFill>
          <a:ln/>
        </p:spPr>
      </p:sp>
      <p:sp>
        <p:nvSpPr>
          <p:cNvPr id="22" name="Text 20"/>
          <p:cNvSpPr/>
          <p:nvPr/>
        </p:nvSpPr>
        <p:spPr>
          <a:xfrm>
            <a:off x="3703320" y="41605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74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미정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4014216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지금은 로컬 데모 구조입니다. 클라우드 배포는 다음 단계 과제입니다.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727448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47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47274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평가셋 holdout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03320" y="4873752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FFF0E9"/>
          </a:solidFill>
          <a:ln/>
        </p:spPr>
      </p:sp>
      <p:sp>
        <p:nvSpPr>
          <p:cNvPr id="27" name="Text 25"/>
          <p:cNvSpPr/>
          <p:nvPr/>
        </p:nvSpPr>
        <p:spPr>
          <a:xfrm>
            <a:off x="3703320" y="487375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74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없음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37760" y="4727448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0.946은 이 평가셋 211건에서 나온 값입니다. 새 문장으로는 다시 검증하지 않았습니다.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44068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47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2960" y="5440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놓친 6건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703320" y="5586984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EAF8F4"/>
          </a:solidFill>
          <a:ln/>
        </p:spPr>
      </p:sp>
      <p:sp>
        <p:nvSpPr>
          <p:cNvPr id="32" name="Text 30"/>
          <p:cNvSpPr/>
          <p:nvPr/>
        </p:nvSpPr>
        <p:spPr>
          <a:xfrm>
            <a:off x="3703320" y="558698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9E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완료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37760" y="54406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488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완곡·작별·신변 정리 표현에 몰려 있고, 문장 하나만으로는 사람도 라벨이 갈립니다.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CCB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14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CCB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귀기울임 LISN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5486400" cy="5486400"/>
          </a:xfrm>
          <a:prstGeom prst="ellipse">
            <a:avLst/>
          </a:prstGeom>
          <a:solidFill>
            <a:srgbClr val="24325F"/>
          </a:solidFill>
          <a:ln/>
        </p:spPr>
      </p:sp>
      <p:sp>
        <p:nvSpPr>
          <p:cNvPr id="3" name="Shape 1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2C3A6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4388" y="16687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C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귀기울임 — 먼저 다가가는 정서 케어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815688" y="4206240"/>
            <a:ext cx="2560320" cy="0"/>
          </a:xfrm>
          <a:prstGeom prst="line">
            <a:avLst/>
          </a:prstGeom>
          <a:noFill/>
          <a:ln w="12700">
            <a:solidFill>
              <a:srgbClr val="3E4A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4348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스마트인재개발원 KDT 헬스케어 5팀 · 기업주제(라라랩스)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0908" y="4937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이응균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0908" y="52852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PM · 기획 · 문서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558388" y="4937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김건영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58388" y="52852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AI · DATA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255868" y="4937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윤일준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255868" y="52852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백엔드 · DB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953348" y="4937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함은선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953348" y="52852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3D6"/>
                </a:solidFill>
                <a:latin typeface="Noto Sans KR DemiLight" pitchFamily="34" charset="0"/>
                <a:ea typeface="Noto Sans KR DemiLight" pitchFamily="34" charset="-122"/>
                <a:cs typeface="Noto Sans KR DemiLight" pitchFamily="34" charset="-120"/>
              </a:rPr>
              <a:t>프론트엔드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2026-08-22T08:02:07Z</dcterms:created>
  <dcterms:modified xsi:type="dcterms:W3CDTF">2026-08-22T08:02:07Z</dcterms:modified>
</cp:coreProperties>
</file>