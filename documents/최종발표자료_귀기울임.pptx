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0" y="502920"/>
            <a:ext cx="11368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2026. 08. 28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귀기울임</a:t>
            </a:r>
            <a:pPr indent="0" marL="0">
              <a:buNone/>
            </a:pPr>
            <a:r>
              <a:rPr lang="en-US" sz="2200" b="1" spc="300" kern="0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LISN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822960" y="3566160"/>
            <a:ext cx="1097280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7947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166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5486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 </a:t>
            </a:r>
            <a:pPr indent="0" marL="0">
              <a:buNone/>
            </a:pPr>
            <a:r>
              <a:rPr lang="en-US" sz="11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5486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 </a:t>
            </a:r>
            <a:pPr indent="0" marL="0">
              <a:buNone/>
            </a:pPr>
            <a:r>
              <a:rPr lang="en-US" sz="11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AI/DATA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0" y="5486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 </a:t>
            </a:r>
            <a:pPr indent="0" marL="0">
              <a:buNone/>
            </a:pPr>
            <a:r>
              <a:rPr lang="en-US" sz="11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백엔드/DB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03920" y="54864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 </a:t>
            </a:r>
            <a:pPr indent="0" marL="0">
              <a:buNone/>
            </a:pPr>
            <a:r>
              <a:rPr lang="en-US" sz="11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69164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73736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394960" y="169164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감지하고도 놓치는 구조 · 먼저 다가가는 설계 · 3분 시연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743200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74320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737360" y="2880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설계와 구현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94960" y="274320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서버 분리 · 이탈 탐지 · 위기 탐지 2단계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794760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737360" y="39319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확장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94960" y="3794760"/>
            <a:ext cx="5943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보안 설계 · 다음 단계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846320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32004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42F3B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822960" y="23957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95528" y="27432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문제와 해결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103120" cy="0"/>
          </a:xfrm>
          <a:prstGeom prst="line">
            <a:avLst/>
          </a:prstGeom>
          <a:noFill/>
          <a:ln w="19050">
            <a:solidFill>
              <a:srgbClr val="A87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감지하고도 놓치는 구조 · 먼저 다가가는 설계 · 3분 시연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쌓이는 데이터, 열리지 않는 앱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문제와 해결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084832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286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3538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3429000"/>
            <a:ext cx="3538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66928" y="3904488"/>
            <a:ext cx="34015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Connect·화면 사용 시간을 앱이 자동으로 읽어 보냅니다. 입력할 것이 없습니다.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15384" y="2880360"/>
            <a:ext cx="0" cy="274320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25112" y="2880360"/>
            <a:ext cx="3538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325112" y="3429000"/>
            <a:ext cx="3538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325112" y="3904488"/>
            <a:ext cx="34015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73568" y="2880360"/>
            <a:ext cx="0" cy="274320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83296" y="2880360"/>
            <a:ext cx="3538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083296" y="3429000"/>
            <a:ext cx="3538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83296" y="3904488"/>
            <a:ext cx="34015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앱을 열기 전에 먼저 닿는 구조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차별점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417320"/>
            <a:ext cx="525780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36192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891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66928" y="1874520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2395728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5330952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09360" y="1417320"/>
            <a:ext cx="1097280" cy="0"/>
          </a:xfrm>
          <a:prstGeom prst="line">
            <a:avLst/>
          </a:prstGeom>
          <a:noFill/>
          <a:ln w="25400">
            <a:solidFill>
              <a:srgbClr val="A87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536192"/>
            <a:ext cx="533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309360" y="1874520"/>
            <a:ext cx="5330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09360" y="2395728"/>
            <a:ext cx="5330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생성 → FCM 푸시 · 홈 카드 · 배너로 먼저 말을 겁니다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3794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" y="4480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" y="4846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10128" y="4480560"/>
            <a:ext cx="0" cy="146304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7288" y="4480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47288" y="4846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80760" y="4480560"/>
            <a:ext cx="0" cy="146304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4480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4846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851392" y="4480560"/>
            <a:ext cx="0" cy="146304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88552" y="44805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88552" y="484632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시연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11556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45640" y="1581912"/>
            <a:ext cx="7900416" cy="4459986"/>
          </a:xfrm>
          <a:prstGeom prst="rect">
            <a:avLst/>
          </a:prstGeom>
          <a:solidFill>
            <a:srgbClr val="DBDFE2"/>
          </a:solidFill>
          <a:ln w="12700">
            <a:solidFill>
              <a:srgbClr val="DFE3E6"/>
            </a:solidFill>
            <a:prstDash val="solid"/>
          </a:ln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00200"/>
            <a:ext cx="7863840" cy="442341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32004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42F3B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822960" y="23957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95528" y="27432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설계와 구현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103120" cy="0"/>
          </a:xfrm>
          <a:prstGeom prst="line">
            <a:avLst/>
          </a:prstGeom>
          <a:noFill/>
          <a:ln w="19050">
            <a:solidFill>
              <a:srgbClr val="A87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서버 분리 · 이탈 탐지 · 위기 탐지 2단계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둘로 나눈 서버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600200"/>
            <a:ext cx="2788920" cy="1188720"/>
          </a:xfrm>
          <a:prstGeom prst="rect">
            <a:avLst/>
          </a:prstGeom>
          <a:solidFill>
            <a:srgbClr val="1D2733"/>
          </a:solidFill>
          <a:ln/>
        </p:spPr>
      </p:sp>
      <p:sp>
        <p:nvSpPr>
          <p:cNvPr id="6" name="Text 4"/>
          <p:cNvSpPr/>
          <p:nvPr/>
        </p:nvSpPr>
        <p:spPr>
          <a:xfrm>
            <a:off x="795528" y="187452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95528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사용자 · 관리자 웹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480560" y="1600200"/>
            <a:ext cx="331012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9160" y="1874520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709160" y="2258568"/>
            <a:ext cx="2852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FastAPI · 인증·대화·위기키워드·정책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915400" y="1600200"/>
            <a:ext cx="2715768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0" y="1874520"/>
            <a:ext cx="2258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9144000" y="2258568"/>
            <a:ext cx="225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FastAPI · 개인 기준선 이탈 탐지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55848" y="2194560"/>
            <a:ext cx="1124712" cy="0"/>
          </a:xfrm>
          <a:prstGeom prst="line">
            <a:avLst/>
          </a:prstGeom>
          <a:noFill/>
          <a:ln w="19050">
            <a:solidFill>
              <a:srgbClr val="A876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81528" y="132588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걸음·수면·심박·앱 사용 push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790688" y="2194560"/>
            <a:ext cx="1124712" cy="0"/>
          </a:xfrm>
          <a:prstGeom prst="line">
            <a:avLst/>
          </a:prstGeom>
          <a:noFill/>
          <a:ln w="19050">
            <a:solidFill>
              <a:srgbClr val="A876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16368" y="132588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46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00" dirty="0">
                <a:solidFill>
                  <a:srgbClr val="6B76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38404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" y="4187952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 앱 사용 지표도 같은 경로로 보냅니다 — 패키지명 없이 집계값만 씁니다.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349240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5532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6229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95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NCP + Docker Compose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대신 개인 기준선 이탈 탐지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설계와 구현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344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2344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학습된 집계로 교체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0" y="123444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「상위 3개 평균 ÷ 4.0」이라는 임의 집계식을 로지스틱 회귀로 바꿨습니다. 입력은 하나도 늘리지 않았습니다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1892808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9280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43000" y="189280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참가자 내부 AUC 0.609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0" y="1892808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기존 규칙 0.491 → 학습된 집계 0.609. 이득 +0.115[+0.056,+0.176]. 62명·4086표본, 참가자 분할 + 중첩 교차검증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551176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5117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43000" y="255117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브리프 지정 방법도 비교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551176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Isolation Forest(전역 0.473·개인별 0.494) 등 6종을 같은 조건에서 재보고, 저희 방식이 유의하게 나아 채택했습니다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209544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3438144"/>
            <a:ext cx="54864" cy="1737360"/>
          </a:xfrm>
          <a:prstGeom prst="line">
            <a:avLst/>
          </a:prstGeom>
          <a:noFill/>
          <a:ln w="50800">
            <a:solidFill>
              <a:srgbClr val="A876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34381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감정을 분류하는 게 아닙니다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3822192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바뀐 것은 지표를 합치는 방식뿐입니다. 개인 기준선 대비 이탈 지표 7개를 하나의 점수로 합치는 방법을 데이터로 정한 것이고, 감정 코드는 여전히 이탈 정도를 표시하는 산출값입니다. model_version 이 hybrid- 로 시작하면 이 집계가 관여한 것이고, rule- 이면 기존 규칙 그대로입니다.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2960" y="479145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같은 데이터로 70%를 보고한 선행연구를 재현하니, 그 지표의 기준선이 66.7%였습니다 — ai/train/eval_replicate_paper.py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 2단계 구조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설계와 구현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34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62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554480"/>
            <a:ext cx="5367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2103120"/>
            <a:ext cx="5184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715768"/>
            <a:ext cx="5367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66928" y="2971800"/>
            <a:ext cx="5367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0.081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6099048" y="1234440"/>
            <a:ext cx="0" cy="233172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2344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62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63640" y="1554480"/>
            <a:ext cx="5367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263640" y="2103120"/>
            <a:ext cx="5184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2715768"/>
            <a:ext cx="5367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263640" y="2971800"/>
            <a:ext cx="5367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763A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0.946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566928" y="3794760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97764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66928" y="437083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D2733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486460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D2733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1D2733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-32004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0" b="1" dirty="0">
                <a:solidFill>
                  <a:srgbClr val="242F3B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822960" y="23957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39A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 번째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95528" y="27432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성과와 확장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103120" cy="0"/>
          </a:xfrm>
          <a:prstGeom prst="line">
            <a:avLst/>
          </a:prstGeom>
          <a:noFill/>
          <a:ln w="19050">
            <a:solidFill>
              <a:srgbClr val="A876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950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2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보안 설계 · 다음 단계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증명된 수치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성과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23444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0.946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13232" y="185623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55264" y="1344168"/>
            <a:ext cx="0" cy="114300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23444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0.921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401568" y="185623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0" y="1344168"/>
            <a:ext cx="0" cy="114300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9904" y="123444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0.933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089904" y="185623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631936" y="1344168"/>
            <a:ext cx="0" cy="114300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123444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211건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778240" y="185623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 · 2인 교차 라벨링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13232" y="26517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34개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13232" y="327355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55264" y="2761488"/>
            <a:ext cx="0" cy="114300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01568" y="26517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9개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401568" y="327355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0" y="2761488"/>
            <a:ext cx="0" cy="114300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089904" y="26517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348건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089904" y="327355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 · 백엔드 131 · AI 30 · 앱 173 · 관리자 14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631936" y="2761488"/>
            <a:ext cx="0" cy="114300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78240" y="2651760"/>
            <a:ext cx="239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2052ms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8778240" y="3273552"/>
            <a:ext cx="23957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최댓값(예산 3000ms)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66928" y="4069080"/>
            <a:ext cx="1106424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297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lnSpc>
                <a:spcPct val="13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66928" y="603504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위험한 사람부터 보이는 관제 화면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관제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34440"/>
            <a:ext cx="685800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FE3E6"/>
            </a:solidFill>
            <a:prstDash val="solid"/>
          </a:ln>
        </p:spPr>
      </p:sp>
      <p:pic>
        <p:nvPicPr>
          <p:cNvPr id="6" name="Image 0" descr="C:\Users\smhrd1\Desktop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858000" cy="42862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0" y="12801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0" y="16459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772400" y="2331720"/>
            <a:ext cx="384048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5146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772400" y="2880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772400" y="3566160"/>
            <a:ext cx="384048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749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0" y="41148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772400" y="4800600"/>
            <a:ext cx="384048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0" y="4983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772400" y="5349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 대신 위험도 기반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보안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34440"/>
            <a:ext cx="676656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34440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48840" y="123444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733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HTTPS / TLS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160520" y="123444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1764792"/>
            <a:ext cx="676656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764792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48840" y="1764792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733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DB 볼륨 디스크 암호화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160520" y="176479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295144"/>
            <a:ext cx="676656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295144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48840" y="2295144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733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AES-256-GCM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160520" y="2295144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2825496"/>
            <a:ext cx="676656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825496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48840" y="2825496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733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bcrypt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160520" y="2825496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355848"/>
            <a:ext cx="676656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355848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48840" y="3355848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733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정규식 PII 마스킹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4160520" y="3355848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676656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3886200"/>
            <a:ext cx="1554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148840" y="388620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D2733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UUID v4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160520" y="3886200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4416552"/>
            <a:ext cx="676656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0" y="1234440"/>
            <a:ext cx="0" cy="3182112"/>
          </a:xfrm>
          <a:prstGeom prst="line">
            <a:avLst/>
          </a:prstGeom>
          <a:noFill/>
          <a:ln w="19050">
            <a:solidFill>
              <a:srgbClr val="A876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01000" y="1234440"/>
            <a:ext cx="3639312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05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36592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937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6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6B76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CEE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가능한 부분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52560" y="502920"/>
            <a:ext cx="2587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다음 단계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987552"/>
            <a:ext cx="11064240" cy="0"/>
          </a:xfrm>
          <a:prstGeom prst="line">
            <a:avLst/>
          </a:prstGeom>
          <a:noFill/>
          <a:ln w="12700">
            <a:solidFill>
              <a:srgbClr val="1D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234440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34440"/>
            <a:ext cx="2880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Connect·앱 사용 로그 실기기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11880" y="1234440"/>
            <a:ext cx="1234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예정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4937760" y="1234440"/>
            <a:ext cx="64922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에뮬레이터에서 워커 동작까지 확인했습니다. 실기기만 확보되면 바로 검증합니다.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29968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29968"/>
            <a:ext cx="2880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 확장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029968"/>
            <a:ext cx="1234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반영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937760" y="2029968"/>
            <a:ext cx="64922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패키지가 HealthKit도 감쌉니다. 수집 계층을 그대로 재사용할 수 있게 설계했습니다.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825496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825496"/>
            <a:ext cx="2880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확장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11880" y="2825496"/>
            <a:ext cx="1234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2825496"/>
            <a:ext cx="64922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평가셋 211건 기준입니다. 새 문장을 더해 일반화를 재검증합니다.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621024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21024"/>
            <a:ext cx="2880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모델 표본 확대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11880" y="3621024"/>
            <a:ext cx="1234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76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37760" y="3621024"/>
            <a:ext cx="64922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 분야 표본 중앙값이 60.5명인데 저희는 62명입니다. 표본을 더 늘려 재검증합니다.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416552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416552"/>
            <a:ext cx="28803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7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미탐 6건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11880" y="4416552"/>
            <a:ext cx="12344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2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분석 완료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937760" y="4416552"/>
            <a:ext cx="64922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1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있습니다. 이 패턴군을 다음 개선 대상으로 잡았습니다.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5212080"/>
            <a:ext cx="11064240" cy="0"/>
          </a:xfrm>
          <a:prstGeom prst="line">
            <a:avLst/>
          </a:prstGeom>
          <a:noFill/>
          <a:ln w="12700">
            <a:solidFill>
              <a:srgbClr val="DFE3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277295" y="640080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8A1A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7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NanumMyeongjo" pitchFamily="34" charset="0"/>
                <a:ea typeface="NanumMyeongjo" pitchFamily="34" charset="-122"/>
                <a:cs typeface="NanumMyeongjo" pitchFamily="34" charset="-120"/>
              </a:rPr>
              <a:t>귀기울임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0" y="333756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AEB6C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998568" y="4114800"/>
            <a:ext cx="2194560" cy="0"/>
          </a:xfrm>
          <a:prstGeom prst="line">
            <a:avLst/>
          </a:prstGeom>
          <a:noFill/>
          <a:ln w="19050">
            <a:solidFill>
              <a:srgbClr val="A87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— 먼저 다가가는 정서 케어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09448" y="5257800"/>
            <a:ext cx="10972800" cy="0"/>
          </a:xfrm>
          <a:prstGeom prst="line">
            <a:avLst/>
          </a:prstGeom>
          <a:noFill/>
          <a:ln w="12700">
            <a:solidFill>
              <a:srgbClr val="2E3A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9448" y="5486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9448" y="5833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352648" y="5486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52648" y="5833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95848" y="5486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5833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39048" y="548640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839048" y="583387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0" y="635508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891A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2026-08-25T08:04:35Z</dcterms:created>
  <dcterms:modified xsi:type="dcterms:W3CDTF">2026-08-25T08:04:35Z</dcterms:modified>
</cp:coreProperties>
</file>