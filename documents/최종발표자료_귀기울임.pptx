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</p:sldIdLst>
  <p:notesMasterIdLst>
    <p:notesMasterId r:id="rId18"/>
  </p:notesMasterIdLst>
  <p:sldSz cx="12191695" cy="6858000"/>
  <p:notesSz cx="6858000" cy="12191695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notesMaster" Target="notesMasters/notesMaster1.xml"/><Relationship Id="rId19" Type="http://schemas.openxmlformats.org/officeDocument/2006/relationships/presProps" Target="presProps.xml"/><Relationship Id="rId20" Type="http://schemas.openxmlformats.org/officeDocument/2006/relationships/viewProps" Target="viewProps.xml"/><Relationship Id="rId21" Type="http://schemas.openxmlformats.org/officeDocument/2006/relationships/theme" Target="theme/theme1.xml"/><Relationship Id="rId22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-1.png"/><Relationship Id="rId2" Type="http://schemas.openxmlformats.org/officeDocument/2006/relationships/image" Target="../media/image-4-2.png"/><Relationship Id="rId3" Type="http://schemas.openxmlformats.org/officeDocument/2006/relationships/image" Target="../media/image-4-3.png"/><Relationship Id="rId4" Type="http://schemas.openxmlformats.org/officeDocument/2006/relationships/image" Target="../media/image-4-4.png"/><Relationship Id="rId5" Type="http://schemas.openxmlformats.org/officeDocument/2006/relationships/image" Target="../media/image-4-5.png"/><Relationship Id="rId6" Type="http://schemas.openxmlformats.org/officeDocument/2006/relationships/image" Target="../media/image-4-6.png"/><Relationship Id="rId7" Type="http://schemas.openxmlformats.org/officeDocument/2006/relationships/slideLayout" Target="../slideLayouts/slideLayout1.xml"/><Relationship Id="rId8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-1.png"/><Relationship Id="rId2" Type="http://schemas.openxmlformats.org/officeDocument/2006/relationships/image" Target="../media/image-5-2.png"/><Relationship Id="rId3" Type="http://schemas.openxmlformats.org/officeDocument/2006/relationships/image" Target="../media/image-5-3.png"/><Relationship Id="rId4" Type="http://schemas.openxmlformats.org/officeDocument/2006/relationships/image" Target="../media/image-5-4.png"/><Relationship Id="rId5" Type="http://schemas.openxmlformats.org/officeDocument/2006/relationships/slideLayout" Target="../slideLayouts/slideLayout1.xml"/><Relationship Id="rId6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video" Target="../media/media-6-1.mp4"/><Relationship Id="rId2" Type="http://schemas.microsoft.com/office/2007/relationships/media" Target="../media/media-6-1.mp4"/><Relationship Id="rId3" Type="http://schemas.openxmlformats.org/officeDocument/2006/relationships/image" Target="../media/image-6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8-1.png"/><Relationship Id="rId2" Type="http://schemas.openxmlformats.org/officeDocument/2006/relationships/image" Target="../media/image-8-2.png"/><Relationship Id="rId3" Type="http://schemas.openxmlformats.org/officeDocument/2006/relationships/image" Target="../media/image-8-3.png"/><Relationship Id="rId4" Type="http://schemas.openxmlformats.org/officeDocument/2006/relationships/image" Target="../media/image-8-4.png"/><Relationship Id="rId5" Type="http://schemas.openxmlformats.org/officeDocument/2006/relationships/image" Target="../media/image-8-5.png"/><Relationship Id="rId6" Type="http://schemas.openxmlformats.org/officeDocument/2006/relationships/slideLayout" Target="../slideLayouts/slideLayout1.xml"/><Relationship Id="rId7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9-1.png"/><Relationship Id="rId2" Type="http://schemas.openxmlformats.org/officeDocument/2006/relationships/image" Target="../media/image-9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-1.png"/><Relationship Id="rId2" Type="http://schemas.openxmlformats.org/officeDocument/2006/relationships/image" Target="../media/image-10-2.png"/><Relationship Id="rId3" Type="http://schemas.openxmlformats.org/officeDocument/2006/relationships/image" Target="../media/image-10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3-1.png"/><Relationship Id="rId2" Type="http://schemas.openxmlformats.org/officeDocument/2006/relationships/image" Target="../media/image-13-2.png"/><Relationship Id="rId3" Type="http://schemas.openxmlformats.org/officeDocument/2006/relationships/image" Target="../media/image-13-3.png"/><Relationship Id="rId4" Type="http://schemas.openxmlformats.org/officeDocument/2006/relationships/image" Target="../media/image-13-4.png"/><Relationship Id="rId5" Type="http://schemas.openxmlformats.org/officeDocument/2006/relationships/image" Target="../media/image-13-5.png"/><Relationship Id="rId6" Type="http://schemas.openxmlformats.org/officeDocument/2006/relationships/slideLayout" Target="../slideLayouts/slideLayout1.xml"/><Relationship Id="rId7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6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6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B254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248095" y="0"/>
            <a:ext cx="5943600" cy="5943600"/>
          </a:xfrm>
          <a:prstGeom prst="ellipse">
            <a:avLst/>
          </a:prstGeom>
          <a:solidFill>
            <a:srgbClr val="24325F"/>
          </a:solidFill>
          <a:ln/>
        </p:spPr>
      </p:sp>
      <p:sp>
        <p:nvSpPr>
          <p:cNvPr id="3" name="Shape 1"/>
          <p:cNvSpPr/>
          <p:nvPr/>
        </p:nvSpPr>
        <p:spPr>
          <a:xfrm>
            <a:off x="7528255" y="457200"/>
            <a:ext cx="4206240" cy="4206240"/>
          </a:xfrm>
          <a:prstGeom prst="ellipse">
            <a:avLst/>
          </a:prstGeom>
          <a:solidFill>
            <a:srgbClr val="2C3A6B"/>
          </a:solidFill>
          <a:ln/>
        </p:spPr>
      </p:sp>
      <p:sp>
        <p:nvSpPr>
          <p:cNvPr id="4" name="Text 2"/>
          <p:cNvSpPr/>
          <p:nvPr/>
        </p:nvSpPr>
        <p:spPr>
          <a:xfrm>
            <a:off x="822960" y="1508760"/>
            <a:ext cx="8229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spc="100" kern="0" dirty="0">
                <a:solidFill>
                  <a:srgbClr val="8A9CF0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스마트인재개발원 KDT 헬스케어 5팀 · 기업주제(라라랩스)</a:t>
            </a:r>
            <a:endParaRPr lang="en-US" sz="1300" dirty="0"/>
          </a:p>
        </p:txBody>
      </p:sp>
      <p:sp>
        <p:nvSpPr>
          <p:cNvPr id="5" name="Text 3"/>
          <p:cNvSpPr/>
          <p:nvPr/>
        </p:nvSpPr>
        <p:spPr>
          <a:xfrm>
            <a:off x="777240" y="1965960"/>
            <a:ext cx="914400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6000" b="1" dirty="0">
                <a:solidFill>
                  <a:srgbClr val="FFFFFF"/>
                </a:solidFill>
                <a:latin typeface="Noto Sans KR Black" pitchFamily="34" charset="0"/>
                <a:ea typeface="Noto Sans KR Black" pitchFamily="34" charset="-122"/>
                <a:cs typeface="Noto Sans KR Black" pitchFamily="34" charset="-120"/>
              </a:rPr>
              <a:t>귀기울임</a:t>
            </a:r>
            <a:endParaRPr lang="en-US" sz="6000" dirty="0"/>
          </a:p>
        </p:txBody>
      </p:sp>
      <p:sp>
        <p:nvSpPr>
          <p:cNvPr id="6" name="Text 4"/>
          <p:cNvSpPr/>
          <p:nvPr/>
        </p:nvSpPr>
        <p:spPr>
          <a:xfrm>
            <a:off x="841248" y="3063240"/>
            <a:ext cx="54864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b="1" spc="400" kern="0" dirty="0">
                <a:solidFill>
                  <a:srgbClr val="8A9CF0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LISN</a:t>
            </a:r>
            <a:endParaRPr lang="en-US" sz="1800" dirty="0"/>
          </a:p>
        </p:txBody>
      </p:sp>
      <p:sp>
        <p:nvSpPr>
          <p:cNvPr id="7" name="Text 5"/>
          <p:cNvSpPr/>
          <p:nvPr/>
        </p:nvSpPr>
        <p:spPr>
          <a:xfrm>
            <a:off x="841248" y="3657600"/>
            <a:ext cx="786384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D7DCF5"/>
                </a:solidFill>
                <a:latin typeface="Noto Sans KR DemiLight" pitchFamily="34" charset="0"/>
                <a:ea typeface="Noto Sans KR DemiLight" pitchFamily="34" charset="-122"/>
                <a:cs typeface="Noto Sans KR DemiLight" pitchFamily="34" charset="-120"/>
              </a:rPr>
              <a:t>멀티모달 라이프로그 감정 분석 기반 맞춤형 LLM 케어 및 모니터링 시스템</a:t>
            </a:r>
            <a:endParaRPr lang="en-US" sz="1600" dirty="0"/>
          </a:p>
        </p:txBody>
      </p:sp>
      <p:sp>
        <p:nvSpPr>
          <p:cNvPr id="8" name="Shape 6"/>
          <p:cNvSpPr/>
          <p:nvPr/>
        </p:nvSpPr>
        <p:spPr>
          <a:xfrm>
            <a:off x="841248" y="4434840"/>
            <a:ext cx="2926080" cy="0"/>
          </a:xfrm>
          <a:prstGeom prst="line">
            <a:avLst/>
          </a:prstGeom>
          <a:noFill/>
          <a:ln w="12700">
            <a:solidFill>
              <a:srgbClr val="3E4A7A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841248" y="4617720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A9B3D6"/>
                </a:solidFill>
                <a:latin typeface="Noto Sans KR DemiLight" pitchFamily="34" charset="0"/>
                <a:ea typeface="Noto Sans KR DemiLight" pitchFamily="34" charset="-122"/>
                <a:cs typeface="Noto Sans KR DemiLight" pitchFamily="34" charset="-120"/>
              </a:rPr>
              <a:t>최종 발표</a:t>
            </a:r>
            <a:endParaRPr lang="en-US" sz="1200" dirty="0"/>
          </a:p>
        </p:txBody>
      </p:sp>
      <p:sp>
        <p:nvSpPr>
          <p:cNvPr id="10" name="Text 8"/>
          <p:cNvSpPr/>
          <p:nvPr/>
        </p:nvSpPr>
        <p:spPr>
          <a:xfrm>
            <a:off x="841248" y="4937760"/>
            <a:ext cx="36576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2026. 08. 28</a:t>
            </a:r>
            <a:endParaRPr lang="en-US" sz="2200" dirty="0"/>
          </a:p>
        </p:txBody>
      </p:sp>
      <p:sp>
        <p:nvSpPr>
          <p:cNvPr id="11" name="Text 9"/>
          <p:cNvSpPr/>
          <p:nvPr/>
        </p:nvSpPr>
        <p:spPr>
          <a:xfrm>
            <a:off x="841248" y="5989320"/>
            <a:ext cx="260604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C7CDEA"/>
                </a:solidFill>
                <a:latin typeface="Noto Sans KR DemiLight" pitchFamily="34" charset="0"/>
                <a:ea typeface="Noto Sans KR DemiLight" pitchFamily="34" charset="-122"/>
                <a:cs typeface="Noto Sans KR DemiLight" pitchFamily="34" charset="-120"/>
              </a:rPr>
              <a:t>이응균 · PM</a:t>
            </a:r>
            <a:endParaRPr lang="en-US" sz="1150" dirty="0"/>
          </a:p>
        </p:txBody>
      </p:sp>
      <p:sp>
        <p:nvSpPr>
          <p:cNvPr id="12" name="Text 10"/>
          <p:cNvSpPr/>
          <p:nvPr/>
        </p:nvSpPr>
        <p:spPr>
          <a:xfrm>
            <a:off x="3493008" y="5989320"/>
            <a:ext cx="260604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C7CDEA"/>
                </a:solidFill>
                <a:latin typeface="Noto Sans KR DemiLight" pitchFamily="34" charset="0"/>
                <a:ea typeface="Noto Sans KR DemiLight" pitchFamily="34" charset="-122"/>
                <a:cs typeface="Noto Sans KR DemiLight" pitchFamily="34" charset="-120"/>
              </a:rPr>
              <a:t>김건영 · AI/DATA</a:t>
            </a:r>
            <a:endParaRPr lang="en-US" sz="1150" dirty="0"/>
          </a:p>
        </p:txBody>
      </p:sp>
      <p:sp>
        <p:nvSpPr>
          <p:cNvPr id="13" name="Text 11"/>
          <p:cNvSpPr/>
          <p:nvPr/>
        </p:nvSpPr>
        <p:spPr>
          <a:xfrm>
            <a:off x="6144768" y="5989320"/>
            <a:ext cx="260604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C7CDEA"/>
                </a:solidFill>
                <a:latin typeface="Noto Sans KR DemiLight" pitchFamily="34" charset="0"/>
                <a:ea typeface="Noto Sans KR DemiLight" pitchFamily="34" charset="-122"/>
                <a:cs typeface="Noto Sans KR DemiLight" pitchFamily="34" charset="-120"/>
              </a:rPr>
              <a:t>윤일준 · 백엔드/DB</a:t>
            </a:r>
            <a:endParaRPr lang="en-US" sz="1150" dirty="0"/>
          </a:p>
        </p:txBody>
      </p:sp>
      <p:sp>
        <p:nvSpPr>
          <p:cNvPr id="14" name="Text 12"/>
          <p:cNvSpPr/>
          <p:nvPr/>
        </p:nvSpPr>
        <p:spPr>
          <a:xfrm>
            <a:off x="8796528" y="5989320"/>
            <a:ext cx="260604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C7CDEA"/>
                </a:solidFill>
                <a:latin typeface="Noto Sans KR DemiLight" pitchFamily="34" charset="0"/>
                <a:ea typeface="Noto Sans KR DemiLight" pitchFamily="34" charset="-122"/>
                <a:cs typeface="Noto Sans KR DemiLight" pitchFamily="34" charset="-120"/>
              </a:rPr>
              <a:t>함은선 · 프론트엔드</a:t>
            </a:r>
            <a:endParaRPr lang="en-US" sz="115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1B254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84048"/>
            <a:ext cx="73152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8A9CF0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CONTENTS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548640" y="777240"/>
            <a:ext cx="1115568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목차</a:t>
            </a:r>
            <a:endParaRPr lang="en-US" sz="3400" dirty="0"/>
          </a:p>
        </p:txBody>
      </p:sp>
      <p:sp>
        <p:nvSpPr>
          <p:cNvPr id="4" name="Text 2"/>
          <p:cNvSpPr/>
          <p:nvPr/>
        </p:nvSpPr>
        <p:spPr>
          <a:xfrm>
            <a:off x="822960" y="2057400"/>
            <a:ext cx="109728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8A9CF0"/>
                </a:solidFill>
                <a:latin typeface="Noto Sans KR Black" pitchFamily="34" charset="0"/>
                <a:ea typeface="Noto Sans KR Black" pitchFamily="34" charset="-122"/>
                <a:cs typeface="Noto Sans KR Black" pitchFamily="34" charset="-120"/>
              </a:rPr>
              <a:t>01</a:t>
            </a:r>
            <a:endParaRPr lang="en-US" sz="3000" dirty="0"/>
          </a:p>
        </p:txBody>
      </p:sp>
      <p:sp>
        <p:nvSpPr>
          <p:cNvPr id="5" name="Text 3"/>
          <p:cNvSpPr/>
          <p:nvPr/>
        </p:nvSpPr>
        <p:spPr>
          <a:xfrm>
            <a:off x="2148840" y="2084832"/>
            <a:ext cx="54864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300" b="1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문제와 해결</a:t>
            </a:r>
            <a:endParaRPr lang="en-US" sz="2300" dirty="0"/>
          </a:p>
        </p:txBody>
      </p:sp>
      <p:sp>
        <p:nvSpPr>
          <p:cNvPr id="6" name="Text 4"/>
          <p:cNvSpPr/>
          <p:nvPr/>
        </p:nvSpPr>
        <p:spPr>
          <a:xfrm>
            <a:off x="2148840" y="2587752"/>
            <a:ext cx="7772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A9B3D6"/>
                </a:solidFill>
                <a:latin typeface="Noto Sans KR DemiLight" pitchFamily="34" charset="0"/>
                <a:ea typeface="Noto Sans KR DemiLight" pitchFamily="34" charset="-122"/>
                <a:cs typeface="Noto Sans KR DemiLight" pitchFamily="34" charset="-120"/>
              </a:rPr>
              <a:t>감지하고도 놓치는 구조 · 먼저 다가가는 설계 · 3분 시연</a:t>
            </a:r>
            <a:endParaRPr lang="en-US" sz="1250" dirty="0"/>
          </a:p>
        </p:txBody>
      </p:sp>
      <p:sp>
        <p:nvSpPr>
          <p:cNvPr id="7" name="Shape 5"/>
          <p:cNvSpPr/>
          <p:nvPr/>
        </p:nvSpPr>
        <p:spPr>
          <a:xfrm>
            <a:off x="822960" y="3081528"/>
            <a:ext cx="8778240" cy="0"/>
          </a:xfrm>
          <a:prstGeom prst="line">
            <a:avLst/>
          </a:prstGeom>
          <a:noFill/>
          <a:ln w="9525">
            <a:solidFill>
              <a:srgbClr val="333F6E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822960" y="3227832"/>
            <a:ext cx="109728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8A9CF0"/>
                </a:solidFill>
                <a:latin typeface="Noto Sans KR Black" pitchFamily="34" charset="0"/>
                <a:ea typeface="Noto Sans KR Black" pitchFamily="34" charset="-122"/>
                <a:cs typeface="Noto Sans KR Black" pitchFamily="34" charset="-120"/>
              </a:rPr>
              <a:t>02</a:t>
            </a:r>
            <a:endParaRPr lang="en-US" sz="3000" dirty="0"/>
          </a:p>
        </p:txBody>
      </p:sp>
      <p:sp>
        <p:nvSpPr>
          <p:cNvPr id="9" name="Text 7"/>
          <p:cNvSpPr/>
          <p:nvPr/>
        </p:nvSpPr>
        <p:spPr>
          <a:xfrm>
            <a:off x="2148840" y="3255264"/>
            <a:ext cx="54864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300" b="1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설계와 구현</a:t>
            </a:r>
            <a:endParaRPr lang="en-US" sz="2300" dirty="0"/>
          </a:p>
        </p:txBody>
      </p:sp>
      <p:sp>
        <p:nvSpPr>
          <p:cNvPr id="10" name="Text 8"/>
          <p:cNvSpPr/>
          <p:nvPr/>
        </p:nvSpPr>
        <p:spPr>
          <a:xfrm>
            <a:off x="2148840" y="3758184"/>
            <a:ext cx="7772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A9B3D6"/>
                </a:solidFill>
                <a:latin typeface="Noto Sans KR DemiLight" pitchFamily="34" charset="0"/>
                <a:ea typeface="Noto Sans KR DemiLight" pitchFamily="34" charset="-122"/>
                <a:cs typeface="Noto Sans KR DemiLight" pitchFamily="34" charset="-120"/>
              </a:rPr>
              <a:t>서버 분리 · 이탈 탐지 · 위기 탐지 2단계</a:t>
            </a:r>
            <a:endParaRPr lang="en-US" sz="1250" dirty="0"/>
          </a:p>
        </p:txBody>
      </p:sp>
      <p:sp>
        <p:nvSpPr>
          <p:cNvPr id="11" name="Shape 9"/>
          <p:cNvSpPr/>
          <p:nvPr/>
        </p:nvSpPr>
        <p:spPr>
          <a:xfrm>
            <a:off x="822960" y="4251960"/>
            <a:ext cx="8778240" cy="0"/>
          </a:xfrm>
          <a:prstGeom prst="line">
            <a:avLst/>
          </a:prstGeom>
          <a:noFill/>
          <a:ln w="9525">
            <a:solidFill>
              <a:srgbClr val="333F6E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822960" y="4398264"/>
            <a:ext cx="109728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8A9CF0"/>
                </a:solidFill>
                <a:latin typeface="Noto Sans KR Black" pitchFamily="34" charset="0"/>
                <a:ea typeface="Noto Sans KR Black" pitchFamily="34" charset="-122"/>
                <a:cs typeface="Noto Sans KR Black" pitchFamily="34" charset="-120"/>
              </a:rPr>
              <a:t>03</a:t>
            </a:r>
            <a:endParaRPr lang="en-US" sz="3000" dirty="0"/>
          </a:p>
        </p:txBody>
      </p:sp>
      <p:sp>
        <p:nvSpPr>
          <p:cNvPr id="13" name="Text 11"/>
          <p:cNvSpPr/>
          <p:nvPr/>
        </p:nvSpPr>
        <p:spPr>
          <a:xfrm>
            <a:off x="2148840" y="4425696"/>
            <a:ext cx="54864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300" b="1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성과와 확장</a:t>
            </a:r>
            <a:endParaRPr lang="en-US" sz="2300" dirty="0"/>
          </a:p>
        </p:txBody>
      </p:sp>
      <p:sp>
        <p:nvSpPr>
          <p:cNvPr id="14" name="Text 12"/>
          <p:cNvSpPr/>
          <p:nvPr/>
        </p:nvSpPr>
        <p:spPr>
          <a:xfrm>
            <a:off x="2148840" y="4928616"/>
            <a:ext cx="7772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A9B3D6"/>
                </a:solidFill>
                <a:latin typeface="Noto Sans KR DemiLight" pitchFamily="34" charset="0"/>
                <a:ea typeface="Noto Sans KR DemiLight" pitchFamily="34" charset="-122"/>
                <a:cs typeface="Noto Sans KR DemiLight" pitchFamily="34" charset="-120"/>
              </a:rPr>
              <a:t>실측 지표 · 관제 화면 · 보안 설계 · 다음 단계</a:t>
            </a:r>
            <a:endParaRPr lang="en-US" sz="1250" dirty="0"/>
          </a:p>
        </p:txBody>
      </p:sp>
      <p:sp>
        <p:nvSpPr>
          <p:cNvPr id="15" name="Text 13"/>
          <p:cNvSpPr/>
          <p:nvPr/>
        </p:nvSpPr>
        <p:spPr>
          <a:xfrm>
            <a:off x="11277295" y="6355080"/>
            <a:ext cx="54864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A9B3D6"/>
                </a:solidFill>
                <a:latin typeface="Noto Sans KR DemiLight" pitchFamily="34" charset="0"/>
                <a:ea typeface="Noto Sans KR DemiLight" pitchFamily="34" charset="-122"/>
                <a:cs typeface="Noto Sans KR DemiLight" pitchFamily="34" charset="-120"/>
              </a:rPr>
              <a:t>01</a:t>
            </a:r>
            <a:endParaRPr lang="en-US" sz="1000" dirty="0"/>
          </a:p>
        </p:txBody>
      </p:sp>
      <p:sp>
        <p:nvSpPr>
          <p:cNvPr id="16" name="Text 14"/>
          <p:cNvSpPr/>
          <p:nvPr/>
        </p:nvSpPr>
        <p:spPr>
          <a:xfrm>
            <a:off x="548640" y="6355080"/>
            <a:ext cx="36576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A9B3D6"/>
                </a:solidFill>
                <a:latin typeface="Noto Sans KR DemiLight" pitchFamily="34" charset="0"/>
                <a:ea typeface="Noto Sans KR DemiLight" pitchFamily="34" charset="-122"/>
                <a:cs typeface="Noto Sans KR DemiLight" pitchFamily="34" charset="-120"/>
              </a:rPr>
              <a:t>귀기울임 LISN</a:t>
            </a:r>
            <a:endParaRPr lang="en-US" sz="10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1B254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10088575" y="5120640"/>
            <a:ext cx="1280160" cy="1280160"/>
          </a:xfrm>
          <a:prstGeom prst="ellipse">
            <a:avLst/>
          </a:prstGeom>
          <a:ln w="15240">
            <a:solidFill>
              <a:srgbClr val="8A9CF0">
                <a:alpha val="45000"/>
              </a:srgbClr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9402775" y="4434840"/>
            <a:ext cx="2651760" cy="2651760"/>
          </a:xfrm>
          <a:prstGeom prst="ellipse">
            <a:avLst/>
          </a:prstGeom>
          <a:ln w="15240">
            <a:solidFill>
              <a:srgbClr val="8A9CF0">
                <a:alpha val="33000"/>
              </a:srgbClr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8716975" y="3749040"/>
            <a:ext cx="4023360" cy="4023360"/>
          </a:xfrm>
          <a:prstGeom prst="ellipse">
            <a:avLst/>
          </a:prstGeom>
          <a:ln w="15240">
            <a:solidFill>
              <a:srgbClr val="8A9CF0">
                <a:alpha val="21000"/>
              </a:srgbClr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8031175" y="3063240"/>
            <a:ext cx="5394960" cy="5394960"/>
          </a:xfrm>
          <a:prstGeom prst="ellipse">
            <a:avLst/>
          </a:prstGeom>
          <a:ln w="15240">
            <a:solidFill>
              <a:srgbClr val="8A9CF0">
                <a:alpha val="10000"/>
              </a:srgbClr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10646359" y="5678424"/>
            <a:ext cx="164592" cy="164592"/>
          </a:xfrm>
          <a:prstGeom prst="ellipse">
            <a:avLst/>
          </a:prstGeom>
          <a:solidFill>
            <a:srgbClr val="8A9CF0"/>
          </a:solidFill>
          <a:ln/>
        </p:spPr>
      </p:sp>
      <p:sp>
        <p:nvSpPr>
          <p:cNvPr id="7" name="Shape 5"/>
          <p:cNvSpPr/>
          <p:nvPr/>
        </p:nvSpPr>
        <p:spPr>
          <a:xfrm>
            <a:off x="822960" y="2514600"/>
            <a:ext cx="1371600" cy="1371600"/>
          </a:xfrm>
          <a:prstGeom prst="ellipse">
            <a:avLst/>
          </a:prstGeom>
          <a:solidFill>
            <a:srgbClr val="5A6BE0"/>
          </a:solidFill>
          <a:ln/>
        </p:spPr>
      </p:sp>
      <p:sp>
        <p:nvSpPr>
          <p:cNvPr id="8" name="Text 6"/>
          <p:cNvSpPr/>
          <p:nvPr/>
        </p:nvSpPr>
        <p:spPr>
          <a:xfrm>
            <a:off x="822960" y="2514600"/>
            <a:ext cx="137160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000" b="1" dirty="0">
                <a:solidFill>
                  <a:srgbClr val="FFFFFF"/>
                </a:solidFill>
                <a:latin typeface="Noto Sans KR Black" pitchFamily="34" charset="0"/>
                <a:ea typeface="Noto Sans KR Black" pitchFamily="34" charset="-122"/>
                <a:cs typeface="Noto Sans KR Black" pitchFamily="34" charset="-120"/>
              </a:rPr>
              <a:t>01</a:t>
            </a:r>
            <a:endParaRPr lang="en-US" sz="3000" dirty="0"/>
          </a:p>
        </p:txBody>
      </p:sp>
      <p:sp>
        <p:nvSpPr>
          <p:cNvPr id="9" name="Text 7"/>
          <p:cNvSpPr/>
          <p:nvPr/>
        </p:nvSpPr>
        <p:spPr>
          <a:xfrm>
            <a:off x="2514600" y="2651760"/>
            <a:ext cx="7315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8A9CF0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PROBLEM &amp; ANSWER</a:t>
            </a:r>
            <a:endParaRPr lang="en-US" sz="1200" dirty="0"/>
          </a:p>
        </p:txBody>
      </p:sp>
      <p:sp>
        <p:nvSpPr>
          <p:cNvPr id="10" name="Text 8"/>
          <p:cNvSpPr/>
          <p:nvPr/>
        </p:nvSpPr>
        <p:spPr>
          <a:xfrm>
            <a:off x="2514600" y="3017520"/>
            <a:ext cx="86868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FFFFFF"/>
                </a:solidFill>
                <a:latin typeface="Noto Sans KR Black" pitchFamily="34" charset="0"/>
                <a:ea typeface="Noto Sans KR Black" pitchFamily="34" charset="-122"/>
                <a:cs typeface="Noto Sans KR Black" pitchFamily="34" charset="-120"/>
              </a:rPr>
              <a:t>문제와 해결</a:t>
            </a:r>
            <a:endParaRPr lang="en-US" sz="3400" dirty="0"/>
          </a:p>
        </p:txBody>
      </p:sp>
      <p:sp>
        <p:nvSpPr>
          <p:cNvPr id="11" name="Text 9"/>
          <p:cNvSpPr/>
          <p:nvPr/>
        </p:nvSpPr>
        <p:spPr>
          <a:xfrm>
            <a:off x="11277295" y="6355080"/>
            <a:ext cx="54864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A9B3D6"/>
                </a:solidFill>
                <a:latin typeface="Noto Sans KR DemiLight" pitchFamily="34" charset="0"/>
                <a:ea typeface="Noto Sans KR DemiLight" pitchFamily="34" charset="-122"/>
                <a:cs typeface="Noto Sans KR DemiLight" pitchFamily="34" charset="-120"/>
              </a:rPr>
              <a:t>02</a:t>
            </a:r>
            <a:endParaRPr lang="en-US" sz="1000" dirty="0"/>
          </a:p>
        </p:txBody>
      </p:sp>
      <p:sp>
        <p:nvSpPr>
          <p:cNvPr id="12" name="Text 10"/>
          <p:cNvSpPr/>
          <p:nvPr/>
        </p:nvSpPr>
        <p:spPr>
          <a:xfrm>
            <a:off x="548640" y="6355080"/>
            <a:ext cx="36576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A9B3D6"/>
                </a:solidFill>
                <a:latin typeface="Noto Sans KR DemiLight" pitchFamily="34" charset="0"/>
                <a:ea typeface="Noto Sans KR DemiLight" pitchFamily="34" charset="-122"/>
                <a:cs typeface="Noto Sans KR DemiLight" pitchFamily="34" charset="-120"/>
              </a:rPr>
              <a:t>귀기울임 LISN</a:t>
            </a:r>
            <a:endParaRPr lang="en-US" sz="10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84048"/>
            <a:ext cx="73152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5A6BE0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PROBLEM &amp; ANSWER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548640" y="658368"/>
            <a:ext cx="1115568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24325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쌓이는 데이터, 열리지 않는 앱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548640" y="1691640"/>
            <a:ext cx="11064240" cy="1143000"/>
          </a:xfrm>
          <a:prstGeom prst="roundRect">
            <a:avLst>
              <a:gd name="adj" fmla="val 7200"/>
            </a:avLst>
          </a:prstGeom>
          <a:solidFill>
            <a:srgbClr val="F4F6FD"/>
          </a:solidFill>
          <a:ln/>
        </p:spPr>
      </p:sp>
      <p:sp>
        <p:nvSpPr>
          <p:cNvPr id="5" name="Shape 3"/>
          <p:cNvSpPr/>
          <p:nvPr/>
        </p:nvSpPr>
        <p:spPr>
          <a:xfrm>
            <a:off x="914400" y="1965960"/>
            <a:ext cx="594360" cy="594360"/>
          </a:xfrm>
          <a:prstGeom prst="ellipse">
            <a:avLst/>
          </a:prstGeom>
          <a:solidFill>
            <a:srgbClr val="FFFFFF"/>
          </a:solidFill>
          <a:ln/>
        </p:spPr>
      </p:sp>
      <p:pic>
        <p:nvPicPr>
          <p:cNvPr id="6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48131" y="2099691"/>
            <a:ext cx="326898" cy="326898"/>
          </a:xfrm>
          <a:prstGeom prst="rect">
            <a:avLst/>
          </a:prstGeom>
        </p:spPr>
      </p:pic>
      <p:sp>
        <p:nvSpPr>
          <p:cNvPr id="7" name="Text 4"/>
          <p:cNvSpPr/>
          <p:nvPr/>
        </p:nvSpPr>
        <p:spPr>
          <a:xfrm>
            <a:off x="1783080" y="1828800"/>
            <a:ext cx="95097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50" b="1" dirty="0">
                <a:solidFill>
                  <a:srgbClr val="24325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걸음·수면·심박은 매일 기록되지만, 케어로 이어지려면 사용자가 앱을 열어야 합니다.</a:t>
            </a:r>
            <a:endParaRPr lang="en-US" sz="1550" dirty="0"/>
          </a:p>
        </p:txBody>
      </p:sp>
      <p:sp>
        <p:nvSpPr>
          <p:cNvPr id="8" name="Text 5"/>
          <p:cNvSpPr/>
          <p:nvPr/>
        </p:nvSpPr>
        <p:spPr>
          <a:xfrm>
            <a:off x="1783080" y="2267712"/>
            <a:ext cx="95097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6E7488"/>
                </a:solidFill>
                <a:latin typeface="Noto Sans KR DemiLight" pitchFamily="34" charset="0"/>
                <a:ea typeface="Noto Sans KR DemiLight" pitchFamily="34" charset="-122"/>
                <a:cs typeface="Noto Sans KR DemiLight" pitchFamily="34" charset="-120"/>
              </a:rPr>
              <a:t>그런데 정작 힘든 순간에는 사용자가 앱을 열 힘조차 없습니다. 감지해 놓고도 사용자를 기다리는 구조가 문제입니다.</a:t>
            </a:r>
            <a:endParaRPr lang="en-US" sz="1250" dirty="0"/>
          </a:p>
        </p:txBody>
      </p:sp>
      <p:sp>
        <p:nvSpPr>
          <p:cNvPr id="9" name="Text 6"/>
          <p:cNvSpPr/>
          <p:nvPr/>
        </p:nvSpPr>
        <p:spPr>
          <a:xfrm>
            <a:off x="548640" y="3063240"/>
            <a:ext cx="110642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24325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그래서 «관찰 → 판단 → 선제 접촉»으로 설계했습니다</a:t>
            </a:r>
            <a:endParaRPr lang="en-US" sz="1500" dirty="0"/>
          </a:p>
        </p:txBody>
      </p:sp>
      <p:sp>
        <p:nvSpPr>
          <p:cNvPr id="10" name="Shape 7"/>
          <p:cNvSpPr/>
          <p:nvPr/>
        </p:nvSpPr>
        <p:spPr>
          <a:xfrm>
            <a:off x="548640" y="3611880"/>
            <a:ext cx="3520440" cy="2240280"/>
          </a:xfrm>
          <a:prstGeom prst="roundRect">
            <a:avLst>
              <a:gd name="adj" fmla="val 3673"/>
            </a:avLst>
          </a:prstGeom>
          <a:solidFill>
            <a:srgbClr val="FFFFFF"/>
          </a:solidFill>
          <a:ln w="12700">
            <a:solidFill>
              <a:srgbClr val="E3E7F3"/>
            </a:solidFill>
            <a:prstDash val="solid"/>
          </a:ln>
          <a:effectLst>
            <a:outerShdw sx="100000" sy="100000" kx="0" ky="0" algn="bl" rotWithShape="0" blurRad="127000" dist="38100" dir="5400000">
              <a:srgbClr val="1B2547">
                <a:alpha val="10000"/>
              </a:srgbClr>
            </a:outerShdw>
          </a:effectLst>
        </p:spPr>
      </p:sp>
      <p:sp>
        <p:nvSpPr>
          <p:cNvPr id="11" name="Shape 8"/>
          <p:cNvSpPr/>
          <p:nvPr/>
        </p:nvSpPr>
        <p:spPr>
          <a:xfrm>
            <a:off x="841248" y="3886200"/>
            <a:ext cx="566928" cy="566928"/>
          </a:xfrm>
          <a:prstGeom prst="ellipse">
            <a:avLst/>
          </a:prstGeom>
          <a:solidFill>
            <a:srgbClr val="EAF8F4"/>
          </a:solidFill>
          <a:ln/>
        </p:spPr>
      </p:sp>
      <p:pic>
        <p:nvPicPr>
          <p:cNvPr id="12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68807" y="4013759"/>
            <a:ext cx="311810" cy="311810"/>
          </a:xfrm>
          <a:prstGeom prst="rect">
            <a:avLst/>
          </a:prstGeom>
        </p:spPr>
      </p:pic>
      <p:sp>
        <p:nvSpPr>
          <p:cNvPr id="13" name="Text 9"/>
          <p:cNvSpPr/>
          <p:nvPr/>
        </p:nvSpPr>
        <p:spPr>
          <a:xfrm>
            <a:off x="1554480" y="3886200"/>
            <a:ext cx="8229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8A9CF0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01</a:t>
            </a:r>
            <a:endParaRPr lang="en-US" sz="1300" dirty="0"/>
          </a:p>
        </p:txBody>
      </p:sp>
      <p:sp>
        <p:nvSpPr>
          <p:cNvPr id="14" name="Text 10"/>
          <p:cNvSpPr/>
          <p:nvPr/>
        </p:nvSpPr>
        <p:spPr>
          <a:xfrm>
            <a:off x="841248" y="4572000"/>
            <a:ext cx="2935224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50" b="1" dirty="0">
                <a:solidFill>
                  <a:srgbClr val="24325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자동 수집</a:t>
            </a:r>
            <a:endParaRPr lang="en-US" sz="1550" dirty="0"/>
          </a:p>
        </p:txBody>
      </p:sp>
      <p:sp>
        <p:nvSpPr>
          <p:cNvPr id="15" name="Text 11"/>
          <p:cNvSpPr/>
          <p:nvPr/>
        </p:nvSpPr>
        <p:spPr>
          <a:xfrm>
            <a:off x="841248" y="4983480"/>
            <a:ext cx="2935224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30000"/>
              </a:lnSpc>
              <a:buNone/>
            </a:pPr>
            <a:r>
              <a:rPr lang="en-US" sz="1100" dirty="0">
                <a:solidFill>
                  <a:srgbClr val="6E7488"/>
                </a:solidFill>
                <a:latin typeface="Noto Sans KR DemiLight" pitchFamily="34" charset="0"/>
                <a:ea typeface="Noto Sans KR DemiLight" pitchFamily="34" charset="-122"/>
                <a:cs typeface="Noto Sans KR DemiLight" pitchFamily="34" charset="-120"/>
              </a:rPr>
              <a:t>Health Connect로 걸음·수면·심박·HRV를 앱이 읽어 서버로 보냅니다. 사용자가 입력할 것이 없습니다.</a:t>
            </a:r>
            <a:endParaRPr lang="en-US" sz="1100" dirty="0"/>
          </a:p>
        </p:txBody>
      </p:sp>
      <p:pic>
        <p:nvPicPr>
          <p:cNvPr id="16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087368" y="4023360"/>
            <a:ext cx="237744" cy="237744"/>
          </a:xfrm>
          <a:prstGeom prst="rect">
            <a:avLst/>
          </a:prstGeom>
        </p:spPr>
      </p:pic>
      <p:sp>
        <p:nvSpPr>
          <p:cNvPr id="17" name="Shape 12"/>
          <p:cNvSpPr/>
          <p:nvPr/>
        </p:nvSpPr>
        <p:spPr>
          <a:xfrm>
            <a:off x="4343400" y="3611880"/>
            <a:ext cx="3520440" cy="2240280"/>
          </a:xfrm>
          <a:prstGeom prst="roundRect">
            <a:avLst>
              <a:gd name="adj" fmla="val 3673"/>
            </a:avLst>
          </a:prstGeom>
          <a:solidFill>
            <a:srgbClr val="FFFFFF"/>
          </a:solidFill>
          <a:ln w="12700">
            <a:solidFill>
              <a:srgbClr val="E3E7F3"/>
            </a:solidFill>
            <a:prstDash val="solid"/>
          </a:ln>
          <a:effectLst>
            <a:outerShdw sx="100000" sy="100000" kx="0" ky="0" algn="bl" rotWithShape="0" blurRad="127000" dist="38100" dir="5400000">
              <a:srgbClr val="1B2547">
                <a:alpha val="10000"/>
              </a:srgbClr>
            </a:outerShdw>
          </a:effectLst>
        </p:spPr>
      </p:sp>
      <p:sp>
        <p:nvSpPr>
          <p:cNvPr id="18" name="Shape 13"/>
          <p:cNvSpPr/>
          <p:nvPr/>
        </p:nvSpPr>
        <p:spPr>
          <a:xfrm>
            <a:off x="4636008" y="3886200"/>
            <a:ext cx="566928" cy="566928"/>
          </a:xfrm>
          <a:prstGeom prst="ellipse">
            <a:avLst/>
          </a:prstGeom>
          <a:solidFill>
            <a:srgbClr val="EAF5FF"/>
          </a:solidFill>
          <a:ln/>
        </p:spPr>
      </p:sp>
      <p:pic>
        <p:nvPicPr>
          <p:cNvPr id="19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763567" y="4013759"/>
            <a:ext cx="311810" cy="311810"/>
          </a:xfrm>
          <a:prstGeom prst="rect">
            <a:avLst/>
          </a:prstGeom>
        </p:spPr>
      </p:pic>
      <p:sp>
        <p:nvSpPr>
          <p:cNvPr id="20" name="Text 14"/>
          <p:cNvSpPr/>
          <p:nvPr/>
        </p:nvSpPr>
        <p:spPr>
          <a:xfrm>
            <a:off x="5349240" y="3886200"/>
            <a:ext cx="8229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8A9CF0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02</a:t>
            </a:r>
            <a:endParaRPr lang="en-US" sz="1300" dirty="0"/>
          </a:p>
        </p:txBody>
      </p:sp>
      <p:sp>
        <p:nvSpPr>
          <p:cNvPr id="21" name="Text 15"/>
          <p:cNvSpPr/>
          <p:nvPr/>
        </p:nvSpPr>
        <p:spPr>
          <a:xfrm>
            <a:off x="4636008" y="4572000"/>
            <a:ext cx="2935224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50" b="1" dirty="0">
                <a:solidFill>
                  <a:srgbClr val="24325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평소와 얼마나 다른가</a:t>
            </a:r>
            <a:endParaRPr lang="en-US" sz="1550" dirty="0"/>
          </a:p>
        </p:txBody>
      </p:sp>
      <p:sp>
        <p:nvSpPr>
          <p:cNvPr id="22" name="Text 16"/>
          <p:cNvSpPr/>
          <p:nvPr/>
        </p:nvSpPr>
        <p:spPr>
          <a:xfrm>
            <a:off x="4636008" y="4983480"/>
            <a:ext cx="2935224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30000"/>
              </a:lnSpc>
              <a:buNone/>
            </a:pPr>
            <a:r>
              <a:rPr lang="en-US" sz="1100" dirty="0">
                <a:solidFill>
                  <a:srgbClr val="6E7488"/>
                </a:solidFill>
                <a:latin typeface="Noto Sans KR DemiLight" pitchFamily="34" charset="0"/>
                <a:ea typeface="Noto Sans KR DemiLight" pitchFamily="34" charset="-122"/>
                <a:cs typeface="Noto Sans KR DemiLight" pitchFamily="34" charset="-120"/>
              </a:rPr>
              <a:t>그 사람 본인의 평소(14일)와 비교해 징후를 봅니다. 감정을 분류하지 않습니다.</a:t>
            </a:r>
            <a:endParaRPr lang="en-US" sz="1100" dirty="0"/>
          </a:p>
        </p:txBody>
      </p:sp>
      <p:pic>
        <p:nvPicPr>
          <p:cNvPr id="23" name="Image 4" descr="preencoded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7882128" y="4023360"/>
            <a:ext cx="237744" cy="237744"/>
          </a:xfrm>
          <a:prstGeom prst="rect">
            <a:avLst/>
          </a:prstGeom>
        </p:spPr>
      </p:pic>
      <p:sp>
        <p:nvSpPr>
          <p:cNvPr id="24" name="Shape 17"/>
          <p:cNvSpPr/>
          <p:nvPr/>
        </p:nvSpPr>
        <p:spPr>
          <a:xfrm>
            <a:off x="8138160" y="3611880"/>
            <a:ext cx="3520440" cy="2240280"/>
          </a:xfrm>
          <a:prstGeom prst="roundRect">
            <a:avLst>
              <a:gd name="adj" fmla="val 3673"/>
            </a:avLst>
          </a:prstGeom>
          <a:solidFill>
            <a:srgbClr val="FFFFFF"/>
          </a:solidFill>
          <a:ln w="12700">
            <a:solidFill>
              <a:srgbClr val="E3E7F3"/>
            </a:solidFill>
            <a:prstDash val="solid"/>
          </a:ln>
          <a:effectLst>
            <a:outerShdw sx="100000" sy="100000" kx="0" ky="0" algn="bl" rotWithShape="0" blurRad="127000" dist="38100" dir="5400000">
              <a:srgbClr val="1B2547">
                <a:alpha val="10000"/>
              </a:srgbClr>
            </a:outerShdw>
          </a:effectLst>
        </p:spPr>
      </p:sp>
      <p:sp>
        <p:nvSpPr>
          <p:cNvPr id="25" name="Shape 18"/>
          <p:cNvSpPr/>
          <p:nvPr/>
        </p:nvSpPr>
        <p:spPr>
          <a:xfrm>
            <a:off x="8430768" y="3886200"/>
            <a:ext cx="566928" cy="566928"/>
          </a:xfrm>
          <a:prstGeom prst="ellipse">
            <a:avLst/>
          </a:prstGeom>
          <a:solidFill>
            <a:srgbClr val="FFF0E9"/>
          </a:solidFill>
          <a:ln/>
        </p:spPr>
      </p:sp>
      <p:pic>
        <p:nvPicPr>
          <p:cNvPr id="26" name="Image 5" descr="preencoded.png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8558327" y="4013759"/>
            <a:ext cx="311810" cy="311810"/>
          </a:xfrm>
          <a:prstGeom prst="rect">
            <a:avLst/>
          </a:prstGeom>
        </p:spPr>
      </p:pic>
      <p:sp>
        <p:nvSpPr>
          <p:cNvPr id="27" name="Text 19"/>
          <p:cNvSpPr/>
          <p:nvPr/>
        </p:nvSpPr>
        <p:spPr>
          <a:xfrm>
            <a:off x="9144000" y="3886200"/>
            <a:ext cx="8229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8A9CF0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03</a:t>
            </a:r>
            <a:endParaRPr lang="en-US" sz="1300" dirty="0"/>
          </a:p>
        </p:txBody>
      </p:sp>
      <p:sp>
        <p:nvSpPr>
          <p:cNvPr id="28" name="Text 20"/>
          <p:cNvSpPr/>
          <p:nvPr/>
        </p:nvSpPr>
        <p:spPr>
          <a:xfrm>
            <a:off x="8430768" y="4572000"/>
            <a:ext cx="2935224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50" b="1" dirty="0">
                <a:solidFill>
                  <a:srgbClr val="24325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선제 접촉</a:t>
            </a:r>
            <a:endParaRPr lang="en-US" sz="1550" dirty="0"/>
          </a:p>
        </p:txBody>
      </p:sp>
      <p:sp>
        <p:nvSpPr>
          <p:cNvPr id="29" name="Text 21"/>
          <p:cNvSpPr/>
          <p:nvPr/>
        </p:nvSpPr>
        <p:spPr>
          <a:xfrm>
            <a:off x="8430768" y="4983480"/>
            <a:ext cx="2935224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30000"/>
              </a:lnSpc>
              <a:buNone/>
            </a:pPr>
            <a:r>
              <a:rPr lang="en-US" sz="1100" dirty="0">
                <a:solidFill>
                  <a:srgbClr val="6E7488"/>
                </a:solidFill>
                <a:latin typeface="Noto Sans KR DemiLight" pitchFamily="34" charset="0"/>
                <a:ea typeface="Noto Sans KR DemiLight" pitchFamily="34" charset="-122"/>
                <a:cs typeface="Noto Sans KR DemiLight" pitchFamily="34" charset="-120"/>
              </a:rPr>
              <a:t>콘텐츠 추천에서 그치지 않고, 필요하면 시스템이 먼저 말을 거는 선제 접촉까지 이어집니다.</a:t>
            </a:r>
            <a:endParaRPr lang="en-US" sz="1100" dirty="0"/>
          </a:p>
        </p:txBody>
      </p:sp>
      <p:sp>
        <p:nvSpPr>
          <p:cNvPr id="30" name="Text 22"/>
          <p:cNvSpPr/>
          <p:nvPr/>
        </p:nvSpPr>
        <p:spPr>
          <a:xfrm>
            <a:off x="11277295" y="6355080"/>
            <a:ext cx="54864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B7BCCB"/>
                </a:solidFill>
                <a:latin typeface="Noto Sans KR DemiLight" pitchFamily="34" charset="0"/>
                <a:ea typeface="Noto Sans KR DemiLight" pitchFamily="34" charset="-122"/>
                <a:cs typeface="Noto Sans KR DemiLight" pitchFamily="34" charset="-120"/>
              </a:rPr>
              <a:t>03</a:t>
            </a:r>
            <a:endParaRPr lang="en-US" sz="1000" dirty="0"/>
          </a:p>
        </p:txBody>
      </p:sp>
      <p:sp>
        <p:nvSpPr>
          <p:cNvPr id="31" name="Text 23"/>
          <p:cNvSpPr/>
          <p:nvPr/>
        </p:nvSpPr>
        <p:spPr>
          <a:xfrm>
            <a:off x="548640" y="6355080"/>
            <a:ext cx="36576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B7BCCB"/>
                </a:solidFill>
                <a:latin typeface="Noto Sans KR DemiLight" pitchFamily="34" charset="0"/>
                <a:ea typeface="Noto Sans KR DemiLight" pitchFamily="34" charset="-122"/>
                <a:cs typeface="Noto Sans KR DemiLight" pitchFamily="34" charset="-120"/>
              </a:rPr>
              <a:t>귀기울임 LISN</a:t>
            </a:r>
            <a:endParaRPr lang="en-US" sz="10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1B254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84048"/>
            <a:ext cx="73152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8A9CF0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KEY DIFFERENTIATOR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548640" y="658368"/>
            <a:ext cx="1115568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앱을 열기 전에 먼저 닿는 구조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548640" y="1783080"/>
            <a:ext cx="5303520" cy="2286000"/>
          </a:xfrm>
          <a:prstGeom prst="roundRect">
            <a:avLst>
              <a:gd name="adj" fmla="val 3600"/>
            </a:avLst>
          </a:prstGeom>
          <a:solidFill>
            <a:srgbClr val="2A3564"/>
          </a:solidFill>
          <a:ln/>
        </p:spPr>
      </p:sp>
      <p:sp>
        <p:nvSpPr>
          <p:cNvPr id="5" name="Text 3"/>
          <p:cNvSpPr/>
          <p:nvPr/>
        </p:nvSpPr>
        <p:spPr>
          <a:xfrm>
            <a:off x="868680" y="1965960"/>
            <a:ext cx="3657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A9B3D6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기존 서비스</a:t>
            </a:r>
            <a:endParaRPr lang="en-US" sz="1300" dirty="0"/>
          </a:p>
        </p:txBody>
      </p:sp>
      <p:sp>
        <p:nvSpPr>
          <p:cNvPr id="6" name="Text 4"/>
          <p:cNvSpPr/>
          <p:nvPr/>
        </p:nvSpPr>
        <p:spPr>
          <a:xfrm>
            <a:off x="868680" y="2377440"/>
            <a:ext cx="466344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감지 → 사용자가 앱을 열어야 확인 → 끝</a:t>
            </a:r>
            <a:endParaRPr lang="en-US" sz="1500" dirty="0"/>
          </a:p>
        </p:txBody>
      </p:sp>
      <p:sp>
        <p:nvSpPr>
          <p:cNvPr id="7" name="Text 5"/>
          <p:cNvSpPr/>
          <p:nvPr/>
        </p:nvSpPr>
        <p:spPr>
          <a:xfrm>
            <a:off x="868680" y="3063240"/>
            <a:ext cx="466344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C7CDEA"/>
                </a:solidFill>
                <a:latin typeface="Noto Sans KR DemiLight" pitchFamily="34" charset="0"/>
                <a:ea typeface="Noto Sans KR DemiLight" pitchFamily="34" charset="-122"/>
                <a:cs typeface="Noto Sans KR DemiLight" pitchFamily="34" charset="-120"/>
              </a:rPr>
              <a:t>위기일수록 앱을 열 힘이 없는데, 확인 자체를 사용자에게 맡깁니다.</a:t>
            </a:r>
            <a:endParaRPr lang="en-US" sz="1150" dirty="0"/>
          </a:p>
        </p:txBody>
      </p:sp>
      <p:sp>
        <p:nvSpPr>
          <p:cNvPr id="8" name="Shape 6"/>
          <p:cNvSpPr/>
          <p:nvPr/>
        </p:nvSpPr>
        <p:spPr>
          <a:xfrm>
            <a:off x="6309360" y="1783080"/>
            <a:ext cx="5349240" cy="2286000"/>
          </a:xfrm>
          <a:prstGeom prst="roundRect">
            <a:avLst>
              <a:gd name="adj" fmla="val 3600"/>
            </a:avLst>
          </a:prstGeom>
          <a:solidFill>
            <a:srgbClr val="5A6BE0"/>
          </a:solidFill>
          <a:ln/>
        </p:spPr>
      </p:sp>
      <p:sp>
        <p:nvSpPr>
          <p:cNvPr id="9" name="Text 7"/>
          <p:cNvSpPr/>
          <p:nvPr/>
        </p:nvSpPr>
        <p:spPr>
          <a:xfrm>
            <a:off x="6629400" y="1965960"/>
            <a:ext cx="3657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E3E7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귀기울임</a:t>
            </a:r>
            <a:endParaRPr lang="en-US" sz="1300" dirty="0"/>
          </a:p>
        </p:txBody>
      </p:sp>
      <p:sp>
        <p:nvSpPr>
          <p:cNvPr id="10" name="Text 8"/>
          <p:cNvSpPr/>
          <p:nvPr/>
        </p:nvSpPr>
        <p:spPr>
          <a:xfrm>
            <a:off x="6629400" y="2377440"/>
            <a:ext cx="484632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감지 → 시스템이 먼저 말을 겁니다</a:t>
            </a:r>
            <a:endParaRPr lang="en-US" sz="1500" dirty="0"/>
          </a:p>
        </p:txBody>
      </p:sp>
      <p:sp>
        <p:nvSpPr>
          <p:cNvPr id="11" name="Text 9"/>
          <p:cNvSpPr/>
          <p:nvPr/>
        </p:nvSpPr>
        <p:spPr>
          <a:xfrm>
            <a:off x="6629400" y="3063240"/>
            <a:ext cx="484632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EAEEFF"/>
                </a:solidFill>
                <a:latin typeface="Noto Sans KR DemiLight" pitchFamily="34" charset="0"/>
                <a:ea typeface="Noto Sans KR DemiLight" pitchFamily="34" charset="-122"/>
                <a:cs typeface="Noto Sans KR DemiLight" pitchFamily="34" charset="-120"/>
              </a:rPr>
              <a:t>연속 이탈 3일 → 조건 6개 검사 → 첫 발화 생성 → 세션 생성 → FCM 푸시 · 홈 카드 · 배너로 먼저 말을 겁니다</a:t>
            </a:r>
            <a:endParaRPr lang="en-US" sz="1150" dirty="0"/>
          </a:p>
        </p:txBody>
      </p:sp>
      <p:sp>
        <p:nvSpPr>
          <p:cNvPr id="12" name="Text 10"/>
          <p:cNvSpPr/>
          <p:nvPr/>
        </p:nvSpPr>
        <p:spPr>
          <a:xfrm>
            <a:off x="548640" y="4343400"/>
            <a:ext cx="7315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"감시 아닌가요?" — 그래서 장치를 마련했습니다</a:t>
            </a:r>
            <a:endParaRPr lang="en-US" sz="1400" dirty="0"/>
          </a:p>
        </p:txBody>
      </p:sp>
      <p:sp>
        <p:nvSpPr>
          <p:cNvPr id="13" name="Shape 11"/>
          <p:cNvSpPr/>
          <p:nvPr/>
        </p:nvSpPr>
        <p:spPr>
          <a:xfrm>
            <a:off x="548640" y="4846320"/>
            <a:ext cx="2697480" cy="1508760"/>
          </a:xfrm>
          <a:prstGeom prst="roundRect">
            <a:avLst>
              <a:gd name="adj" fmla="val 4848"/>
            </a:avLst>
          </a:prstGeom>
          <a:solidFill>
            <a:srgbClr val="2A3564"/>
          </a:solidFill>
          <a:ln/>
        </p:spPr>
      </p:sp>
      <p:sp>
        <p:nvSpPr>
          <p:cNvPr id="14" name="Shape 12"/>
          <p:cNvSpPr/>
          <p:nvPr/>
        </p:nvSpPr>
        <p:spPr>
          <a:xfrm>
            <a:off x="749808" y="5029200"/>
            <a:ext cx="457200" cy="457200"/>
          </a:xfrm>
          <a:prstGeom prst="ellipse">
            <a:avLst/>
          </a:prstGeom>
          <a:solidFill>
            <a:srgbClr val="384280"/>
          </a:solidFill>
          <a:ln/>
        </p:spPr>
      </p:sp>
      <p:pic>
        <p:nvPicPr>
          <p:cNvPr id="15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52678" y="5132070"/>
            <a:ext cx="251460" cy="251460"/>
          </a:xfrm>
          <a:prstGeom prst="rect">
            <a:avLst/>
          </a:prstGeom>
        </p:spPr>
      </p:pic>
      <p:sp>
        <p:nvSpPr>
          <p:cNvPr id="16" name="Text 13"/>
          <p:cNvSpPr/>
          <p:nvPr/>
        </p:nvSpPr>
        <p:spPr>
          <a:xfrm>
            <a:off x="749808" y="5559552"/>
            <a:ext cx="23317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옵트인</a:t>
            </a:r>
            <a:endParaRPr lang="en-US" sz="1250" dirty="0"/>
          </a:p>
        </p:txBody>
      </p:sp>
      <p:sp>
        <p:nvSpPr>
          <p:cNvPr id="17" name="Text 14"/>
          <p:cNvSpPr/>
          <p:nvPr/>
        </p:nvSpPr>
        <p:spPr>
          <a:xfrm>
            <a:off x="749808" y="5852160"/>
            <a:ext cx="23317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950" dirty="0">
                <a:solidFill>
                  <a:srgbClr val="B9C0E6"/>
                </a:solidFill>
                <a:latin typeface="Noto Sans KR DemiLight" pitchFamily="34" charset="0"/>
                <a:ea typeface="Noto Sans KR DemiLight" pitchFamily="34" charset="-122"/>
                <a:cs typeface="Noto Sans KR DemiLight" pitchFamily="34" charset="-120"/>
              </a:rPr>
              <a:t>케어 알림은 콘텐츠 알림과 따로 동의받습니다</a:t>
            </a:r>
            <a:endParaRPr lang="en-US" sz="950" dirty="0"/>
          </a:p>
        </p:txBody>
      </p:sp>
      <p:sp>
        <p:nvSpPr>
          <p:cNvPr id="18" name="Shape 15"/>
          <p:cNvSpPr/>
          <p:nvPr/>
        </p:nvSpPr>
        <p:spPr>
          <a:xfrm>
            <a:off x="3364992" y="4846320"/>
            <a:ext cx="2697480" cy="1508760"/>
          </a:xfrm>
          <a:prstGeom prst="roundRect">
            <a:avLst>
              <a:gd name="adj" fmla="val 4848"/>
            </a:avLst>
          </a:prstGeom>
          <a:solidFill>
            <a:srgbClr val="2A3564"/>
          </a:solidFill>
          <a:ln/>
        </p:spPr>
      </p:sp>
      <p:sp>
        <p:nvSpPr>
          <p:cNvPr id="19" name="Shape 16"/>
          <p:cNvSpPr/>
          <p:nvPr/>
        </p:nvSpPr>
        <p:spPr>
          <a:xfrm>
            <a:off x="3566160" y="5029200"/>
            <a:ext cx="457200" cy="457200"/>
          </a:xfrm>
          <a:prstGeom prst="ellipse">
            <a:avLst/>
          </a:prstGeom>
          <a:solidFill>
            <a:srgbClr val="384280"/>
          </a:solidFill>
          <a:ln/>
        </p:spPr>
      </p:sp>
      <p:pic>
        <p:nvPicPr>
          <p:cNvPr id="20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669030" y="5132070"/>
            <a:ext cx="251460" cy="251460"/>
          </a:xfrm>
          <a:prstGeom prst="rect">
            <a:avLst/>
          </a:prstGeom>
        </p:spPr>
      </p:pic>
      <p:sp>
        <p:nvSpPr>
          <p:cNvPr id="21" name="Text 17"/>
          <p:cNvSpPr/>
          <p:nvPr/>
        </p:nvSpPr>
        <p:spPr>
          <a:xfrm>
            <a:off x="3566160" y="5559552"/>
            <a:ext cx="23317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빈도 상한</a:t>
            </a:r>
            <a:endParaRPr lang="en-US" sz="1250" dirty="0"/>
          </a:p>
        </p:txBody>
      </p:sp>
      <p:sp>
        <p:nvSpPr>
          <p:cNvPr id="22" name="Text 18"/>
          <p:cNvSpPr/>
          <p:nvPr/>
        </p:nvSpPr>
        <p:spPr>
          <a:xfrm>
            <a:off x="3566160" y="5852160"/>
            <a:ext cx="23317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950" dirty="0">
                <a:solidFill>
                  <a:srgbClr val="B9C0E6"/>
                </a:solidFill>
                <a:latin typeface="Noto Sans KR DemiLight" pitchFamily="34" charset="0"/>
                <a:ea typeface="Noto Sans KR DemiLight" pitchFamily="34" charset="-122"/>
                <a:cs typeface="Noto Sans KR DemiLight" pitchFamily="34" charset="-120"/>
              </a:rPr>
              <a:t>쿨다운 3일 · 하루 1회 · 09~21시</a:t>
            </a:r>
            <a:endParaRPr lang="en-US" sz="950" dirty="0"/>
          </a:p>
        </p:txBody>
      </p:sp>
      <p:sp>
        <p:nvSpPr>
          <p:cNvPr id="23" name="Shape 19"/>
          <p:cNvSpPr/>
          <p:nvPr/>
        </p:nvSpPr>
        <p:spPr>
          <a:xfrm>
            <a:off x="6181344" y="4846320"/>
            <a:ext cx="2697480" cy="1508760"/>
          </a:xfrm>
          <a:prstGeom prst="roundRect">
            <a:avLst>
              <a:gd name="adj" fmla="val 4848"/>
            </a:avLst>
          </a:prstGeom>
          <a:solidFill>
            <a:srgbClr val="2A3564"/>
          </a:solidFill>
          <a:ln/>
        </p:spPr>
      </p:sp>
      <p:sp>
        <p:nvSpPr>
          <p:cNvPr id="24" name="Shape 20"/>
          <p:cNvSpPr/>
          <p:nvPr/>
        </p:nvSpPr>
        <p:spPr>
          <a:xfrm>
            <a:off x="6382512" y="5029200"/>
            <a:ext cx="457200" cy="457200"/>
          </a:xfrm>
          <a:prstGeom prst="ellipse">
            <a:avLst/>
          </a:prstGeom>
          <a:solidFill>
            <a:srgbClr val="384280"/>
          </a:solidFill>
          <a:ln/>
        </p:spPr>
      </p:sp>
      <p:pic>
        <p:nvPicPr>
          <p:cNvPr id="25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485382" y="5132070"/>
            <a:ext cx="251460" cy="251460"/>
          </a:xfrm>
          <a:prstGeom prst="rect">
            <a:avLst/>
          </a:prstGeom>
        </p:spPr>
      </p:pic>
      <p:sp>
        <p:nvSpPr>
          <p:cNvPr id="26" name="Text 21"/>
          <p:cNvSpPr/>
          <p:nvPr/>
        </p:nvSpPr>
        <p:spPr>
          <a:xfrm>
            <a:off x="6382512" y="5559552"/>
            <a:ext cx="23317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겹침 방지</a:t>
            </a:r>
            <a:endParaRPr lang="en-US" sz="1250" dirty="0"/>
          </a:p>
        </p:txBody>
      </p:sp>
      <p:sp>
        <p:nvSpPr>
          <p:cNvPr id="27" name="Text 22"/>
          <p:cNvSpPr/>
          <p:nvPr/>
        </p:nvSpPr>
        <p:spPr>
          <a:xfrm>
            <a:off x="6382512" y="5852160"/>
            <a:ext cx="23317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950" dirty="0">
                <a:solidFill>
                  <a:srgbClr val="B9C0E6"/>
                </a:solidFill>
                <a:latin typeface="Noto Sans KR DemiLight" pitchFamily="34" charset="0"/>
                <a:ea typeface="Noto Sans KR DemiLight" pitchFamily="34" charset="-122"/>
                <a:cs typeface="Noto Sans KR DemiLight" pitchFamily="34" charset="-120"/>
              </a:rPr>
              <a:t>같은 날 콘텐츠 알림이 있으면 보류합니다</a:t>
            </a:r>
            <a:endParaRPr lang="en-US" sz="950" dirty="0"/>
          </a:p>
        </p:txBody>
      </p:sp>
      <p:sp>
        <p:nvSpPr>
          <p:cNvPr id="28" name="Shape 23"/>
          <p:cNvSpPr/>
          <p:nvPr/>
        </p:nvSpPr>
        <p:spPr>
          <a:xfrm>
            <a:off x="8997696" y="4846320"/>
            <a:ext cx="2697480" cy="1508760"/>
          </a:xfrm>
          <a:prstGeom prst="roundRect">
            <a:avLst>
              <a:gd name="adj" fmla="val 4848"/>
            </a:avLst>
          </a:prstGeom>
          <a:solidFill>
            <a:srgbClr val="2A3564"/>
          </a:solidFill>
          <a:ln/>
        </p:spPr>
      </p:sp>
      <p:sp>
        <p:nvSpPr>
          <p:cNvPr id="29" name="Shape 24"/>
          <p:cNvSpPr/>
          <p:nvPr/>
        </p:nvSpPr>
        <p:spPr>
          <a:xfrm>
            <a:off x="9198864" y="5029200"/>
            <a:ext cx="457200" cy="457200"/>
          </a:xfrm>
          <a:prstGeom prst="ellipse">
            <a:avLst/>
          </a:prstGeom>
          <a:solidFill>
            <a:srgbClr val="384280"/>
          </a:solidFill>
          <a:ln/>
        </p:spPr>
      </p:sp>
      <p:pic>
        <p:nvPicPr>
          <p:cNvPr id="30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301734" y="5132070"/>
            <a:ext cx="251460" cy="251460"/>
          </a:xfrm>
          <a:prstGeom prst="rect">
            <a:avLst/>
          </a:prstGeom>
        </p:spPr>
      </p:pic>
      <p:sp>
        <p:nvSpPr>
          <p:cNvPr id="31" name="Text 25"/>
          <p:cNvSpPr/>
          <p:nvPr/>
        </p:nvSpPr>
        <p:spPr>
          <a:xfrm>
            <a:off x="9198864" y="5559552"/>
            <a:ext cx="23317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근거 제시</a:t>
            </a:r>
            <a:endParaRPr lang="en-US" sz="1250" dirty="0"/>
          </a:p>
        </p:txBody>
      </p:sp>
      <p:sp>
        <p:nvSpPr>
          <p:cNvPr id="32" name="Text 26"/>
          <p:cNvSpPr/>
          <p:nvPr/>
        </p:nvSpPr>
        <p:spPr>
          <a:xfrm>
            <a:off x="9198864" y="5852160"/>
            <a:ext cx="23317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950" dirty="0">
                <a:solidFill>
                  <a:srgbClr val="B9C0E6"/>
                </a:solidFill>
                <a:latin typeface="Noto Sans KR DemiLight" pitchFamily="34" charset="0"/>
                <a:ea typeface="Noto Sans KR DemiLight" pitchFamily="34" charset="-122"/>
                <a:cs typeface="Noto Sans KR DemiLight" pitchFamily="34" charset="-120"/>
              </a:rPr>
              <a:t>왜 말을 걸었는지 첫 마디에 담습니다</a:t>
            </a:r>
            <a:endParaRPr lang="en-US" sz="950" dirty="0"/>
          </a:p>
        </p:txBody>
      </p:sp>
      <p:sp>
        <p:nvSpPr>
          <p:cNvPr id="33" name="Text 27"/>
          <p:cNvSpPr/>
          <p:nvPr/>
        </p:nvSpPr>
        <p:spPr>
          <a:xfrm>
            <a:off x="11277295" y="6355080"/>
            <a:ext cx="54864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A9B3D6"/>
                </a:solidFill>
                <a:latin typeface="Noto Sans KR DemiLight" pitchFamily="34" charset="0"/>
                <a:ea typeface="Noto Sans KR DemiLight" pitchFamily="34" charset="-122"/>
                <a:cs typeface="Noto Sans KR DemiLight" pitchFamily="34" charset="-120"/>
              </a:rPr>
              <a:t>04</a:t>
            </a:r>
            <a:endParaRPr lang="en-US" sz="1000" dirty="0"/>
          </a:p>
        </p:txBody>
      </p:sp>
      <p:sp>
        <p:nvSpPr>
          <p:cNvPr id="34" name="Text 28"/>
          <p:cNvSpPr/>
          <p:nvPr/>
        </p:nvSpPr>
        <p:spPr>
          <a:xfrm>
            <a:off x="548640" y="6355080"/>
            <a:ext cx="36576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A9B3D6"/>
                </a:solidFill>
                <a:latin typeface="Noto Sans KR DemiLight" pitchFamily="34" charset="0"/>
                <a:ea typeface="Noto Sans KR DemiLight" pitchFamily="34" charset="-122"/>
                <a:cs typeface="Noto Sans KR DemiLight" pitchFamily="34" charset="-120"/>
              </a:rPr>
              <a:t>귀기울임 LISN</a:t>
            </a:r>
            <a:endParaRPr lang="en-US" sz="10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84048"/>
            <a:ext cx="73152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5A6BE0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LIVE DEMO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548640" y="658368"/>
            <a:ext cx="1115568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24325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3분으로 보는 귀기울임</a:t>
            </a:r>
            <a:endParaRPr lang="en-US" sz="3000" dirty="0"/>
          </a:p>
        </p:txBody>
      </p:sp>
      <p:sp>
        <p:nvSpPr>
          <p:cNvPr id="4" name="Text 2"/>
          <p:cNvSpPr/>
          <p:nvPr/>
        </p:nvSpPr>
        <p:spPr>
          <a:xfrm>
            <a:off x="548640" y="1207008"/>
            <a:ext cx="7315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6E7488"/>
                </a:solidFill>
                <a:latin typeface="Noto Sans KR DemiLight" pitchFamily="34" charset="0"/>
                <a:ea typeface="Noto Sans KR DemiLight" pitchFamily="34" charset="-122"/>
                <a:cs typeface="Noto Sans KR DemiLight" pitchFamily="34" charset="-120"/>
              </a:rPr>
              <a:t>클릭하면 재생됩니다</a:t>
            </a:r>
            <a:endParaRPr lang="en-US" sz="1200" dirty="0"/>
          </a:p>
        </p:txBody>
      </p:sp>
      <p:sp>
        <p:nvSpPr>
          <p:cNvPr id="5" name="Shape 3"/>
          <p:cNvSpPr/>
          <p:nvPr/>
        </p:nvSpPr>
        <p:spPr>
          <a:xfrm>
            <a:off x="2109064" y="1636776"/>
            <a:ext cx="7973568" cy="4533138"/>
          </a:xfrm>
          <a:prstGeom prst="roundRect">
            <a:avLst>
              <a:gd name="adj" fmla="val 1614"/>
            </a:avLst>
          </a:prstGeom>
          <a:solidFill>
            <a:srgbClr val="FFFFFF"/>
          </a:solidFill>
          <a:ln w="12700">
            <a:solidFill>
              <a:srgbClr val="E3E7F3"/>
            </a:solidFill>
            <a:prstDash val="solid"/>
          </a:ln>
          <a:effectLst>
            <a:outerShdw sx="100000" sy="100000" kx="0" ky="0" algn="bl" rotWithShape="0" blurRad="228600" dist="63500" dir="5400000">
              <a:srgbClr val="1B2547">
                <a:alpha val="12000"/>
              </a:srgbClr>
            </a:outerShdw>
          </a:effectLst>
        </p:spPr>
      </p:sp>
      <p:pic>
        <p:nvPicPr>
          <p:cNvPr id="3" name="Media 0">
            <a:hlinkClick r:id="" action="ppaction://media"/>
          </p:cNvPr>
          <p:cNvPicPr>
            <a:picLocks noChangeAspect="1"/>
          </p:cNvPicPr>
          <p:nvPr>
            <a:videoFile r:link="rId1"/>
            <p:extLst>
              <p:ext uri="{DAA4B4D4-6D71-4841-9C94-3DE7FCFB9230}">
                <p14:media xmlns:p14="http://schemas.microsoft.com/office/powerpoint/2010/main" r:embed="rId2"/>
              </p:ext>
            </p:extLst>
          </p:nvPr>
        </p:nvPicPr>
        <p:blipFill>
          <a:blip r:embed="rId3"/>
          <a:stretch>
            <a:fillRect/>
          </a:stretch>
        </p:blipFill>
        <p:spPr>
          <a:xfrm>
            <a:off x="2163928" y="1691640"/>
            <a:ext cx="7863840" cy="4423410"/>
          </a:xfrm>
          <a:prstGeom prst="rect">
            <a:avLst/>
          </a:prstGeom>
        </p:spPr>
      </p:pic>
      <p:sp>
        <p:nvSpPr>
          <p:cNvPr id="7" name="Text 4"/>
          <p:cNvSpPr/>
          <p:nvPr/>
        </p:nvSpPr>
        <p:spPr>
          <a:xfrm>
            <a:off x="11277295" y="6355080"/>
            <a:ext cx="54864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B7BCCB"/>
                </a:solidFill>
                <a:latin typeface="Noto Sans KR DemiLight" pitchFamily="34" charset="0"/>
                <a:ea typeface="Noto Sans KR DemiLight" pitchFamily="34" charset="-122"/>
                <a:cs typeface="Noto Sans KR DemiLight" pitchFamily="34" charset="-120"/>
              </a:rPr>
              <a:t>05</a:t>
            </a:r>
            <a:endParaRPr lang="en-US" sz="1000" dirty="0"/>
          </a:p>
        </p:txBody>
      </p:sp>
      <p:sp>
        <p:nvSpPr>
          <p:cNvPr id="8" name="Text 5"/>
          <p:cNvSpPr/>
          <p:nvPr/>
        </p:nvSpPr>
        <p:spPr>
          <a:xfrm>
            <a:off x="548640" y="6355080"/>
            <a:ext cx="36576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B7BCCB"/>
                </a:solidFill>
                <a:latin typeface="Noto Sans KR DemiLight" pitchFamily="34" charset="0"/>
                <a:ea typeface="Noto Sans KR DemiLight" pitchFamily="34" charset="-122"/>
                <a:cs typeface="Noto Sans KR DemiLight" pitchFamily="34" charset="-120"/>
              </a:rPr>
              <a:t>귀기울임 LISN</a:t>
            </a:r>
            <a:endParaRPr lang="en-US" sz="10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1B254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10088575" y="5120640"/>
            <a:ext cx="1280160" cy="1280160"/>
          </a:xfrm>
          <a:prstGeom prst="ellipse">
            <a:avLst/>
          </a:prstGeom>
          <a:ln w="15240">
            <a:solidFill>
              <a:srgbClr val="8A9CF0">
                <a:alpha val="45000"/>
              </a:srgbClr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9402775" y="4434840"/>
            <a:ext cx="2651760" cy="2651760"/>
          </a:xfrm>
          <a:prstGeom prst="ellipse">
            <a:avLst/>
          </a:prstGeom>
          <a:ln w="15240">
            <a:solidFill>
              <a:srgbClr val="8A9CF0">
                <a:alpha val="33000"/>
              </a:srgbClr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8716975" y="3749040"/>
            <a:ext cx="4023360" cy="4023360"/>
          </a:xfrm>
          <a:prstGeom prst="ellipse">
            <a:avLst/>
          </a:prstGeom>
          <a:ln w="15240">
            <a:solidFill>
              <a:srgbClr val="8A9CF0">
                <a:alpha val="21000"/>
              </a:srgbClr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8031175" y="3063240"/>
            <a:ext cx="5394960" cy="5394960"/>
          </a:xfrm>
          <a:prstGeom prst="ellipse">
            <a:avLst/>
          </a:prstGeom>
          <a:ln w="15240">
            <a:solidFill>
              <a:srgbClr val="8A9CF0">
                <a:alpha val="10000"/>
              </a:srgbClr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10646359" y="5678424"/>
            <a:ext cx="164592" cy="164592"/>
          </a:xfrm>
          <a:prstGeom prst="ellipse">
            <a:avLst/>
          </a:prstGeom>
          <a:solidFill>
            <a:srgbClr val="8A9CF0"/>
          </a:solidFill>
          <a:ln/>
        </p:spPr>
      </p:sp>
      <p:sp>
        <p:nvSpPr>
          <p:cNvPr id="7" name="Shape 5"/>
          <p:cNvSpPr/>
          <p:nvPr/>
        </p:nvSpPr>
        <p:spPr>
          <a:xfrm>
            <a:off x="822960" y="2514600"/>
            <a:ext cx="1371600" cy="1371600"/>
          </a:xfrm>
          <a:prstGeom prst="ellipse">
            <a:avLst/>
          </a:prstGeom>
          <a:solidFill>
            <a:srgbClr val="5A6BE0"/>
          </a:solidFill>
          <a:ln/>
        </p:spPr>
      </p:sp>
      <p:sp>
        <p:nvSpPr>
          <p:cNvPr id="8" name="Text 6"/>
          <p:cNvSpPr/>
          <p:nvPr/>
        </p:nvSpPr>
        <p:spPr>
          <a:xfrm>
            <a:off x="822960" y="2514600"/>
            <a:ext cx="137160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000" b="1" dirty="0">
                <a:solidFill>
                  <a:srgbClr val="FFFFFF"/>
                </a:solidFill>
                <a:latin typeface="Noto Sans KR Black" pitchFamily="34" charset="0"/>
                <a:ea typeface="Noto Sans KR Black" pitchFamily="34" charset="-122"/>
                <a:cs typeface="Noto Sans KR Black" pitchFamily="34" charset="-120"/>
              </a:rPr>
              <a:t>02</a:t>
            </a:r>
            <a:endParaRPr lang="en-US" sz="3000" dirty="0"/>
          </a:p>
        </p:txBody>
      </p:sp>
      <p:sp>
        <p:nvSpPr>
          <p:cNvPr id="9" name="Text 7"/>
          <p:cNvSpPr/>
          <p:nvPr/>
        </p:nvSpPr>
        <p:spPr>
          <a:xfrm>
            <a:off x="2514600" y="2651760"/>
            <a:ext cx="7315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8A9CF0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HOW WE BUILT IT</a:t>
            </a:r>
            <a:endParaRPr lang="en-US" sz="1200" dirty="0"/>
          </a:p>
        </p:txBody>
      </p:sp>
      <p:sp>
        <p:nvSpPr>
          <p:cNvPr id="10" name="Text 8"/>
          <p:cNvSpPr/>
          <p:nvPr/>
        </p:nvSpPr>
        <p:spPr>
          <a:xfrm>
            <a:off x="2514600" y="3017520"/>
            <a:ext cx="86868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FFFFFF"/>
                </a:solidFill>
                <a:latin typeface="Noto Sans KR Black" pitchFamily="34" charset="0"/>
                <a:ea typeface="Noto Sans KR Black" pitchFamily="34" charset="-122"/>
                <a:cs typeface="Noto Sans KR Black" pitchFamily="34" charset="-120"/>
              </a:rPr>
              <a:t>설계와 구현</a:t>
            </a:r>
            <a:endParaRPr lang="en-US" sz="3400" dirty="0"/>
          </a:p>
        </p:txBody>
      </p:sp>
      <p:sp>
        <p:nvSpPr>
          <p:cNvPr id="11" name="Text 9"/>
          <p:cNvSpPr/>
          <p:nvPr/>
        </p:nvSpPr>
        <p:spPr>
          <a:xfrm>
            <a:off x="11277295" y="6355080"/>
            <a:ext cx="54864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A9B3D6"/>
                </a:solidFill>
                <a:latin typeface="Noto Sans KR DemiLight" pitchFamily="34" charset="0"/>
                <a:ea typeface="Noto Sans KR DemiLight" pitchFamily="34" charset="-122"/>
                <a:cs typeface="Noto Sans KR DemiLight" pitchFamily="34" charset="-120"/>
              </a:rPr>
              <a:t>06</a:t>
            </a:r>
            <a:endParaRPr lang="en-US" sz="1000" dirty="0"/>
          </a:p>
        </p:txBody>
      </p:sp>
      <p:sp>
        <p:nvSpPr>
          <p:cNvPr id="12" name="Text 10"/>
          <p:cNvSpPr/>
          <p:nvPr/>
        </p:nvSpPr>
        <p:spPr>
          <a:xfrm>
            <a:off x="548640" y="6355080"/>
            <a:ext cx="36576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A9B3D6"/>
                </a:solidFill>
                <a:latin typeface="Noto Sans KR DemiLight" pitchFamily="34" charset="0"/>
                <a:ea typeface="Noto Sans KR DemiLight" pitchFamily="34" charset="-122"/>
                <a:cs typeface="Noto Sans KR DemiLight" pitchFamily="34" charset="-120"/>
              </a:rPr>
              <a:t>귀기울임 LISN</a:t>
            </a:r>
            <a:endParaRPr lang="en-US" sz="10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84048"/>
            <a:ext cx="73152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5A6BE0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ARCHITECTURE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548640" y="658368"/>
            <a:ext cx="1115568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24325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둘로 나눈 서버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548640" y="2286000"/>
            <a:ext cx="2743200" cy="1371600"/>
          </a:xfrm>
          <a:prstGeom prst="roundRect">
            <a:avLst>
              <a:gd name="adj" fmla="val 6667"/>
            </a:avLst>
          </a:prstGeom>
          <a:solidFill>
            <a:srgbClr val="24325F"/>
          </a:solidFill>
          <a:ln/>
        </p:spPr>
      </p:sp>
      <p:sp>
        <p:nvSpPr>
          <p:cNvPr id="5" name="Shape 3"/>
          <p:cNvSpPr/>
          <p:nvPr/>
        </p:nvSpPr>
        <p:spPr>
          <a:xfrm>
            <a:off x="804672" y="2542032"/>
            <a:ext cx="502920" cy="502920"/>
          </a:xfrm>
          <a:prstGeom prst="ellipse">
            <a:avLst/>
          </a:prstGeom>
          <a:solidFill>
            <a:srgbClr val="33407A"/>
          </a:solidFill>
          <a:ln/>
        </p:spPr>
      </p:sp>
      <p:pic>
        <p:nvPicPr>
          <p:cNvPr id="6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7829" y="2655189"/>
            <a:ext cx="276606" cy="276606"/>
          </a:xfrm>
          <a:prstGeom prst="rect">
            <a:avLst/>
          </a:prstGeom>
        </p:spPr>
      </p:pic>
      <p:sp>
        <p:nvSpPr>
          <p:cNvPr id="7" name="Text 4"/>
          <p:cNvSpPr/>
          <p:nvPr/>
        </p:nvSpPr>
        <p:spPr>
          <a:xfrm>
            <a:off x="804672" y="3127248"/>
            <a:ext cx="22860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Flutter 앱</a:t>
            </a:r>
            <a:endParaRPr lang="en-US" sz="1450" dirty="0"/>
          </a:p>
        </p:txBody>
      </p:sp>
      <p:sp>
        <p:nvSpPr>
          <p:cNvPr id="8" name="Shape 5"/>
          <p:cNvSpPr/>
          <p:nvPr/>
        </p:nvSpPr>
        <p:spPr>
          <a:xfrm>
            <a:off x="4434840" y="2286000"/>
            <a:ext cx="3291840" cy="13716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E3E7F3"/>
            </a:solidFill>
            <a:prstDash val="solid"/>
          </a:ln>
          <a:effectLst>
            <a:outerShdw sx="100000" sy="100000" kx="0" ky="0" algn="bl" rotWithShape="0" blurRad="127000" dist="38100" dir="5400000">
              <a:srgbClr val="1B2547">
                <a:alpha val="10000"/>
              </a:srgbClr>
            </a:outerShdw>
          </a:effectLst>
        </p:spPr>
      </p:sp>
      <p:sp>
        <p:nvSpPr>
          <p:cNvPr id="9" name="Shape 6"/>
          <p:cNvSpPr/>
          <p:nvPr/>
        </p:nvSpPr>
        <p:spPr>
          <a:xfrm>
            <a:off x="4690872" y="2542032"/>
            <a:ext cx="502920" cy="502920"/>
          </a:xfrm>
          <a:prstGeom prst="ellipse">
            <a:avLst/>
          </a:prstGeom>
          <a:solidFill>
            <a:srgbClr val="EAF5FF"/>
          </a:solidFill>
          <a:ln/>
        </p:spPr>
      </p:sp>
      <p:pic>
        <p:nvPicPr>
          <p:cNvPr id="10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804029" y="2655189"/>
            <a:ext cx="276606" cy="276606"/>
          </a:xfrm>
          <a:prstGeom prst="rect">
            <a:avLst/>
          </a:prstGeom>
        </p:spPr>
      </p:pic>
      <p:sp>
        <p:nvSpPr>
          <p:cNvPr id="11" name="Text 7"/>
          <p:cNvSpPr/>
          <p:nvPr/>
        </p:nvSpPr>
        <p:spPr>
          <a:xfrm>
            <a:off x="4690872" y="3127248"/>
            <a:ext cx="28346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24325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비즈니스 서버</a:t>
            </a:r>
            <a:endParaRPr lang="en-US" sz="1450" dirty="0"/>
          </a:p>
        </p:txBody>
      </p:sp>
      <p:sp>
        <p:nvSpPr>
          <p:cNvPr id="12" name="Shape 8"/>
          <p:cNvSpPr/>
          <p:nvPr/>
        </p:nvSpPr>
        <p:spPr>
          <a:xfrm>
            <a:off x="8869680" y="2286000"/>
            <a:ext cx="2788920" cy="13716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E3E7F3"/>
            </a:solidFill>
            <a:prstDash val="solid"/>
          </a:ln>
          <a:effectLst>
            <a:outerShdw sx="100000" sy="100000" kx="0" ky="0" algn="bl" rotWithShape="0" blurRad="127000" dist="38100" dir="5400000">
              <a:srgbClr val="1B2547">
                <a:alpha val="10000"/>
              </a:srgbClr>
            </a:outerShdw>
          </a:effectLst>
        </p:spPr>
      </p:sp>
      <p:sp>
        <p:nvSpPr>
          <p:cNvPr id="13" name="Shape 9"/>
          <p:cNvSpPr/>
          <p:nvPr/>
        </p:nvSpPr>
        <p:spPr>
          <a:xfrm>
            <a:off x="9125712" y="2542032"/>
            <a:ext cx="502920" cy="502920"/>
          </a:xfrm>
          <a:prstGeom prst="ellipse">
            <a:avLst/>
          </a:prstGeom>
          <a:solidFill>
            <a:srgbClr val="EAF5FF"/>
          </a:solidFill>
          <a:ln/>
        </p:spPr>
      </p:sp>
      <p:pic>
        <p:nvPicPr>
          <p:cNvPr id="14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238869" y="2655189"/>
            <a:ext cx="276606" cy="276606"/>
          </a:xfrm>
          <a:prstGeom prst="rect">
            <a:avLst/>
          </a:prstGeom>
        </p:spPr>
      </p:pic>
      <p:sp>
        <p:nvSpPr>
          <p:cNvPr id="15" name="Text 10"/>
          <p:cNvSpPr/>
          <p:nvPr/>
        </p:nvSpPr>
        <p:spPr>
          <a:xfrm>
            <a:off x="9125712" y="3127248"/>
            <a:ext cx="23317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24325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AI 추론 서버</a:t>
            </a:r>
            <a:endParaRPr lang="en-US" sz="1450" dirty="0"/>
          </a:p>
        </p:txBody>
      </p:sp>
      <p:pic>
        <p:nvPicPr>
          <p:cNvPr id="16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726180" y="2834640"/>
            <a:ext cx="274320" cy="274320"/>
          </a:xfrm>
          <a:prstGeom prst="rect">
            <a:avLst/>
          </a:prstGeom>
        </p:spPr>
      </p:pic>
      <p:pic>
        <p:nvPicPr>
          <p:cNvPr id="17" name="Image 4" descr="preencoded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8161020" y="2834640"/>
            <a:ext cx="274320" cy="274320"/>
          </a:xfrm>
          <a:prstGeom prst="rect">
            <a:avLst/>
          </a:prstGeom>
        </p:spPr>
      </p:pic>
      <p:sp>
        <p:nvSpPr>
          <p:cNvPr id="18" name="Text 11"/>
          <p:cNvSpPr/>
          <p:nvPr/>
        </p:nvSpPr>
        <p:spPr>
          <a:xfrm>
            <a:off x="3310128" y="1993392"/>
            <a:ext cx="1143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50" dirty="0">
                <a:solidFill>
                  <a:srgbClr val="6E7488"/>
                </a:solidFill>
                <a:latin typeface="Noto Sans KR DemiLight" pitchFamily="34" charset="0"/>
                <a:ea typeface="Noto Sans KR DemiLight" pitchFamily="34" charset="-122"/>
                <a:cs typeface="Noto Sans KR DemiLight" pitchFamily="34" charset="-120"/>
              </a:rPr>
              <a:t>걸음·수면·심박 push</a:t>
            </a:r>
            <a:endParaRPr lang="en-US" sz="850" dirty="0"/>
          </a:p>
        </p:txBody>
      </p:sp>
      <p:sp>
        <p:nvSpPr>
          <p:cNvPr id="19" name="Text 12"/>
          <p:cNvSpPr/>
          <p:nvPr/>
        </p:nvSpPr>
        <p:spPr>
          <a:xfrm>
            <a:off x="7772400" y="1993392"/>
            <a:ext cx="10515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50" dirty="0">
                <a:solidFill>
                  <a:srgbClr val="6E7488"/>
                </a:solidFill>
                <a:latin typeface="Noto Sans KR DemiLight" pitchFamily="34" charset="0"/>
                <a:ea typeface="Noto Sans KR DemiLight" pitchFamily="34" charset="-122"/>
                <a:cs typeface="Noto Sans KR DemiLight" pitchFamily="34" charset="-120"/>
              </a:rPr>
              <a:t>내부 통신</a:t>
            </a:r>
            <a:endParaRPr lang="en-US" sz="850" dirty="0"/>
          </a:p>
        </p:txBody>
      </p:sp>
      <p:sp>
        <p:nvSpPr>
          <p:cNvPr id="20" name="Text 13"/>
          <p:cNvSpPr/>
          <p:nvPr/>
        </p:nvSpPr>
        <p:spPr>
          <a:xfrm>
            <a:off x="548640" y="4069080"/>
            <a:ext cx="110642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24325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위기 키워드 필터는 비즈니스 서버 안에 둡니다.  </a:t>
            </a:r>
            <a:pPr indent="0" marL="0">
              <a:buNone/>
            </a:pPr>
            <a:r>
              <a:rPr lang="en-US" sz="1350" dirty="0">
                <a:solidFill>
                  <a:srgbClr val="6E7488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AI 서버가 죽어도 탐지가 멈추면 안 되기 때문입니다.</a:t>
            </a:r>
            <a:endParaRPr lang="en-US" sz="1350" dirty="0"/>
          </a:p>
        </p:txBody>
      </p:sp>
      <p:sp>
        <p:nvSpPr>
          <p:cNvPr id="21" name="Shape 14"/>
          <p:cNvSpPr/>
          <p:nvPr/>
        </p:nvSpPr>
        <p:spPr>
          <a:xfrm>
            <a:off x="548640" y="4526280"/>
            <a:ext cx="11064240" cy="1371600"/>
          </a:xfrm>
          <a:prstGeom prst="roundRect">
            <a:avLst>
              <a:gd name="adj" fmla="val 6000"/>
            </a:avLst>
          </a:prstGeom>
          <a:solidFill>
            <a:srgbClr val="F4F6FD"/>
          </a:solidFill>
          <a:ln/>
        </p:spPr>
      </p:sp>
      <p:sp>
        <p:nvSpPr>
          <p:cNvPr id="22" name="Text 15"/>
          <p:cNvSpPr/>
          <p:nvPr/>
        </p:nvSpPr>
        <p:spPr>
          <a:xfrm>
            <a:off x="868680" y="4681728"/>
            <a:ext cx="1042416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24325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앱이 먼저 보내고, 서버는 끌어오지 않습니다</a:t>
            </a:r>
            <a:endParaRPr lang="en-US" sz="1450" dirty="0"/>
          </a:p>
        </p:txBody>
      </p:sp>
      <p:sp>
        <p:nvSpPr>
          <p:cNvPr id="23" name="Text 16"/>
          <p:cNvSpPr/>
          <p:nvPr/>
        </p:nvSpPr>
        <p:spPr>
          <a:xfrm>
            <a:off x="868680" y="5029200"/>
            <a:ext cx="10424160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30000"/>
              </a:lnSpc>
              <a:buNone/>
            </a:pPr>
            <a:r>
              <a:rPr lang="en-US" sz="1150" dirty="0">
                <a:solidFill>
                  <a:srgbClr val="6E7488"/>
                </a:solidFill>
                <a:latin typeface="Noto Sans KR DemiLight" pitchFamily="34" charset="0"/>
                <a:ea typeface="Noto Sans KR DemiLight" pitchFamily="34" charset="-122"/>
                <a:cs typeface="Noto Sans KR DemiLight" pitchFamily="34" charset="-120"/>
              </a:rPr>
              <a:t>Health Connect는 Android 단말 안의 권한 모델이라 서버가 가질 OAuth 토큰이 없습니다. 그래서 앱이 읽어 push하고, 앱을 열지 않아도 WorkManager가 15분 주기로 백그라운드 전송합니다. 서버가 안 가져오는 것이 아니라, 가져올 수가 없습니다.</a:t>
            </a:r>
            <a:endParaRPr lang="en-US" sz="1150" dirty="0"/>
          </a:p>
        </p:txBody>
      </p:sp>
      <p:sp>
        <p:nvSpPr>
          <p:cNvPr id="24" name="Text 17"/>
          <p:cNvSpPr/>
          <p:nvPr/>
        </p:nvSpPr>
        <p:spPr>
          <a:xfrm>
            <a:off x="548640" y="6035040"/>
            <a:ext cx="110642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100" kern="0" dirty="0">
                <a:solidFill>
                  <a:srgbClr val="5A6BE0"/>
                </a:solidFill>
                <a:latin typeface="Noto Sans KR DemiLight" pitchFamily="34" charset="0"/>
                <a:ea typeface="Noto Sans KR DemiLight" pitchFamily="34" charset="-122"/>
                <a:cs typeface="Noto Sans KR DemiLight" pitchFamily="34" charset="-120"/>
              </a:rPr>
              <a:t>STACK   </a:t>
            </a:r>
            <a:pPr indent="0" marL="0">
              <a:buNone/>
            </a:pPr>
            <a:r>
              <a:rPr lang="en-US" sz="1000" dirty="0">
                <a:solidFill>
                  <a:srgbClr val="6E7488"/>
                </a:solidFill>
                <a:latin typeface="Noto Sans KR DemiLight" pitchFamily="34" charset="0"/>
                <a:ea typeface="Noto Sans KR DemiLight" pitchFamily="34" charset="-122"/>
                <a:cs typeface="Noto Sans KR DemiLight" pitchFamily="34" charset="-120"/>
              </a:rPr>
              <a:t>Flutter · Health Connect · WorkManager   |   FastAPI · SQLAlchemy · PostgreSQL 17   |   React · Vite   |   OpenAI API   |   인프라: NCP + Docker Compose</a:t>
            </a:r>
            <a:endParaRPr lang="en-US" sz="1000" dirty="0"/>
          </a:p>
        </p:txBody>
      </p:sp>
      <p:sp>
        <p:nvSpPr>
          <p:cNvPr id="25" name="Text 18"/>
          <p:cNvSpPr/>
          <p:nvPr/>
        </p:nvSpPr>
        <p:spPr>
          <a:xfrm>
            <a:off x="11277295" y="6355080"/>
            <a:ext cx="54864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B7BCCB"/>
                </a:solidFill>
                <a:latin typeface="Noto Sans KR DemiLight" pitchFamily="34" charset="0"/>
                <a:ea typeface="Noto Sans KR DemiLight" pitchFamily="34" charset="-122"/>
                <a:cs typeface="Noto Sans KR DemiLight" pitchFamily="34" charset="-120"/>
              </a:rPr>
              <a:t>07</a:t>
            </a:r>
            <a:endParaRPr lang="en-US" sz="1000" dirty="0"/>
          </a:p>
        </p:txBody>
      </p:sp>
      <p:sp>
        <p:nvSpPr>
          <p:cNvPr id="26" name="Text 19"/>
          <p:cNvSpPr/>
          <p:nvPr/>
        </p:nvSpPr>
        <p:spPr>
          <a:xfrm>
            <a:off x="548640" y="6355080"/>
            <a:ext cx="36576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B7BCCB"/>
                </a:solidFill>
                <a:latin typeface="Noto Sans KR DemiLight" pitchFamily="34" charset="0"/>
                <a:ea typeface="Noto Sans KR DemiLight" pitchFamily="34" charset="-122"/>
                <a:cs typeface="Noto Sans KR DemiLight" pitchFamily="34" charset="-120"/>
              </a:rPr>
              <a:t>귀기울임 LISN</a:t>
            </a:r>
            <a:endParaRPr lang="en-US" sz="10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84048"/>
            <a:ext cx="73152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5A6BE0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AI DESIGN JOURNEY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548640" y="658368"/>
            <a:ext cx="1115568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24325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감정 분류 대신 개인 기준선 이탈 탐지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548640" y="1965960"/>
            <a:ext cx="3520440" cy="1965960"/>
          </a:xfrm>
          <a:prstGeom prst="roundRect">
            <a:avLst>
              <a:gd name="adj" fmla="val 4186"/>
            </a:avLst>
          </a:prstGeom>
          <a:solidFill>
            <a:srgbClr val="FFFFFF"/>
          </a:solidFill>
          <a:ln w="12700">
            <a:solidFill>
              <a:srgbClr val="E3E7F3"/>
            </a:solidFill>
            <a:prstDash val="solid"/>
          </a:ln>
          <a:effectLst>
            <a:outerShdw sx="100000" sy="100000" kx="0" ky="0" algn="bl" rotWithShape="0" blurRad="127000" dist="38100" dir="5400000">
              <a:srgbClr val="1B2547">
                <a:alpha val="10000"/>
              </a:srgbClr>
            </a:outerShdw>
          </a:effectLst>
        </p:spPr>
      </p:sp>
      <p:sp>
        <p:nvSpPr>
          <p:cNvPr id="5" name="Shape 3"/>
          <p:cNvSpPr/>
          <p:nvPr/>
        </p:nvSpPr>
        <p:spPr>
          <a:xfrm>
            <a:off x="822960" y="2221992"/>
            <a:ext cx="420624" cy="420624"/>
          </a:xfrm>
          <a:prstGeom prst="ellipse">
            <a:avLst/>
          </a:prstGeom>
          <a:solidFill>
            <a:srgbClr val="EAF8F4"/>
          </a:solidFill>
          <a:ln/>
        </p:spPr>
      </p:sp>
      <p:sp>
        <p:nvSpPr>
          <p:cNvPr id="6" name="Text 4"/>
          <p:cNvSpPr/>
          <p:nvPr/>
        </p:nvSpPr>
        <p:spPr>
          <a:xfrm>
            <a:off x="822960" y="2221992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2F9E82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1</a:t>
            </a:r>
            <a:endParaRPr lang="en-US" sz="1300" dirty="0"/>
          </a:p>
        </p:txBody>
      </p:sp>
      <p:sp>
        <p:nvSpPr>
          <p:cNvPr id="7" name="Text 5"/>
          <p:cNvSpPr/>
          <p:nvPr/>
        </p:nvSpPr>
        <p:spPr>
          <a:xfrm>
            <a:off x="1371600" y="2221992"/>
            <a:ext cx="242316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24325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시도</a:t>
            </a:r>
            <a:endParaRPr lang="en-US" sz="1700" dirty="0"/>
          </a:p>
        </p:txBody>
      </p:sp>
      <p:sp>
        <p:nvSpPr>
          <p:cNvPr id="8" name="Text 6"/>
          <p:cNvSpPr/>
          <p:nvPr/>
        </p:nvSpPr>
        <p:spPr>
          <a:xfrm>
            <a:off x="822960" y="2807208"/>
            <a:ext cx="2971800" cy="10058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30000"/>
              </a:lnSpc>
              <a:buNone/>
            </a:pPr>
            <a:r>
              <a:rPr lang="en-US" sz="1150" dirty="0">
                <a:solidFill>
                  <a:srgbClr val="6E7488"/>
                </a:solidFill>
                <a:latin typeface="Noto Sans KR DemiLight" pitchFamily="34" charset="0"/>
                <a:ea typeface="Noto Sans KR DemiLight" pitchFamily="34" charset="-122"/>
                <a:cs typeface="Noto Sans KR DemiLight" pitchFamily="34" charset="-120"/>
              </a:rPr>
              <a:t>감정 라벨이 붙은 데이터로 분류 모델을 학습하려 했습니다</a:t>
            </a:r>
            <a:endParaRPr lang="en-US" sz="1150" dirty="0"/>
          </a:p>
        </p:txBody>
      </p:sp>
      <p:pic>
        <p:nvPicPr>
          <p:cNvPr id="9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087368" y="2834640"/>
            <a:ext cx="237744" cy="237744"/>
          </a:xfrm>
          <a:prstGeom prst="rect">
            <a:avLst/>
          </a:prstGeom>
        </p:spPr>
      </p:pic>
      <p:sp>
        <p:nvSpPr>
          <p:cNvPr id="10" name="Shape 7"/>
          <p:cNvSpPr/>
          <p:nvPr/>
        </p:nvSpPr>
        <p:spPr>
          <a:xfrm>
            <a:off x="4343400" y="1965960"/>
            <a:ext cx="3520440" cy="1965960"/>
          </a:xfrm>
          <a:prstGeom prst="roundRect">
            <a:avLst>
              <a:gd name="adj" fmla="val 4186"/>
            </a:avLst>
          </a:prstGeom>
          <a:solidFill>
            <a:srgbClr val="FFFFFF"/>
          </a:solidFill>
          <a:ln w="12700">
            <a:solidFill>
              <a:srgbClr val="E3E7F3"/>
            </a:solidFill>
            <a:prstDash val="solid"/>
          </a:ln>
          <a:effectLst>
            <a:outerShdw sx="100000" sy="100000" kx="0" ky="0" algn="bl" rotWithShape="0" blurRad="127000" dist="38100" dir="5400000">
              <a:srgbClr val="1B2547">
                <a:alpha val="10000"/>
              </a:srgbClr>
            </a:outerShdw>
          </a:effectLst>
        </p:spPr>
      </p:sp>
      <p:sp>
        <p:nvSpPr>
          <p:cNvPr id="11" name="Shape 8"/>
          <p:cNvSpPr/>
          <p:nvPr/>
        </p:nvSpPr>
        <p:spPr>
          <a:xfrm>
            <a:off x="4617720" y="2221992"/>
            <a:ext cx="420624" cy="420624"/>
          </a:xfrm>
          <a:prstGeom prst="ellipse">
            <a:avLst/>
          </a:prstGeom>
          <a:solidFill>
            <a:srgbClr val="FFF0E9"/>
          </a:solidFill>
          <a:ln/>
        </p:spPr>
      </p:sp>
      <p:sp>
        <p:nvSpPr>
          <p:cNvPr id="12" name="Text 9"/>
          <p:cNvSpPr/>
          <p:nvPr/>
        </p:nvSpPr>
        <p:spPr>
          <a:xfrm>
            <a:off x="4617720" y="2221992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C97448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2</a:t>
            </a:r>
            <a:endParaRPr lang="en-US" sz="1300" dirty="0"/>
          </a:p>
        </p:txBody>
      </p:sp>
      <p:sp>
        <p:nvSpPr>
          <p:cNvPr id="13" name="Text 10"/>
          <p:cNvSpPr/>
          <p:nvPr/>
        </p:nvSpPr>
        <p:spPr>
          <a:xfrm>
            <a:off x="5166360" y="2221992"/>
            <a:ext cx="242316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24325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검증</a:t>
            </a:r>
            <a:endParaRPr lang="en-US" sz="1700" dirty="0"/>
          </a:p>
        </p:txBody>
      </p:sp>
      <p:sp>
        <p:nvSpPr>
          <p:cNvPr id="14" name="Text 11"/>
          <p:cNvSpPr/>
          <p:nvPr/>
        </p:nvSpPr>
        <p:spPr>
          <a:xfrm>
            <a:off x="4617720" y="2807208"/>
            <a:ext cx="2971800" cy="10058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30000"/>
              </a:lnSpc>
              <a:buNone/>
            </a:pPr>
            <a:r>
              <a:rPr lang="en-US" sz="1150" dirty="0">
                <a:solidFill>
                  <a:srgbClr val="6E7488"/>
                </a:solidFill>
                <a:latin typeface="Noto Sans KR DemiLight" pitchFamily="34" charset="0"/>
                <a:ea typeface="Noto Sans KR DemiLight" pitchFamily="34" charset="-122"/>
                <a:cs typeface="Noto Sans KR DemiLight" pitchFamily="34" charset="-120"/>
              </a:rPr>
              <a:t>국내 라벨 데이터셋을 구하지 못해 공개 데이터(GLOBEM)로 검증했더니 ROC-AUC 0.528, 무작위 수준이었습니다</a:t>
            </a:r>
            <a:endParaRPr lang="en-US" sz="1150" dirty="0"/>
          </a:p>
        </p:txBody>
      </p:sp>
      <p:pic>
        <p:nvPicPr>
          <p:cNvPr id="15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882128" y="2834640"/>
            <a:ext cx="237744" cy="237744"/>
          </a:xfrm>
          <a:prstGeom prst="rect">
            <a:avLst/>
          </a:prstGeom>
        </p:spPr>
      </p:pic>
      <p:sp>
        <p:nvSpPr>
          <p:cNvPr id="16" name="Shape 12"/>
          <p:cNvSpPr/>
          <p:nvPr/>
        </p:nvSpPr>
        <p:spPr>
          <a:xfrm>
            <a:off x="8138160" y="1965960"/>
            <a:ext cx="3520440" cy="1965960"/>
          </a:xfrm>
          <a:prstGeom prst="roundRect">
            <a:avLst>
              <a:gd name="adj" fmla="val 4186"/>
            </a:avLst>
          </a:prstGeom>
          <a:solidFill>
            <a:srgbClr val="FFFFFF"/>
          </a:solidFill>
          <a:ln w="12700">
            <a:solidFill>
              <a:srgbClr val="E3E7F3"/>
            </a:solidFill>
            <a:prstDash val="solid"/>
          </a:ln>
          <a:effectLst>
            <a:outerShdw sx="100000" sy="100000" kx="0" ky="0" algn="bl" rotWithShape="0" blurRad="127000" dist="38100" dir="5400000">
              <a:srgbClr val="1B2547">
                <a:alpha val="10000"/>
              </a:srgbClr>
            </a:outerShdw>
          </a:effectLst>
        </p:spPr>
      </p:sp>
      <p:sp>
        <p:nvSpPr>
          <p:cNvPr id="17" name="Shape 13"/>
          <p:cNvSpPr/>
          <p:nvPr/>
        </p:nvSpPr>
        <p:spPr>
          <a:xfrm>
            <a:off x="8412480" y="2221992"/>
            <a:ext cx="420624" cy="420624"/>
          </a:xfrm>
          <a:prstGeom prst="ellipse">
            <a:avLst/>
          </a:prstGeom>
          <a:solidFill>
            <a:srgbClr val="EAF5FF"/>
          </a:solidFill>
          <a:ln/>
        </p:spPr>
      </p:sp>
      <p:sp>
        <p:nvSpPr>
          <p:cNvPr id="18" name="Text 14"/>
          <p:cNvSpPr/>
          <p:nvPr/>
        </p:nvSpPr>
        <p:spPr>
          <a:xfrm>
            <a:off x="8412480" y="2221992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3F7FC1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3</a:t>
            </a:r>
            <a:endParaRPr lang="en-US" sz="1300" dirty="0"/>
          </a:p>
        </p:txBody>
      </p:sp>
      <p:sp>
        <p:nvSpPr>
          <p:cNvPr id="19" name="Text 15"/>
          <p:cNvSpPr/>
          <p:nvPr/>
        </p:nvSpPr>
        <p:spPr>
          <a:xfrm>
            <a:off x="8961120" y="2221992"/>
            <a:ext cx="242316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24325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전환</a:t>
            </a:r>
            <a:endParaRPr lang="en-US" sz="1700" dirty="0"/>
          </a:p>
        </p:txBody>
      </p:sp>
      <p:sp>
        <p:nvSpPr>
          <p:cNvPr id="20" name="Text 16"/>
          <p:cNvSpPr/>
          <p:nvPr/>
        </p:nvSpPr>
        <p:spPr>
          <a:xfrm>
            <a:off x="8412480" y="2807208"/>
            <a:ext cx="2971800" cy="10058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30000"/>
              </a:lnSpc>
              <a:buNone/>
            </a:pPr>
            <a:r>
              <a:rPr lang="en-US" sz="1150" dirty="0">
                <a:solidFill>
                  <a:srgbClr val="6E7488"/>
                </a:solidFill>
                <a:latin typeface="Noto Sans KR DemiLight" pitchFamily="34" charset="0"/>
                <a:ea typeface="Noto Sans KR DemiLight" pitchFamily="34" charset="-122"/>
                <a:cs typeface="Noto Sans KR DemiLight" pitchFamily="34" charset="-120"/>
              </a:rPr>
              <a:t>개인 기준선 이탈 탐지로 방향을 바꿨습니다 — 중앙값·MAD robust z, 지표 7개 중 2개 이상 이탈</a:t>
            </a:r>
            <a:endParaRPr lang="en-US" sz="1150" dirty="0"/>
          </a:p>
        </p:txBody>
      </p:sp>
      <p:sp>
        <p:nvSpPr>
          <p:cNvPr id="21" name="Shape 17"/>
          <p:cNvSpPr/>
          <p:nvPr/>
        </p:nvSpPr>
        <p:spPr>
          <a:xfrm>
            <a:off x="548640" y="4343400"/>
            <a:ext cx="11064240" cy="1691640"/>
          </a:xfrm>
          <a:prstGeom prst="roundRect">
            <a:avLst>
              <a:gd name="adj" fmla="val 4865"/>
            </a:avLst>
          </a:prstGeom>
          <a:solidFill>
            <a:srgbClr val="24325F"/>
          </a:solidFill>
          <a:ln/>
        </p:spPr>
      </p:sp>
      <p:sp>
        <p:nvSpPr>
          <p:cNvPr id="22" name="Text 18"/>
          <p:cNvSpPr/>
          <p:nvPr/>
        </p:nvSpPr>
        <p:spPr>
          <a:xfrm>
            <a:off x="868680" y="4526280"/>
            <a:ext cx="104241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"감정을 분석·분류합니다"라고 말하지 않는 이유</a:t>
            </a:r>
            <a:endParaRPr lang="en-US" sz="1450" dirty="0"/>
          </a:p>
        </p:txBody>
      </p:sp>
      <p:sp>
        <p:nvSpPr>
          <p:cNvPr id="23" name="Text 19"/>
          <p:cNvSpPr/>
          <p:nvPr/>
        </p:nvSpPr>
        <p:spPr>
          <a:xfrm>
            <a:off x="868680" y="4919472"/>
            <a:ext cx="10424160" cy="10058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30000"/>
              </a:lnSpc>
              <a:buNone/>
            </a:pPr>
            <a:r>
              <a:rPr lang="en-US" sz="1200" dirty="0">
                <a:solidFill>
                  <a:srgbClr val="C7CDEA"/>
                </a:solidFill>
                <a:latin typeface="Noto Sans KR DemiLight" pitchFamily="34" charset="0"/>
                <a:ea typeface="Noto Sans KR DemiLight" pitchFamily="34" charset="-122"/>
                <a:cs typeface="Noto Sans KR DemiLight" pitchFamily="34" charset="-120"/>
              </a:rPr>
              <a:t>감정 코드는 이탈 정도를 표시하는 규칙 기반 산출값입니다. 학습된 분류기가 정한 값이 아니라, 코드에서 model_version이 "rule-"로 시작하는 것이 그 표시입니다. 대신 그 사람 본인의 평소와 비교하는 개인 기준선 이탈 탐지로 실제 서비스를 완성했습니다.</a:t>
            </a:r>
            <a:endParaRPr lang="en-US" sz="1200" dirty="0"/>
          </a:p>
        </p:txBody>
      </p:sp>
      <p:sp>
        <p:nvSpPr>
          <p:cNvPr id="24" name="Text 20"/>
          <p:cNvSpPr/>
          <p:nvPr/>
        </p:nvSpPr>
        <p:spPr>
          <a:xfrm>
            <a:off x="11277295" y="6355080"/>
            <a:ext cx="54864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B7BCCB"/>
                </a:solidFill>
                <a:latin typeface="Noto Sans KR DemiLight" pitchFamily="34" charset="0"/>
                <a:ea typeface="Noto Sans KR DemiLight" pitchFamily="34" charset="-122"/>
                <a:cs typeface="Noto Sans KR DemiLight" pitchFamily="34" charset="-120"/>
              </a:rPr>
              <a:t>08</a:t>
            </a:r>
            <a:endParaRPr lang="en-US" sz="1000" dirty="0"/>
          </a:p>
        </p:txBody>
      </p:sp>
      <p:sp>
        <p:nvSpPr>
          <p:cNvPr id="25" name="Text 21"/>
          <p:cNvSpPr/>
          <p:nvPr/>
        </p:nvSpPr>
        <p:spPr>
          <a:xfrm>
            <a:off x="548640" y="6355080"/>
            <a:ext cx="36576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B7BCCB"/>
                </a:solidFill>
                <a:latin typeface="Noto Sans KR DemiLight" pitchFamily="34" charset="0"/>
                <a:ea typeface="Noto Sans KR DemiLight" pitchFamily="34" charset="-122"/>
                <a:cs typeface="Noto Sans KR DemiLight" pitchFamily="34" charset="-120"/>
              </a:rPr>
              <a:t>귀기울임 LISN</a:t>
            </a:r>
            <a:endParaRPr lang="en-US" sz="10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84048"/>
            <a:ext cx="73152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5A6BE0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CRISIS DETECTION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548640" y="658368"/>
            <a:ext cx="1115568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24325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위기 탐지 2단계 구조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548640" y="1920240"/>
            <a:ext cx="5349240" cy="2468880"/>
          </a:xfrm>
          <a:prstGeom prst="roundRect">
            <a:avLst>
              <a:gd name="adj" fmla="val 3333"/>
            </a:avLst>
          </a:prstGeom>
          <a:solidFill>
            <a:srgbClr val="FFFFFF"/>
          </a:solidFill>
          <a:ln w="12700">
            <a:solidFill>
              <a:srgbClr val="E3E7F3"/>
            </a:solidFill>
            <a:prstDash val="solid"/>
          </a:ln>
          <a:effectLst>
            <a:outerShdw sx="100000" sy="100000" kx="0" ky="0" algn="bl" rotWithShape="0" blurRad="127000" dist="38100" dir="5400000">
              <a:srgbClr val="1B2547">
                <a:alpha val="10000"/>
              </a:srgbClr>
            </a:outerShdw>
          </a:effectLst>
        </p:spPr>
      </p:sp>
      <p:sp>
        <p:nvSpPr>
          <p:cNvPr id="5" name="Shape 3"/>
          <p:cNvSpPr/>
          <p:nvPr/>
        </p:nvSpPr>
        <p:spPr>
          <a:xfrm>
            <a:off x="868680" y="2212848"/>
            <a:ext cx="594360" cy="594360"/>
          </a:xfrm>
          <a:prstGeom prst="ellipse">
            <a:avLst/>
          </a:prstGeom>
          <a:solidFill>
            <a:srgbClr val="FFF0E9"/>
          </a:solidFill>
          <a:ln/>
        </p:spPr>
      </p:sp>
      <p:pic>
        <p:nvPicPr>
          <p:cNvPr id="6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17270" y="2361438"/>
            <a:ext cx="297180" cy="297180"/>
          </a:xfrm>
          <a:prstGeom prst="rect">
            <a:avLst/>
          </a:prstGeom>
        </p:spPr>
      </p:pic>
      <p:sp>
        <p:nvSpPr>
          <p:cNvPr id="7" name="Text 4"/>
          <p:cNvSpPr/>
          <p:nvPr/>
        </p:nvSpPr>
        <p:spPr>
          <a:xfrm>
            <a:off x="1645920" y="2194560"/>
            <a:ext cx="13716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C97448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1차</a:t>
            </a:r>
            <a:endParaRPr lang="en-US" sz="1200" dirty="0"/>
          </a:p>
        </p:txBody>
      </p:sp>
      <p:sp>
        <p:nvSpPr>
          <p:cNvPr id="8" name="Text 5"/>
          <p:cNvSpPr/>
          <p:nvPr/>
        </p:nvSpPr>
        <p:spPr>
          <a:xfrm>
            <a:off x="1645920" y="2468880"/>
            <a:ext cx="397764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24325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키워드 규칙</a:t>
            </a:r>
            <a:endParaRPr lang="en-US" sz="1800" dirty="0"/>
          </a:p>
        </p:txBody>
      </p:sp>
      <p:sp>
        <p:nvSpPr>
          <p:cNvPr id="9" name="Text 6"/>
          <p:cNvSpPr/>
          <p:nvPr/>
        </p:nvSpPr>
        <p:spPr>
          <a:xfrm>
            <a:off x="868680" y="3063240"/>
            <a:ext cx="470916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30000"/>
              </a:lnSpc>
              <a:buNone/>
            </a:pPr>
            <a:r>
              <a:rPr lang="en-US" sz="1200" dirty="0">
                <a:solidFill>
                  <a:srgbClr val="6E7488"/>
                </a:solidFill>
                <a:latin typeface="Noto Sans KR DemiLight" pitchFamily="34" charset="0"/>
                <a:ea typeface="Noto Sans KR DemiLight" pitchFamily="34" charset="-122"/>
                <a:cs typeface="Noto Sans KR DemiLight" pitchFamily="34" charset="-120"/>
              </a:rPr>
              <a:t>외부 API가 죽어도 탐지가 멈추지 않습니다</a:t>
            </a:r>
            <a:endParaRPr lang="en-US" sz="1200" dirty="0"/>
          </a:p>
        </p:txBody>
      </p:sp>
      <p:sp>
        <p:nvSpPr>
          <p:cNvPr id="10" name="Text 7"/>
          <p:cNvSpPr/>
          <p:nvPr/>
        </p:nvSpPr>
        <p:spPr>
          <a:xfrm>
            <a:off x="868680" y="3703320"/>
            <a:ext cx="47091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6E7488"/>
                </a:solidFill>
                <a:latin typeface="Noto Sans KR DemiLight" pitchFamily="34" charset="0"/>
                <a:ea typeface="Noto Sans KR DemiLight" pitchFamily="34" charset="-122"/>
                <a:cs typeface="Noto Sans KR DemiLight" pitchFamily="34" charset="-120"/>
              </a:rPr>
              <a:t>단독 재현율</a:t>
            </a:r>
            <a:endParaRPr lang="en-US" sz="1050" dirty="0"/>
          </a:p>
        </p:txBody>
      </p:sp>
      <p:sp>
        <p:nvSpPr>
          <p:cNvPr id="11" name="Text 8"/>
          <p:cNvSpPr/>
          <p:nvPr/>
        </p:nvSpPr>
        <p:spPr>
          <a:xfrm>
            <a:off x="868680" y="3913632"/>
            <a:ext cx="47091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C97448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0.081</a:t>
            </a:r>
            <a:endParaRPr lang="en-US" sz="2400" dirty="0"/>
          </a:p>
        </p:txBody>
      </p:sp>
      <p:pic>
        <p:nvPicPr>
          <p:cNvPr id="12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916168" y="3063240"/>
            <a:ext cx="237744" cy="237744"/>
          </a:xfrm>
          <a:prstGeom prst="rect">
            <a:avLst/>
          </a:prstGeom>
        </p:spPr>
      </p:pic>
      <p:sp>
        <p:nvSpPr>
          <p:cNvPr id="13" name="Shape 9"/>
          <p:cNvSpPr/>
          <p:nvPr/>
        </p:nvSpPr>
        <p:spPr>
          <a:xfrm>
            <a:off x="6172200" y="1920240"/>
            <a:ext cx="5349240" cy="2468880"/>
          </a:xfrm>
          <a:prstGeom prst="roundRect">
            <a:avLst>
              <a:gd name="adj" fmla="val 3333"/>
            </a:avLst>
          </a:prstGeom>
          <a:solidFill>
            <a:srgbClr val="FFFFFF"/>
          </a:solidFill>
          <a:ln w="12700">
            <a:solidFill>
              <a:srgbClr val="E3E7F3"/>
            </a:solidFill>
            <a:prstDash val="solid"/>
          </a:ln>
          <a:effectLst>
            <a:outerShdw sx="100000" sy="100000" kx="0" ky="0" algn="bl" rotWithShape="0" blurRad="127000" dist="38100" dir="5400000">
              <a:srgbClr val="1B2547">
                <a:alpha val="10000"/>
              </a:srgbClr>
            </a:outerShdw>
          </a:effectLst>
        </p:spPr>
      </p:sp>
      <p:sp>
        <p:nvSpPr>
          <p:cNvPr id="14" name="Shape 10"/>
          <p:cNvSpPr/>
          <p:nvPr/>
        </p:nvSpPr>
        <p:spPr>
          <a:xfrm>
            <a:off x="6492240" y="2212848"/>
            <a:ext cx="594360" cy="594360"/>
          </a:xfrm>
          <a:prstGeom prst="ellipse">
            <a:avLst/>
          </a:prstGeom>
          <a:solidFill>
            <a:srgbClr val="EAF8F4"/>
          </a:solidFill>
          <a:ln/>
        </p:spPr>
      </p:sp>
      <p:pic>
        <p:nvPicPr>
          <p:cNvPr id="15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640830" y="2361438"/>
            <a:ext cx="297180" cy="297180"/>
          </a:xfrm>
          <a:prstGeom prst="rect">
            <a:avLst/>
          </a:prstGeom>
        </p:spPr>
      </p:pic>
      <p:sp>
        <p:nvSpPr>
          <p:cNvPr id="16" name="Text 11"/>
          <p:cNvSpPr/>
          <p:nvPr/>
        </p:nvSpPr>
        <p:spPr>
          <a:xfrm>
            <a:off x="7269480" y="2194560"/>
            <a:ext cx="13716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2F9E82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2차</a:t>
            </a:r>
            <a:endParaRPr lang="en-US" sz="1200" dirty="0"/>
          </a:p>
        </p:txBody>
      </p:sp>
      <p:sp>
        <p:nvSpPr>
          <p:cNvPr id="17" name="Text 12"/>
          <p:cNvSpPr/>
          <p:nvPr/>
        </p:nvSpPr>
        <p:spPr>
          <a:xfrm>
            <a:off x="7269480" y="2468880"/>
            <a:ext cx="397764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24325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LLM 문맥 판정</a:t>
            </a:r>
            <a:endParaRPr lang="en-US" sz="1800" dirty="0"/>
          </a:p>
        </p:txBody>
      </p:sp>
      <p:sp>
        <p:nvSpPr>
          <p:cNvPr id="18" name="Text 13"/>
          <p:cNvSpPr/>
          <p:nvPr/>
        </p:nvSpPr>
        <p:spPr>
          <a:xfrm>
            <a:off x="6492240" y="3063240"/>
            <a:ext cx="470916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30000"/>
              </a:lnSpc>
              <a:buNone/>
            </a:pPr>
            <a:r>
              <a:rPr lang="en-US" sz="1200" dirty="0">
                <a:solidFill>
                  <a:srgbClr val="6E7488"/>
                </a:solidFill>
                <a:latin typeface="Noto Sans KR DemiLight" pitchFamily="34" charset="0"/>
                <a:ea typeface="Noto Sans KR DemiLight" pitchFamily="34" charset="-122"/>
                <a:cs typeface="Noto Sans KR DemiLight" pitchFamily="34" charset="-120"/>
              </a:rPr>
              <a:t>문장 맥락까지 읽어 더 정밀하게 판정합니다</a:t>
            </a:r>
            <a:endParaRPr lang="en-US" sz="1200" dirty="0"/>
          </a:p>
        </p:txBody>
      </p:sp>
      <p:sp>
        <p:nvSpPr>
          <p:cNvPr id="19" name="Text 14"/>
          <p:cNvSpPr/>
          <p:nvPr/>
        </p:nvSpPr>
        <p:spPr>
          <a:xfrm>
            <a:off x="6492240" y="3703320"/>
            <a:ext cx="47091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6E7488"/>
                </a:solidFill>
                <a:latin typeface="Noto Sans KR DemiLight" pitchFamily="34" charset="0"/>
                <a:ea typeface="Noto Sans KR DemiLight" pitchFamily="34" charset="-122"/>
                <a:cs typeface="Noto Sans KR DemiLight" pitchFamily="34" charset="-120"/>
              </a:rPr>
              <a:t>최종 재현율</a:t>
            </a:r>
            <a:endParaRPr lang="en-US" sz="1050" dirty="0"/>
          </a:p>
        </p:txBody>
      </p:sp>
      <p:sp>
        <p:nvSpPr>
          <p:cNvPr id="20" name="Text 15"/>
          <p:cNvSpPr/>
          <p:nvPr/>
        </p:nvSpPr>
        <p:spPr>
          <a:xfrm>
            <a:off x="6492240" y="3913632"/>
            <a:ext cx="47091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2F9E82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0.946</a:t>
            </a:r>
            <a:endParaRPr lang="en-US" sz="2400" dirty="0"/>
          </a:p>
        </p:txBody>
      </p:sp>
      <p:sp>
        <p:nvSpPr>
          <p:cNvPr id="21" name="Shape 16"/>
          <p:cNvSpPr/>
          <p:nvPr/>
        </p:nvSpPr>
        <p:spPr>
          <a:xfrm>
            <a:off x="548640" y="4480560"/>
            <a:ext cx="11064240" cy="1691640"/>
          </a:xfrm>
          <a:prstGeom prst="roundRect">
            <a:avLst>
              <a:gd name="adj" fmla="val 4865"/>
            </a:avLst>
          </a:prstGeom>
          <a:solidFill>
            <a:srgbClr val="F4F6FD"/>
          </a:solidFill>
          <a:ln/>
        </p:spPr>
      </p:sp>
      <p:sp>
        <p:nvSpPr>
          <p:cNvPr id="22" name="Text 17"/>
          <p:cNvSpPr/>
          <p:nvPr/>
        </p:nvSpPr>
        <p:spPr>
          <a:xfrm>
            <a:off x="868680" y="4617720"/>
            <a:ext cx="1042416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24325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정신건강 서비스라서 다르게 만든 것</a:t>
            </a:r>
            <a:endParaRPr lang="en-US" sz="1450" dirty="0"/>
          </a:p>
        </p:txBody>
      </p:sp>
      <p:sp>
        <p:nvSpPr>
          <p:cNvPr id="23" name="Text 18"/>
          <p:cNvSpPr/>
          <p:nvPr/>
        </p:nvSpPr>
        <p:spPr>
          <a:xfrm>
            <a:off x="868680" y="4983480"/>
            <a:ext cx="104241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5000"/>
              </a:lnSpc>
              <a:buNone/>
            </a:pPr>
            <a:r>
              <a:rPr lang="en-US" sz="1150" b="1" dirty="0">
                <a:solidFill>
                  <a:srgbClr val="24325F"/>
                </a:solidFill>
                <a:latin typeface="Noto Sans KR DemiLight" pitchFamily="34" charset="0"/>
                <a:ea typeface="Noto Sans KR DemiLight" pitchFamily="34" charset="-122"/>
                <a:cs typeface="Noto Sans KR DemiLight" pitchFamily="34" charset="-120"/>
              </a:rPr>
              <a:t>CRITICAL이면 이미 만든 답변도 버립니다. </a:t>
            </a:r>
            <a:pPr indent="0" marL="0">
              <a:lnSpc>
                <a:spcPct val="125000"/>
              </a:lnSpc>
              <a:buNone/>
            </a:pPr>
            <a:r>
              <a:rPr lang="en-US" sz="1150" dirty="0">
                <a:solidFill>
                  <a:srgbClr val="6E7488"/>
                </a:solidFill>
                <a:latin typeface="Noto Sans KR DemiLight" pitchFamily="34" charset="0"/>
                <a:ea typeface="Noto Sans KR DemiLight" pitchFamily="34" charset="-122"/>
                <a:cs typeface="Noto Sans KR DemiLight" pitchFamily="34" charset="-120"/>
              </a:rPr>
              <a:t>위기 판정과 응답 생성을 동시에 돌리지만, CRITICAL이면 만들어 둔 응답을 버립니다. 그래서 스트리밍을 쓰지 않습니다. 판정 전에 흘려보낸 글자는 되돌릴 수 없습니다.</a:t>
            </a:r>
            <a:endParaRPr lang="en-US" sz="1150" dirty="0"/>
          </a:p>
        </p:txBody>
      </p:sp>
      <p:sp>
        <p:nvSpPr>
          <p:cNvPr id="24" name="Text 19"/>
          <p:cNvSpPr/>
          <p:nvPr/>
        </p:nvSpPr>
        <p:spPr>
          <a:xfrm>
            <a:off x="868680" y="5504688"/>
            <a:ext cx="104241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5000"/>
              </a:lnSpc>
              <a:buNone/>
            </a:pPr>
            <a:r>
              <a:rPr lang="en-US" sz="1150" b="1" dirty="0">
                <a:solidFill>
                  <a:srgbClr val="24325F"/>
                </a:solidFill>
                <a:latin typeface="Noto Sans KR DemiLight" pitchFamily="34" charset="0"/>
                <a:ea typeface="Noto Sans KR DemiLight" pitchFamily="34" charset="-122"/>
                <a:cs typeface="Noto Sans KR DemiLight" pitchFamily="34" charset="-120"/>
              </a:rPr>
              <a:t>경고색은 쓰지 않습니다. </a:t>
            </a:r>
            <a:pPr indent="0" marL="0">
              <a:lnSpc>
                <a:spcPct val="125000"/>
              </a:lnSpc>
              <a:buNone/>
            </a:pPr>
            <a:r>
              <a:rPr lang="en-US" sz="1150" dirty="0">
                <a:solidFill>
                  <a:srgbClr val="6E7488"/>
                </a:solidFill>
                <a:latin typeface="Noto Sans KR DemiLight" pitchFamily="34" charset="0"/>
                <a:ea typeface="Noto Sans KR DemiLight" pitchFamily="34" charset="-122"/>
                <a:cs typeface="Noto Sans KR DemiLight" pitchFamily="34" charset="-120"/>
              </a:rPr>
              <a:t>빨강·주황은 불안을 키워 회피를 부릅니다.   </a:t>
            </a:r>
            <a:pPr indent="0" marL="0">
              <a:lnSpc>
                <a:spcPct val="125000"/>
              </a:lnSpc>
              <a:buNone/>
            </a:pPr>
            <a:r>
              <a:rPr lang="en-US" sz="1150" b="1" dirty="0">
                <a:solidFill>
                  <a:srgbClr val="24325F"/>
                </a:solidFill>
                <a:latin typeface="Noto Sans KR DemiLight" pitchFamily="34" charset="0"/>
                <a:ea typeface="Noto Sans KR DemiLight" pitchFamily="34" charset="-122"/>
                <a:cs typeface="Noto Sans KR DemiLight" pitchFamily="34" charset="-120"/>
              </a:rPr>
              <a:t>데이터가 없다고 "정상"이라 하지도 않습니다. </a:t>
            </a:r>
            <a:pPr indent="0" marL="0">
              <a:lnSpc>
                <a:spcPct val="125000"/>
              </a:lnSpc>
              <a:buNone/>
            </a:pPr>
            <a:r>
              <a:rPr lang="en-US" sz="1150" dirty="0">
                <a:solidFill>
                  <a:srgbClr val="6E7488"/>
                </a:solidFill>
                <a:latin typeface="Noto Sans KR DemiLight" pitchFamily="34" charset="0"/>
                <a:ea typeface="Noto Sans KR DemiLight" pitchFamily="34" charset="-122"/>
                <a:cs typeface="Noto Sans KR DemiLight" pitchFamily="34" charset="-120"/>
              </a:rPr>
              <a:t>3일 미만이면 422로 끊습니다. 편차 0을 정상으로 적재하면 위험을 놓칩니다.</a:t>
            </a:r>
            <a:endParaRPr lang="en-US" sz="1150" dirty="0"/>
          </a:p>
        </p:txBody>
      </p:sp>
      <p:sp>
        <p:nvSpPr>
          <p:cNvPr id="25" name="Text 20"/>
          <p:cNvSpPr/>
          <p:nvPr/>
        </p:nvSpPr>
        <p:spPr>
          <a:xfrm>
            <a:off x="11277295" y="6355080"/>
            <a:ext cx="54864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B7BCCB"/>
                </a:solidFill>
                <a:latin typeface="Noto Sans KR DemiLight" pitchFamily="34" charset="0"/>
                <a:ea typeface="Noto Sans KR DemiLight" pitchFamily="34" charset="-122"/>
                <a:cs typeface="Noto Sans KR DemiLight" pitchFamily="34" charset="-120"/>
              </a:rPr>
              <a:t>09</a:t>
            </a:r>
            <a:endParaRPr lang="en-US" sz="1000" dirty="0"/>
          </a:p>
        </p:txBody>
      </p:sp>
      <p:sp>
        <p:nvSpPr>
          <p:cNvPr id="26" name="Text 21"/>
          <p:cNvSpPr/>
          <p:nvPr/>
        </p:nvSpPr>
        <p:spPr>
          <a:xfrm>
            <a:off x="548640" y="6355080"/>
            <a:ext cx="36576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B7BCCB"/>
                </a:solidFill>
                <a:latin typeface="Noto Sans KR DemiLight" pitchFamily="34" charset="0"/>
                <a:ea typeface="Noto Sans KR DemiLight" pitchFamily="34" charset="-122"/>
                <a:cs typeface="Noto Sans KR DemiLight" pitchFamily="34" charset="-120"/>
              </a:rPr>
              <a:t>귀기울임 LISN</a:t>
            </a:r>
            <a:endParaRPr lang="en-US" sz="10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1B254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10088575" y="5120640"/>
            <a:ext cx="1280160" cy="1280160"/>
          </a:xfrm>
          <a:prstGeom prst="ellipse">
            <a:avLst/>
          </a:prstGeom>
          <a:ln w="15240">
            <a:solidFill>
              <a:srgbClr val="8A9CF0">
                <a:alpha val="45000"/>
              </a:srgbClr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9402775" y="4434840"/>
            <a:ext cx="2651760" cy="2651760"/>
          </a:xfrm>
          <a:prstGeom prst="ellipse">
            <a:avLst/>
          </a:prstGeom>
          <a:ln w="15240">
            <a:solidFill>
              <a:srgbClr val="8A9CF0">
                <a:alpha val="33000"/>
              </a:srgbClr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8716975" y="3749040"/>
            <a:ext cx="4023360" cy="4023360"/>
          </a:xfrm>
          <a:prstGeom prst="ellipse">
            <a:avLst/>
          </a:prstGeom>
          <a:ln w="15240">
            <a:solidFill>
              <a:srgbClr val="8A9CF0">
                <a:alpha val="21000"/>
              </a:srgbClr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8031175" y="3063240"/>
            <a:ext cx="5394960" cy="5394960"/>
          </a:xfrm>
          <a:prstGeom prst="ellipse">
            <a:avLst/>
          </a:prstGeom>
          <a:ln w="15240">
            <a:solidFill>
              <a:srgbClr val="8A9CF0">
                <a:alpha val="10000"/>
              </a:srgbClr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10646359" y="5678424"/>
            <a:ext cx="164592" cy="164592"/>
          </a:xfrm>
          <a:prstGeom prst="ellipse">
            <a:avLst/>
          </a:prstGeom>
          <a:solidFill>
            <a:srgbClr val="8A9CF0"/>
          </a:solidFill>
          <a:ln/>
        </p:spPr>
      </p:sp>
      <p:sp>
        <p:nvSpPr>
          <p:cNvPr id="7" name="Shape 5"/>
          <p:cNvSpPr/>
          <p:nvPr/>
        </p:nvSpPr>
        <p:spPr>
          <a:xfrm>
            <a:off x="822960" y="2514600"/>
            <a:ext cx="1371600" cy="1371600"/>
          </a:xfrm>
          <a:prstGeom prst="ellipse">
            <a:avLst/>
          </a:prstGeom>
          <a:solidFill>
            <a:srgbClr val="5A6BE0"/>
          </a:solidFill>
          <a:ln/>
        </p:spPr>
      </p:sp>
      <p:sp>
        <p:nvSpPr>
          <p:cNvPr id="8" name="Text 6"/>
          <p:cNvSpPr/>
          <p:nvPr/>
        </p:nvSpPr>
        <p:spPr>
          <a:xfrm>
            <a:off x="822960" y="2514600"/>
            <a:ext cx="137160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000" b="1" dirty="0">
                <a:solidFill>
                  <a:srgbClr val="FFFFFF"/>
                </a:solidFill>
                <a:latin typeface="Noto Sans KR Black" pitchFamily="34" charset="0"/>
                <a:ea typeface="Noto Sans KR Black" pitchFamily="34" charset="-122"/>
                <a:cs typeface="Noto Sans KR Black" pitchFamily="34" charset="-120"/>
              </a:rPr>
              <a:t>03</a:t>
            </a:r>
            <a:endParaRPr lang="en-US" sz="3000" dirty="0"/>
          </a:p>
        </p:txBody>
      </p:sp>
      <p:sp>
        <p:nvSpPr>
          <p:cNvPr id="9" name="Text 7"/>
          <p:cNvSpPr/>
          <p:nvPr/>
        </p:nvSpPr>
        <p:spPr>
          <a:xfrm>
            <a:off x="2514600" y="2651760"/>
            <a:ext cx="7315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8A9CF0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RESULTS &amp; NEXT STEPS</a:t>
            </a:r>
            <a:endParaRPr lang="en-US" sz="1200" dirty="0"/>
          </a:p>
        </p:txBody>
      </p:sp>
      <p:sp>
        <p:nvSpPr>
          <p:cNvPr id="10" name="Text 8"/>
          <p:cNvSpPr/>
          <p:nvPr/>
        </p:nvSpPr>
        <p:spPr>
          <a:xfrm>
            <a:off x="2514600" y="3017520"/>
            <a:ext cx="86868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FFFFFF"/>
                </a:solidFill>
                <a:latin typeface="Noto Sans KR Black" pitchFamily="34" charset="0"/>
                <a:ea typeface="Noto Sans KR Black" pitchFamily="34" charset="-122"/>
                <a:cs typeface="Noto Sans KR Black" pitchFamily="34" charset="-120"/>
              </a:rPr>
              <a:t>성과와 확장</a:t>
            </a:r>
            <a:endParaRPr lang="en-US" sz="3400" dirty="0"/>
          </a:p>
        </p:txBody>
      </p:sp>
      <p:sp>
        <p:nvSpPr>
          <p:cNvPr id="11" name="Text 9"/>
          <p:cNvSpPr/>
          <p:nvPr/>
        </p:nvSpPr>
        <p:spPr>
          <a:xfrm>
            <a:off x="11277295" y="6355080"/>
            <a:ext cx="54864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A9B3D6"/>
                </a:solidFill>
                <a:latin typeface="Noto Sans KR DemiLight" pitchFamily="34" charset="0"/>
                <a:ea typeface="Noto Sans KR DemiLight" pitchFamily="34" charset="-122"/>
                <a:cs typeface="Noto Sans KR DemiLight" pitchFamily="34" charset="-120"/>
              </a:rPr>
              <a:t>10</a:t>
            </a:r>
            <a:endParaRPr lang="en-US" sz="1000" dirty="0"/>
          </a:p>
        </p:txBody>
      </p:sp>
      <p:sp>
        <p:nvSpPr>
          <p:cNvPr id="12" name="Text 10"/>
          <p:cNvSpPr/>
          <p:nvPr/>
        </p:nvSpPr>
        <p:spPr>
          <a:xfrm>
            <a:off x="548640" y="6355080"/>
            <a:ext cx="36576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A9B3D6"/>
                </a:solidFill>
                <a:latin typeface="Noto Sans KR DemiLight" pitchFamily="34" charset="0"/>
                <a:ea typeface="Noto Sans KR DemiLight" pitchFamily="34" charset="-122"/>
                <a:cs typeface="Noto Sans KR DemiLight" pitchFamily="34" charset="-120"/>
              </a:rPr>
              <a:t>귀기울임 LISN</a:t>
            </a:r>
            <a:endParaRPr lang="en-US" sz="10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1B254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84048"/>
            <a:ext cx="73152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8A9CF0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RESULTS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548640" y="658368"/>
            <a:ext cx="1115568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실측으로 증명된 수치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548640" y="1783080"/>
            <a:ext cx="2651760" cy="1481328"/>
          </a:xfrm>
          <a:prstGeom prst="roundRect">
            <a:avLst>
              <a:gd name="adj" fmla="val 5556"/>
            </a:avLst>
          </a:prstGeom>
          <a:solidFill>
            <a:srgbClr val="1E2A54"/>
          </a:solidFill>
          <a:ln/>
        </p:spPr>
      </p:sp>
      <p:sp>
        <p:nvSpPr>
          <p:cNvPr id="5" name="Text 3"/>
          <p:cNvSpPr/>
          <p:nvPr/>
        </p:nvSpPr>
        <p:spPr>
          <a:xfrm>
            <a:off x="749808" y="1911096"/>
            <a:ext cx="228600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0.946</a:t>
            </a:r>
            <a:endParaRPr lang="en-US" sz="2400" dirty="0"/>
          </a:p>
        </p:txBody>
      </p:sp>
      <p:sp>
        <p:nvSpPr>
          <p:cNvPr id="6" name="Text 4"/>
          <p:cNvSpPr/>
          <p:nvPr/>
        </p:nvSpPr>
        <p:spPr>
          <a:xfrm>
            <a:off x="749808" y="2551176"/>
            <a:ext cx="228600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900" dirty="0">
                <a:solidFill>
                  <a:srgbClr val="A9B3D6"/>
                </a:solidFill>
                <a:latin typeface="Noto Sans KR DemiLight" pitchFamily="34" charset="0"/>
                <a:ea typeface="Noto Sans KR DemiLight" pitchFamily="34" charset="-122"/>
                <a:cs typeface="Noto Sans KR DemiLight" pitchFamily="34" charset="-120"/>
              </a:rPr>
              <a:t>위기 판정 재현율</a:t>
            </a:r>
            <a:endParaRPr lang="en-US" sz="900" dirty="0"/>
          </a:p>
        </p:txBody>
      </p:sp>
      <p:sp>
        <p:nvSpPr>
          <p:cNvPr id="7" name="Shape 5"/>
          <p:cNvSpPr/>
          <p:nvPr/>
        </p:nvSpPr>
        <p:spPr>
          <a:xfrm>
            <a:off x="3374136" y="1783080"/>
            <a:ext cx="2651760" cy="1481328"/>
          </a:xfrm>
          <a:prstGeom prst="roundRect">
            <a:avLst>
              <a:gd name="adj" fmla="val 5556"/>
            </a:avLst>
          </a:prstGeom>
          <a:solidFill>
            <a:srgbClr val="1E2A54"/>
          </a:solidFill>
          <a:ln/>
        </p:spPr>
      </p:sp>
      <p:sp>
        <p:nvSpPr>
          <p:cNvPr id="8" name="Text 6"/>
          <p:cNvSpPr/>
          <p:nvPr/>
        </p:nvSpPr>
        <p:spPr>
          <a:xfrm>
            <a:off x="3575304" y="1911096"/>
            <a:ext cx="228600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0.921</a:t>
            </a:r>
            <a:endParaRPr lang="en-US" sz="2400" dirty="0"/>
          </a:p>
        </p:txBody>
      </p:sp>
      <p:sp>
        <p:nvSpPr>
          <p:cNvPr id="9" name="Text 7"/>
          <p:cNvSpPr/>
          <p:nvPr/>
        </p:nvSpPr>
        <p:spPr>
          <a:xfrm>
            <a:off x="3575304" y="2551176"/>
            <a:ext cx="228600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900" dirty="0">
                <a:solidFill>
                  <a:srgbClr val="A9B3D6"/>
                </a:solidFill>
                <a:latin typeface="Noto Sans KR DemiLight" pitchFamily="34" charset="0"/>
                <a:ea typeface="Noto Sans KR DemiLight" pitchFamily="34" charset="-122"/>
                <a:cs typeface="Noto Sans KR DemiLight" pitchFamily="34" charset="-120"/>
              </a:rPr>
              <a:t>위기 판정 정밀도</a:t>
            </a:r>
            <a:endParaRPr lang="en-US" sz="900" dirty="0"/>
          </a:p>
        </p:txBody>
      </p:sp>
      <p:sp>
        <p:nvSpPr>
          <p:cNvPr id="10" name="Shape 8"/>
          <p:cNvSpPr/>
          <p:nvPr/>
        </p:nvSpPr>
        <p:spPr>
          <a:xfrm>
            <a:off x="6199632" y="1783080"/>
            <a:ext cx="2651760" cy="1481328"/>
          </a:xfrm>
          <a:prstGeom prst="roundRect">
            <a:avLst>
              <a:gd name="adj" fmla="val 5556"/>
            </a:avLst>
          </a:prstGeom>
          <a:solidFill>
            <a:srgbClr val="1E2A54"/>
          </a:solidFill>
          <a:ln/>
        </p:spPr>
      </p:sp>
      <p:sp>
        <p:nvSpPr>
          <p:cNvPr id="11" name="Text 9"/>
          <p:cNvSpPr/>
          <p:nvPr/>
        </p:nvSpPr>
        <p:spPr>
          <a:xfrm>
            <a:off x="6400800" y="1911096"/>
            <a:ext cx="228600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0.933</a:t>
            </a:r>
            <a:endParaRPr lang="en-US" sz="2400" dirty="0"/>
          </a:p>
        </p:txBody>
      </p:sp>
      <p:sp>
        <p:nvSpPr>
          <p:cNvPr id="12" name="Text 10"/>
          <p:cNvSpPr/>
          <p:nvPr/>
        </p:nvSpPr>
        <p:spPr>
          <a:xfrm>
            <a:off x="6400800" y="2551176"/>
            <a:ext cx="228600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900" dirty="0">
                <a:solidFill>
                  <a:srgbClr val="A9B3D6"/>
                </a:solidFill>
                <a:latin typeface="Noto Sans KR DemiLight" pitchFamily="34" charset="0"/>
                <a:ea typeface="Noto Sans KR DemiLight" pitchFamily="34" charset="-122"/>
                <a:cs typeface="Noto Sans KR DemiLight" pitchFamily="34" charset="-120"/>
              </a:rPr>
              <a:t>위기 판정 F1-Score</a:t>
            </a:r>
            <a:endParaRPr lang="en-US" sz="900" dirty="0"/>
          </a:p>
        </p:txBody>
      </p:sp>
      <p:sp>
        <p:nvSpPr>
          <p:cNvPr id="13" name="Shape 11"/>
          <p:cNvSpPr/>
          <p:nvPr/>
        </p:nvSpPr>
        <p:spPr>
          <a:xfrm>
            <a:off x="9025128" y="1783080"/>
            <a:ext cx="2651760" cy="1481328"/>
          </a:xfrm>
          <a:prstGeom prst="roundRect">
            <a:avLst>
              <a:gd name="adj" fmla="val 5556"/>
            </a:avLst>
          </a:prstGeom>
          <a:solidFill>
            <a:srgbClr val="1E2A54"/>
          </a:solidFill>
          <a:ln/>
        </p:spPr>
      </p:sp>
      <p:sp>
        <p:nvSpPr>
          <p:cNvPr id="14" name="Text 12"/>
          <p:cNvSpPr/>
          <p:nvPr/>
        </p:nvSpPr>
        <p:spPr>
          <a:xfrm>
            <a:off x="9226296" y="1911096"/>
            <a:ext cx="228600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211건</a:t>
            </a:r>
            <a:endParaRPr lang="en-US" sz="2400" dirty="0"/>
          </a:p>
        </p:txBody>
      </p:sp>
      <p:sp>
        <p:nvSpPr>
          <p:cNvPr id="15" name="Text 13"/>
          <p:cNvSpPr/>
          <p:nvPr/>
        </p:nvSpPr>
        <p:spPr>
          <a:xfrm>
            <a:off x="9226296" y="2551176"/>
            <a:ext cx="228600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900" dirty="0">
                <a:solidFill>
                  <a:srgbClr val="A9B3D6"/>
                </a:solidFill>
                <a:latin typeface="Noto Sans KR DemiLight" pitchFamily="34" charset="0"/>
                <a:ea typeface="Noto Sans KR DemiLight" pitchFamily="34" charset="-122"/>
                <a:cs typeface="Noto Sans KR DemiLight" pitchFamily="34" charset="-120"/>
              </a:rPr>
              <a:t>자체 평가셋 · 위기 111 · 비위기 100</a:t>
            </a:r>
            <a:endParaRPr lang="en-US" sz="900" dirty="0"/>
          </a:p>
          <a:p>
            <a:pPr indent="0" marL="0">
              <a:lnSpc>
                <a:spcPct val="120000"/>
              </a:lnSpc>
              <a:buNone/>
            </a:pPr>
            <a:r>
              <a:rPr lang="en-US" sz="900" dirty="0">
                <a:solidFill>
                  <a:srgbClr val="A9B3D6"/>
                </a:solidFill>
                <a:latin typeface="Noto Sans KR DemiLight" pitchFamily="34" charset="0"/>
                <a:ea typeface="Noto Sans KR DemiLight" pitchFamily="34" charset="-122"/>
                <a:cs typeface="Noto Sans KR DemiLight" pitchFamily="34" charset="-120"/>
              </a:rPr>
              <a:t>2인 교차 라벨링</a:t>
            </a:r>
            <a:endParaRPr lang="en-US" sz="900" dirty="0"/>
          </a:p>
        </p:txBody>
      </p:sp>
      <p:sp>
        <p:nvSpPr>
          <p:cNvPr id="16" name="Shape 14"/>
          <p:cNvSpPr/>
          <p:nvPr/>
        </p:nvSpPr>
        <p:spPr>
          <a:xfrm>
            <a:off x="548640" y="3465576"/>
            <a:ext cx="2651760" cy="1481328"/>
          </a:xfrm>
          <a:prstGeom prst="roundRect">
            <a:avLst>
              <a:gd name="adj" fmla="val 5556"/>
            </a:avLst>
          </a:prstGeom>
          <a:solidFill>
            <a:srgbClr val="1E2A54"/>
          </a:solidFill>
          <a:ln/>
        </p:spPr>
      </p:sp>
      <p:sp>
        <p:nvSpPr>
          <p:cNvPr id="17" name="Text 15"/>
          <p:cNvSpPr/>
          <p:nvPr/>
        </p:nvSpPr>
        <p:spPr>
          <a:xfrm>
            <a:off x="749808" y="3593592"/>
            <a:ext cx="228600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34개</a:t>
            </a:r>
            <a:endParaRPr lang="en-US" sz="2400" dirty="0"/>
          </a:p>
        </p:txBody>
      </p:sp>
      <p:sp>
        <p:nvSpPr>
          <p:cNvPr id="18" name="Text 16"/>
          <p:cNvSpPr/>
          <p:nvPr/>
        </p:nvSpPr>
        <p:spPr>
          <a:xfrm>
            <a:off x="749808" y="4233672"/>
            <a:ext cx="228600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900" dirty="0">
                <a:solidFill>
                  <a:srgbClr val="A9B3D6"/>
                </a:solidFill>
                <a:latin typeface="Noto Sans KR DemiLight" pitchFamily="34" charset="0"/>
                <a:ea typeface="Noto Sans KR DemiLight" pitchFamily="34" charset="-122"/>
                <a:cs typeface="Noto Sans KR DemiLight" pitchFamily="34" charset="-120"/>
              </a:rPr>
              <a:t>백엔드 API 엔드포인트</a:t>
            </a:r>
            <a:endParaRPr lang="en-US" sz="900" dirty="0"/>
          </a:p>
        </p:txBody>
      </p:sp>
      <p:sp>
        <p:nvSpPr>
          <p:cNvPr id="19" name="Shape 17"/>
          <p:cNvSpPr/>
          <p:nvPr/>
        </p:nvSpPr>
        <p:spPr>
          <a:xfrm>
            <a:off x="3374136" y="3465576"/>
            <a:ext cx="2651760" cy="1481328"/>
          </a:xfrm>
          <a:prstGeom prst="roundRect">
            <a:avLst>
              <a:gd name="adj" fmla="val 5556"/>
            </a:avLst>
          </a:prstGeom>
          <a:solidFill>
            <a:srgbClr val="1E2A54"/>
          </a:solidFill>
          <a:ln/>
        </p:spPr>
      </p:sp>
      <p:sp>
        <p:nvSpPr>
          <p:cNvPr id="20" name="Text 18"/>
          <p:cNvSpPr/>
          <p:nvPr/>
        </p:nvSpPr>
        <p:spPr>
          <a:xfrm>
            <a:off x="3575304" y="3593592"/>
            <a:ext cx="228600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9개</a:t>
            </a:r>
            <a:endParaRPr lang="en-US" sz="2400" dirty="0"/>
          </a:p>
        </p:txBody>
      </p:sp>
      <p:sp>
        <p:nvSpPr>
          <p:cNvPr id="21" name="Text 19"/>
          <p:cNvSpPr/>
          <p:nvPr/>
        </p:nvSpPr>
        <p:spPr>
          <a:xfrm>
            <a:off x="3575304" y="4233672"/>
            <a:ext cx="228600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900" dirty="0">
                <a:solidFill>
                  <a:srgbClr val="A9B3D6"/>
                </a:solidFill>
                <a:latin typeface="Noto Sans KR DemiLight" pitchFamily="34" charset="0"/>
                <a:ea typeface="Noto Sans KR DemiLight" pitchFamily="34" charset="-122"/>
                <a:cs typeface="Noto Sans KR DemiLight" pitchFamily="34" charset="-120"/>
              </a:rPr>
              <a:t>DB 테이블 · UUID·TIMESTAMPTZ</a:t>
            </a:r>
            <a:endParaRPr lang="en-US" sz="900" dirty="0"/>
          </a:p>
        </p:txBody>
      </p:sp>
      <p:sp>
        <p:nvSpPr>
          <p:cNvPr id="22" name="Shape 20"/>
          <p:cNvSpPr/>
          <p:nvPr/>
        </p:nvSpPr>
        <p:spPr>
          <a:xfrm>
            <a:off x="6199632" y="3465576"/>
            <a:ext cx="2651760" cy="1481328"/>
          </a:xfrm>
          <a:prstGeom prst="roundRect">
            <a:avLst>
              <a:gd name="adj" fmla="val 5556"/>
            </a:avLst>
          </a:prstGeom>
          <a:solidFill>
            <a:srgbClr val="1E2A54"/>
          </a:solidFill>
          <a:ln/>
        </p:spPr>
      </p:sp>
      <p:sp>
        <p:nvSpPr>
          <p:cNvPr id="23" name="Text 21"/>
          <p:cNvSpPr/>
          <p:nvPr/>
        </p:nvSpPr>
        <p:spPr>
          <a:xfrm>
            <a:off x="6400800" y="3593592"/>
            <a:ext cx="228600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332건</a:t>
            </a:r>
            <a:endParaRPr lang="en-US" sz="2400" dirty="0"/>
          </a:p>
        </p:txBody>
      </p:sp>
      <p:sp>
        <p:nvSpPr>
          <p:cNvPr id="24" name="Text 22"/>
          <p:cNvSpPr/>
          <p:nvPr/>
        </p:nvSpPr>
        <p:spPr>
          <a:xfrm>
            <a:off x="6400800" y="4233672"/>
            <a:ext cx="228600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900" dirty="0">
                <a:solidFill>
                  <a:srgbClr val="A9B3D6"/>
                </a:solidFill>
                <a:latin typeface="Noto Sans KR DemiLight" pitchFamily="34" charset="0"/>
                <a:ea typeface="Noto Sans KR DemiLight" pitchFamily="34" charset="-122"/>
                <a:cs typeface="Noto Sans KR DemiLight" pitchFamily="34" charset="-120"/>
              </a:rPr>
              <a:t>회귀 테스트</a:t>
            </a:r>
            <a:endParaRPr lang="en-US" sz="900" dirty="0"/>
          </a:p>
          <a:p>
            <a:pPr indent="0" marL="0">
              <a:lnSpc>
                <a:spcPct val="120000"/>
              </a:lnSpc>
              <a:buNone/>
            </a:pPr>
            <a:r>
              <a:rPr lang="en-US" sz="900" dirty="0">
                <a:solidFill>
                  <a:srgbClr val="A9B3D6"/>
                </a:solidFill>
                <a:latin typeface="Noto Sans KR DemiLight" pitchFamily="34" charset="0"/>
                <a:ea typeface="Noto Sans KR DemiLight" pitchFamily="34" charset="-122"/>
                <a:cs typeface="Noto Sans KR DemiLight" pitchFamily="34" charset="-120"/>
              </a:rPr>
              <a:t>백엔드 131 · AI 22 · 앱 165 · 관리자 14</a:t>
            </a:r>
            <a:endParaRPr lang="en-US" sz="900" dirty="0"/>
          </a:p>
        </p:txBody>
      </p:sp>
      <p:sp>
        <p:nvSpPr>
          <p:cNvPr id="25" name="Shape 23"/>
          <p:cNvSpPr/>
          <p:nvPr/>
        </p:nvSpPr>
        <p:spPr>
          <a:xfrm>
            <a:off x="9025128" y="3465576"/>
            <a:ext cx="2651760" cy="1481328"/>
          </a:xfrm>
          <a:prstGeom prst="roundRect">
            <a:avLst>
              <a:gd name="adj" fmla="val 5556"/>
            </a:avLst>
          </a:prstGeom>
          <a:solidFill>
            <a:srgbClr val="1E2A54"/>
          </a:solidFill>
          <a:ln/>
        </p:spPr>
      </p:sp>
      <p:sp>
        <p:nvSpPr>
          <p:cNvPr id="26" name="Text 24"/>
          <p:cNvSpPr/>
          <p:nvPr/>
        </p:nvSpPr>
        <p:spPr>
          <a:xfrm>
            <a:off x="9226296" y="3593592"/>
            <a:ext cx="228600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2052ms</a:t>
            </a:r>
            <a:endParaRPr lang="en-US" sz="2400" dirty="0"/>
          </a:p>
        </p:txBody>
      </p:sp>
      <p:sp>
        <p:nvSpPr>
          <p:cNvPr id="27" name="Text 25"/>
          <p:cNvSpPr/>
          <p:nvPr/>
        </p:nvSpPr>
        <p:spPr>
          <a:xfrm>
            <a:off x="9226296" y="4233672"/>
            <a:ext cx="228600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900" dirty="0">
                <a:solidFill>
                  <a:srgbClr val="A9B3D6"/>
                </a:solidFill>
                <a:latin typeface="Noto Sans KR DemiLight" pitchFamily="34" charset="0"/>
                <a:ea typeface="Noto Sans KR DemiLight" pitchFamily="34" charset="-122"/>
                <a:cs typeface="Noto Sans KR DemiLight" pitchFamily="34" charset="-120"/>
              </a:rPr>
              <a:t>AI 챗봇 응답 지연 최댓값</a:t>
            </a:r>
            <a:endParaRPr lang="en-US" sz="900" dirty="0"/>
          </a:p>
          <a:p>
            <a:pPr indent="0" marL="0">
              <a:lnSpc>
                <a:spcPct val="120000"/>
              </a:lnSpc>
              <a:buNone/>
            </a:pPr>
            <a:r>
              <a:rPr lang="en-US" sz="900" dirty="0">
                <a:solidFill>
                  <a:srgbClr val="A9B3D6"/>
                </a:solidFill>
                <a:latin typeface="Noto Sans KR DemiLight" pitchFamily="34" charset="0"/>
                <a:ea typeface="Noto Sans KR DemiLight" pitchFamily="34" charset="-122"/>
                <a:cs typeface="Noto Sans KR DemiLight" pitchFamily="34" charset="-120"/>
              </a:rPr>
              <a:t>(예산 3000ms)</a:t>
            </a:r>
            <a:endParaRPr lang="en-US" sz="900" dirty="0"/>
          </a:p>
        </p:txBody>
      </p:sp>
      <p:sp>
        <p:nvSpPr>
          <p:cNvPr id="28" name="Shape 26"/>
          <p:cNvSpPr/>
          <p:nvPr/>
        </p:nvSpPr>
        <p:spPr>
          <a:xfrm>
            <a:off x="548640" y="5212080"/>
            <a:ext cx="11064240" cy="658368"/>
          </a:xfrm>
          <a:prstGeom prst="roundRect">
            <a:avLst>
              <a:gd name="adj" fmla="val 12500"/>
            </a:avLst>
          </a:prstGeom>
          <a:solidFill>
            <a:srgbClr val="1E2A54"/>
          </a:solidFill>
          <a:ln/>
        </p:spPr>
      </p:sp>
      <p:sp>
        <p:nvSpPr>
          <p:cNvPr id="29" name="Text 27"/>
          <p:cNvSpPr/>
          <p:nvPr/>
        </p:nvSpPr>
        <p:spPr>
          <a:xfrm>
            <a:off x="868680" y="5212080"/>
            <a:ext cx="1042416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FFFFFF"/>
                </a:solidFill>
                <a:latin typeface="Noto Sans KR DemiLight" pitchFamily="34" charset="0"/>
                <a:ea typeface="Noto Sans KR DemiLight" pitchFamily="34" charset="-122"/>
                <a:cs typeface="Noto Sans KR DemiLight" pitchFamily="34" charset="-120"/>
              </a:rPr>
              <a:t>실서버 관통 점검 </a:t>
            </a:r>
            <a:pPr indent="0" marL="0">
              <a:buNone/>
            </a:pPr>
            <a:r>
              <a:rPr lang="en-US" sz="1050" dirty="0">
                <a:solidFill>
                  <a:srgbClr val="A9B3D6"/>
                </a:solidFill>
                <a:latin typeface="Noto Sans KR DemiLight" pitchFamily="34" charset="0"/>
                <a:ea typeface="Noto Sans KR DemiLight" pitchFamily="34" charset="-122"/>
                <a:cs typeface="Noto Sans KR DemiLight" pitchFamily="34" charset="-120"/>
              </a:rPr>
              <a:t>13건 수정 뒤 실패 0건    ·    </a:t>
            </a:r>
            <a:pPr indent="0" marL="0">
              <a:buNone/>
            </a:pPr>
            <a:r>
              <a:rPr lang="en-US" sz="1050" b="1" dirty="0">
                <a:solidFill>
                  <a:srgbClr val="FFFFFF"/>
                </a:solidFill>
                <a:latin typeface="Noto Sans KR DemiLight" pitchFamily="34" charset="0"/>
                <a:ea typeface="Noto Sans KR DemiLight" pitchFamily="34" charset="-122"/>
                <a:cs typeface="Noto Sans KR DemiLight" pitchFamily="34" charset="-120"/>
              </a:rPr>
              <a:t>문서 검사기 4종 </a:t>
            </a:r>
            <a:pPr indent="0" marL="0">
              <a:buNone/>
            </a:pPr>
            <a:r>
              <a:rPr lang="en-US" sz="1050" dirty="0">
                <a:solidFill>
                  <a:srgbClr val="A9B3D6"/>
                </a:solidFill>
                <a:latin typeface="Noto Sans KR DemiLight" pitchFamily="34" charset="0"/>
                <a:ea typeface="Noto Sans KR DemiLight" pitchFamily="34" charset="-122"/>
                <a:cs typeface="Noto Sans KR DemiLight" pitchFamily="34" charset="-120"/>
              </a:rPr>
              <a:t>— 같은 수치가 문서마다 갈리는 것을 사람이 세지 않고 기계가 대조    ·    </a:t>
            </a:r>
            <a:pPr indent="0" marL="0">
              <a:buNone/>
            </a:pPr>
            <a:r>
              <a:rPr lang="en-US" sz="1050" b="1" dirty="0">
                <a:solidFill>
                  <a:srgbClr val="FFFFFF"/>
                </a:solidFill>
                <a:latin typeface="Noto Sans KR DemiLight" pitchFamily="34" charset="0"/>
                <a:ea typeface="Noto Sans KR DemiLight" pitchFamily="34" charset="-122"/>
                <a:cs typeface="Noto Sans KR DemiLight" pitchFamily="34" charset="-120"/>
              </a:rPr>
              <a:t>db/schema.sql 정본 </a:t>
            </a:r>
            <a:pPr indent="0" marL="0">
              <a:buNone/>
            </a:pPr>
            <a:r>
              <a:rPr lang="en-US" sz="1050" dirty="0">
                <a:solidFill>
                  <a:srgbClr val="A9B3D6"/>
                </a:solidFill>
                <a:latin typeface="Noto Sans KR DemiLight" pitchFamily="34" charset="0"/>
                <a:ea typeface="Noto Sans KR DemiLight" pitchFamily="34" charset="-122"/>
                <a:cs typeface="Noto Sans KR DemiLight" pitchFamily="34" charset="-120"/>
              </a:rPr>
              <a:t>— 드리프트 테스트가 모델과 어긋나면 실패</a:t>
            </a:r>
            <a:endParaRPr lang="en-US" sz="1050" dirty="0"/>
          </a:p>
        </p:txBody>
      </p:sp>
      <p:sp>
        <p:nvSpPr>
          <p:cNvPr id="30" name="Text 28"/>
          <p:cNvSpPr/>
          <p:nvPr/>
        </p:nvSpPr>
        <p:spPr>
          <a:xfrm>
            <a:off x="548640" y="5943600"/>
            <a:ext cx="1106424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i="1" dirty="0">
                <a:solidFill>
                  <a:srgbClr val="8891BE"/>
                </a:solidFill>
                <a:latin typeface="Noto Sans KR DemiLight" pitchFamily="34" charset="0"/>
                <a:ea typeface="Noto Sans KR DemiLight" pitchFamily="34" charset="-122"/>
                <a:cs typeface="Noto Sans KR DemiLight" pitchFamily="34" charset="-120"/>
              </a:rPr>
              <a:t>※ 재현율은 8/05 0.793 → 8/12 0.946 — 팀이 확정한 라벨 기준을 프롬프트에 반영하고, 판정 모델을 gpt-5.6 → gpt-5.4로 교체(미탐 23 → 6건, 지연 최댓값 절반 이하)</a:t>
            </a:r>
            <a:endParaRPr lang="en-US" sz="950" dirty="0"/>
          </a:p>
        </p:txBody>
      </p:sp>
      <p:sp>
        <p:nvSpPr>
          <p:cNvPr id="31" name="Text 29"/>
          <p:cNvSpPr/>
          <p:nvPr/>
        </p:nvSpPr>
        <p:spPr>
          <a:xfrm>
            <a:off x="11277295" y="6355080"/>
            <a:ext cx="54864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A9B3D6"/>
                </a:solidFill>
                <a:latin typeface="Noto Sans KR DemiLight" pitchFamily="34" charset="0"/>
                <a:ea typeface="Noto Sans KR DemiLight" pitchFamily="34" charset="-122"/>
                <a:cs typeface="Noto Sans KR DemiLight" pitchFamily="34" charset="-120"/>
              </a:rPr>
              <a:t>11</a:t>
            </a:r>
            <a:endParaRPr lang="en-US" sz="1000" dirty="0"/>
          </a:p>
        </p:txBody>
      </p:sp>
      <p:sp>
        <p:nvSpPr>
          <p:cNvPr id="32" name="Text 30"/>
          <p:cNvSpPr/>
          <p:nvPr/>
        </p:nvSpPr>
        <p:spPr>
          <a:xfrm>
            <a:off x="548640" y="6355080"/>
            <a:ext cx="36576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A9B3D6"/>
                </a:solidFill>
                <a:latin typeface="Noto Sans KR DemiLight" pitchFamily="34" charset="0"/>
                <a:ea typeface="Noto Sans KR DemiLight" pitchFamily="34" charset="-122"/>
                <a:cs typeface="Noto Sans KR DemiLight" pitchFamily="34" charset="-120"/>
              </a:rPr>
              <a:t>귀기울임 LISN</a:t>
            </a:r>
            <a:endParaRPr lang="en-US" sz="10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84048"/>
            <a:ext cx="73152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5A6BE0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ADMIN CONSOLE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548640" y="658368"/>
            <a:ext cx="1115568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24325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위험한 사람부터 보이는 관제 화면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493776" y="1865376"/>
            <a:ext cx="6967728" cy="4398264"/>
          </a:xfrm>
          <a:prstGeom prst="roundRect">
            <a:avLst>
              <a:gd name="adj" fmla="val 2079"/>
            </a:avLst>
          </a:prstGeom>
          <a:solidFill>
            <a:srgbClr val="FFFFFF"/>
          </a:solidFill>
          <a:ln w="12700">
            <a:solidFill>
              <a:srgbClr val="E3E7F3"/>
            </a:solidFill>
            <a:prstDash val="solid"/>
          </a:ln>
          <a:effectLst>
            <a:outerShdw sx="100000" sy="100000" kx="0" ky="0" algn="bl" rotWithShape="0" blurRad="152400" dist="50800" dir="5400000">
              <a:srgbClr val="1B2547">
                <a:alpha val="12000"/>
              </a:srgbClr>
            </a:outerShdw>
          </a:effectLst>
        </p:spPr>
      </p:sp>
      <p:pic>
        <p:nvPicPr>
          <p:cNvPr id="5" name="Image 0" descr="C:\project\LISN\docs\design\ADMIN_DASH_01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1920240"/>
            <a:ext cx="6858000" cy="4286250"/>
          </a:xfrm>
          <a:prstGeom prst="rect">
            <a:avLst/>
          </a:prstGeom>
        </p:spPr>
      </p:pic>
      <p:sp>
        <p:nvSpPr>
          <p:cNvPr id="6" name="Shape 3"/>
          <p:cNvSpPr/>
          <p:nvPr/>
        </p:nvSpPr>
        <p:spPr>
          <a:xfrm>
            <a:off x="7818120" y="1965960"/>
            <a:ext cx="502920" cy="502920"/>
          </a:xfrm>
          <a:prstGeom prst="ellipse">
            <a:avLst/>
          </a:prstGeom>
          <a:solidFill>
            <a:srgbClr val="EAF5FF"/>
          </a:solidFill>
          <a:ln/>
        </p:spPr>
      </p:sp>
      <p:pic>
        <p:nvPicPr>
          <p:cNvPr id="7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943850" y="2091690"/>
            <a:ext cx="251460" cy="251460"/>
          </a:xfrm>
          <a:prstGeom prst="rect">
            <a:avLst/>
          </a:prstGeom>
        </p:spPr>
      </p:pic>
      <p:sp>
        <p:nvSpPr>
          <p:cNvPr id="8" name="Text 4"/>
          <p:cNvSpPr/>
          <p:nvPr/>
        </p:nvSpPr>
        <p:spPr>
          <a:xfrm>
            <a:off x="8503920" y="1947672"/>
            <a:ext cx="31089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24325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위험도 분포</a:t>
            </a:r>
            <a:endParaRPr lang="en-US" sz="1350" dirty="0"/>
          </a:p>
        </p:txBody>
      </p:sp>
      <p:sp>
        <p:nvSpPr>
          <p:cNvPr id="9" name="Text 5"/>
          <p:cNvSpPr/>
          <p:nvPr/>
        </p:nvSpPr>
        <p:spPr>
          <a:xfrm>
            <a:off x="8503920" y="2276856"/>
            <a:ext cx="31089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5000"/>
              </a:lnSpc>
              <a:buNone/>
            </a:pPr>
            <a:r>
              <a:rPr lang="en-US" sz="1050" dirty="0">
                <a:solidFill>
                  <a:srgbClr val="6E7488"/>
                </a:solidFill>
                <a:latin typeface="Noto Sans KR DemiLight" pitchFamily="34" charset="0"/>
                <a:ea typeface="Noto Sans KR DemiLight" pitchFamily="34" charset="-122"/>
                <a:cs typeface="Noto Sans KR DemiLight" pitchFamily="34" charset="-120"/>
              </a:rPr>
              <a:t>안정·주의·심각이 각각 몇 명인지 한눈에 봅니다</a:t>
            </a:r>
            <a:endParaRPr lang="en-US" sz="1050" dirty="0"/>
          </a:p>
        </p:txBody>
      </p:sp>
      <p:sp>
        <p:nvSpPr>
          <p:cNvPr id="10" name="Shape 6"/>
          <p:cNvSpPr/>
          <p:nvPr/>
        </p:nvSpPr>
        <p:spPr>
          <a:xfrm>
            <a:off x="7818120" y="3017520"/>
            <a:ext cx="502920" cy="502920"/>
          </a:xfrm>
          <a:prstGeom prst="ellipse">
            <a:avLst/>
          </a:prstGeom>
          <a:solidFill>
            <a:srgbClr val="EAF5FF"/>
          </a:solidFill>
          <a:ln/>
        </p:spPr>
      </p:sp>
      <p:pic>
        <p:nvPicPr>
          <p:cNvPr id="11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943850" y="3143250"/>
            <a:ext cx="251460" cy="251460"/>
          </a:xfrm>
          <a:prstGeom prst="rect">
            <a:avLst/>
          </a:prstGeom>
        </p:spPr>
      </p:pic>
      <p:sp>
        <p:nvSpPr>
          <p:cNvPr id="12" name="Text 7"/>
          <p:cNvSpPr/>
          <p:nvPr/>
        </p:nvSpPr>
        <p:spPr>
          <a:xfrm>
            <a:off x="8503920" y="2999232"/>
            <a:ext cx="31089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24325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목록 · 검색</a:t>
            </a:r>
            <a:endParaRPr lang="en-US" sz="1350" dirty="0"/>
          </a:p>
        </p:txBody>
      </p:sp>
      <p:sp>
        <p:nvSpPr>
          <p:cNvPr id="13" name="Text 8"/>
          <p:cNvSpPr/>
          <p:nvPr/>
        </p:nvSpPr>
        <p:spPr>
          <a:xfrm>
            <a:off x="8503920" y="3328416"/>
            <a:ext cx="31089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5000"/>
              </a:lnSpc>
              <a:buNone/>
            </a:pPr>
            <a:r>
              <a:rPr lang="en-US" sz="1050" dirty="0">
                <a:solidFill>
                  <a:srgbClr val="6E7488"/>
                </a:solidFill>
                <a:latin typeface="Noto Sans KR DemiLight" pitchFamily="34" charset="0"/>
                <a:ea typeface="Noto Sans KR DemiLight" pitchFamily="34" charset="-122"/>
                <a:cs typeface="Noto Sans KR DemiLight" pitchFamily="34" charset="-120"/>
              </a:rPr>
              <a:t>이름·이메일·상태로 즉시 필터링</a:t>
            </a:r>
            <a:endParaRPr lang="en-US" sz="1050" dirty="0"/>
          </a:p>
        </p:txBody>
      </p:sp>
      <p:sp>
        <p:nvSpPr>
          <p:cNvPr id="14" name="Shape 9"/>
          <p:cNvSpPr/>
          <p:nvPr/>
        </p:nvSpPr>
        <p:spPr>
          <a:xfrm>
            <a:off x="7818120" y="4069080"/>
            <a:ext cx="502920" cy="502920"/>
          </a:xfrm>
          <a:prstGeom prst="ellipse">
            <a:avLst/>
          </a:prstGeom>
          <a:solidFill>
            <a:srgbClr val="EAF5FF"/>
          </a:solidFill>
          <a:ln/>
        </p:spPr>
      </p:sp>
      <p:pic>
        <p:nvPicPr>
          <p:cNvPr id="15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943850" y="4194810"/>
            <a:ext cx="251460" cy="251460"/>
          </a:xfrm>
          <a:prstGeom prst="rect">
            <a:avLst/>
          </a:prstGeom>
        </p:spPr>
      </p:pic>
      <p:sp>
        <p:nvSpPr>
          <p:cNvPr id="16" name="Text 10"/>
          <p:cNvSpPr/>
          <p:nvPr/>
        </p:nvSpPr>
        <p:spPr>
          <a:xfrm>
            <a:off x="8503920" y="4050792"/>
            <a:ext cx="31089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24325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상세 조회</a:t>
            </a:r>
            <a:endParaRPr lang="en-US" sz="1350" dirty="0"/>
          </a:p>
        </p:txBody>
      </p:sp>
      <p:sp>
        <p:nvSpPr>
          <p:cNvPr id="17" name="Text 11"/>
          <p:cNvSpPr/>
          <p:nvPr/>
        </p:nvSpPr>
        <p:spPr>
          <a:xfrm>
            <a:off x="8503920" y="4379976"/>
            <a:ext cx="31089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5000"/>
              </a:lnSpc>
              <a:buNone/>
            </a:pPr>
            <a:r>
              <a:rPr lang="en-US" sz="1050" dirty="0">
                <a:solidFill>
                  <a:srgbClr val="6E7488"/>
                </a:solidFill>
                <a:latin typeface="Noto Sans KR DemiLight" pitchFamily="34" charset="0"/>
                <a:ea typeface="Noto Sans KR DemiLight" pitchFamily="34" charset="-122"/>
                <a:cs typeface="Noto Sans KR DemiLight" pitchFamily="34" charset="-120"/>
              </a:rPr>
              <a:t>개인별 라이프로그 추이와 대화 이력을 확인합니다</a:t>
            </a:r>
            <a:endParaRPr lang="en-US" sz="1050" dirty="0"/>
          </a:p>
        </p:txBody>
      </p:sp>
      <p:sp>
        <p:nvSpPr>
          <p:cNvPr id="18" name="Shape 12"/>
          <p:cNvSpPr/>
          <p:nvPr/>
        </p:nvSpPr>
        <p:spPr>
          <a:xfrm>
            <a:off x="7818120" y="5120640"/>
            <a:ext cx="502920" cy="502920"/>
          </a:xfrm>
          <a:prstGeom prst="ellipse">
            <a:avLst/>
          </a:prstGeom>
          <a:solidFill>
            <a:srgbClr val="EAF5FF"/>
          </a:solidFill>
          <a:ln/>
        </p:spPr>
      </p:sp>
      <p:pic>
        <p:nvPicPr>
          <p:cNvPr id="19" name="Image 4" descr="preencoded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7943850" y="5246370"/>
            <a:ext cx="251460" cy="251460"/>
          </a:xfrm>
          <a:prstGeom prst="rect">
            <a:avLst/>
          </a:prstGeom>
        </p:spPr>
      </p:pic>
      <p:sp>
        <p:nvSpPr>
          <p:cNvPr id="20" name="Text 13"/>
          <p:cNvSpPr/>
          <p:nvPr/>
        </p:nvSpPr>
        <p:spPr>
          <a:xfrm>
            <a:off x="8503920" y="5102352"/>
            <a:ext cx="31089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24325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위기 이력</a:t>
            </a:r>
            <a:endParaRPr lang="en-US" sz="1350" dirty="0"/>
          </a:p>
        </p:txBody>
      </p:sp>
      <p:sp>
        <p:nvSpPr>
          <p:cNvPr id="21" name="Text 14"/>
          <p:cNvSpPr/>
          <p:nvPr/>
        </p:nvSpPr>
        <p:spPr>
          <a:xfrm>
            <a:off x="8503920" y="5431536"/>
            <a:ext cx="31089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5000"/>
              </a:lnSpc>
              <a:buNone/>
            </a:pPr>
            <a:r>
              <a:rPr lang="en-US" sz="1050" dirty="0">
                <a:solidFill>
                  <a:srgbClr val="6E7488"/>
                </a:solidFill>
                <a:latin typeface="Noto Sans KR DemiLight" pitchFamily="34" charset="0"/>
                <a:ea typeface="Noto Sans KR DemiLight" pitchFamily="34" charset="-122"/>
                <a:cs typeface="Noto Sans KR DemiLight" pitchFamily="34" charset="-120"/>
              </a:rPr>
              <a:t>판정 시점과 대응 이력을 시간순으로 따라갑니다</a:t>
            </a:r>
            <a:endParaRPr lang="en-US" sz="1050" dirty="0"/>
          </a:p>
        </p:txBody>
      </p:sp>
      <p:sp>
        <p:nvSpPr>
          <p:cNvPr id="22" name="Text 15"/>
          <p:cNvSpPr/>
          <p:nvPr/>
        </p:nvSpPr>
        <p:spPr>
          <a:xfrm>
            <a:off x="11277295" y="6355080"/>
            <a:ext cx="54864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B7BCCB"/>
                </a:solidFill>
                <a:latin typeface="Noto Sans KR DemiLight" pitchFamily="34" charset="0"/>
                <a:ea typeface="Noto Sans KR DemiLight" pitchFamily="34" charset="-122"/>
                <a:cs typeface="Noto Sans KR DemiLight" pitchFamily="34" charset="-120"/>
              </a:rPr>
              <a:t>12</a:t>
            </a:r>
            <a:endParaRPr lang="en-US" sz="1000" dirty="0"/>
          </a:p>
        </p:txBody>
      </p:sp>
      <p:sp>
        <p:nvSpPr>
          <p:cNvPr id="23" name="Text 16"/>
          <p:cNvSpPr/>
          <p:nvPr/>
        </p:nvSpPr>
        <p:spPr>
          <a:xfrm>
            <a:off x="548640" y="6355080"/>
            <a:ext cx="36576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B7BCCB"/>
                </a:solidFill>
                <a:latin typeface="Noto Sans KR DemiLight" pitchFamily="34" charset="0"/>
                <a:ea typeface="Noto Sans KR DemiLight" pitchFamily="34" charset="-122"/>
                <a:cs typeface="Noto Sans KR DemiLight" pitchFamily="34" charset="-120"/>
              </a:rPr>
              <a:t>귀기울임 LISN</a:t>
            </a:r>
            <a:endParaRPr lang="en-US" sz="100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84048"/>
            <a:ext cx="73152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5A6BE0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SECURITY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548640" y="658368"/>
            <a:ext cx="1115568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24325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"전부 암호화" 대신 위험도 기반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548640" y="1874520"/>
            <a:ext cx="6949440" cy="3072384"/>
          </a:xfrm>
          <a:prstGeom prst="roundRect">
            <a:avLst>
              <a:gd name="adj" fmla="val 2381"/>
            </a:avLst>
          </a:prstGeom>
          <a:solidFill>
            <a:srgbClr val="FFFFFF"/>
          </a:solidFill>
          <a:ln w="12700">
            <a:solidFill>
              <a:srgbClr val="E3E7F3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777240" y="1874520"/>
            <a:ext cx="164592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6E7488"/>
                </a:solidFill>
                <a:latin typeface="Noto Sans KR DemiLight" pitchFamily="34" charset="0"/>
                <a:ea typeface="Noto Sans KR DemiLight" pitchFamily="34" charset="-122"/>
                <a:cs typeface="Noto Sans KR DemiLight" pitchFamily="34" charset="-120"/>
              </a:rPr>
              <a:t>전송 구간</a:t>
            </a:r>
            <a:endParaRPr lang="en-US" sz="1150" dirty="0"/>
          </a:p>
        </p:txBody>
      </p:sp>
      <p:sp>
        <p:nvSpPr>
          <p:cNvPr id="6" name="Text 4"/>
          <p:cNvSpPr/>
          <p:nvPr/>
        </p:nvSpPr>
        <p:spPr>
          <a:xfrm>
            <a:off x="2468880" y="1874520"/>
            <a:ext cx="192024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5A6BE0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HTTPS / TLS</a:t>
            </a:r>
            <a:endParaRPr lang="en-US" sz="1250" dirty="0"/>
          </a:p>
        </p:txBody>
      </p:sp>
      <p:sp>
        <p:nvSpPr>
          <p:cNvPr id="7" name="Text 5"/>
          <p:cNvSpPr/>
          <p:nvPr/>
        </p:nvSpPr>
        <p:spPr>
          <a:xfrm>
            <a:off x="4434840" y="1874520"/>
            <a:ext cx="297180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050" dirty="0">
                <a:solidFill>
                  <a:srgbClr val="6E7488"/>
                </a:solidFill>
                <a:latin typeface="Noto Sans KR DemiLight" pitchFamily="34" charset="0"/>
                <a:ea typeface="Noto Sans KR DemiLight" pitchFamily="34" charset="-122"/>
                <a:cs typeface="Noto Sans KR DemiLight" pitchFamily="34" charset="-120"/>
              </a:rPr>
              <a:t>앱 ↔ 백엔드, 백엔드 ↔ AI 서버</a:t>
            </a:r>
            <a:endParaRPr lang="en-US" sz="1050" dirty="0"/>
          </a:p>
        </p:txBody>
      </p:sp>
      <p:sp>
        <p:nvSpPr>
          <p:cNvPr id="8" name="Shape 6"/>
          <p:cNvSpPr/>
          <p:nvPr/>
        </p:nvSpPr>
        <p:spPr>
          <a:xfrm>
            <a:off x="548640" y="2386584"/>
            <a:ext cx="6949440" cy="0"/>
          </a:xfrm>
          <a:prstGeom prst="line">
            <a:avLst/>
          </a:prstGeom>
          <a:noFill/>
          <a:ln w="9525">
            <a:solidFill>
              <a:srgbClr val="E3E7F3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777240" y="2386584"/>
            <a:ext cx="164592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6E7488"/>
                </a:solidFill>
                <a:latin typeface="Noto Sans KR DemiLight" pitchFamily="34" charset="0"/>
                <a:ea typeface="Noto Sans KR DemiLight" pitchFamily="34" charset="-122"/>
                <a:cs typeface="Noto Sans KR DemiLight" pitchFamily="34" charset="-120"/>
              </a:rPr>
              <a:t>저장 매체</a:t>
            </a:r>
            <a:endParaRPr lang="en-US" sz="1150" dirty="0"/>
          </a:p>
        </p:txBody>
      </p:sp>
      <p:sp>
        <p:nvSpPr>
          <p:cNvPr id="10" name="Text 8"/>
          <p:cNvSpPr/>
          <p:nvPr/>
        </p:nvSpPr>
        <p:spPr>
          <a:xfrm>
            <a:off x="2468880" y="2386584"/>
            <a:ext cx="192024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5A6BE0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DB 볼륨 디스크 암호화</a:t>
            </a:r>
            <a:endParaRPr lang="en-US" sz="1250" dirty="0"/>
          </a:p>
        </p:txBody>
      </p:sp>
      <p:sp>
        <p:nvSpPr>
          <p:cNvPr id="11" name="Text 9"/>
          <p:cNvSpPr/>
          <p:nvPr/>
        </p:nvSpPr>
        <p:spPr>
          <a:xfrm>
            <a:off x="4434840" y="2386584"/>
            <a:ext cx="297180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050" dirty="0">
                <a:solidFill>
                  <a:srgbClr val="6E7488"/>
                </a:solidFill>
                <a:latin typeface="Noto Sans KR DemiLight" pitchFamily="34" charset="0"/>
                <a:ea typeface="Noto Sans KR DemiLight" pitchFamily="34" charset="-122"/>
                <a:cs typeface="Noto Sans KR DemiLight" pitchFamily="34" charset="-120"/>
              </a:rPr>
              <a:t>클라우드 배포 시에만</a:t>
            </a:r>
            <a:endParaRPr lang="en-US" sz="1050" dirty="0"/>
          </a:p>
        </p:txBody>
      </p:sp>
      <p:sp>
        <p:nvSpPr>
          <p:cNvPr id="12" name="Shape 10"/>
          <p:cNvSpPr/>
          <p:nvPr/>
        </p:nvSpPr>
        <p:spPr>
          <a:xfrm>
            <a:off x="548640" y="2898648"/>
            <a:ext cx="6949440" cy="0"/>
          </a:xfrm>
          <a:prstGeom prst="line">
            <a:avLst/>
          </a:prstGeom>
          <a:noFill/>
          <a:ln w="9525">
            <a:solidFill>
              <a:srgbClr val="E3E7F3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777240" y="2898648"/>
            <a:ext cx="164592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6E7488"/>
                </a:solidFill>
                <a:latin typeface="Noto Sans KR DemiLight" pitchFamily="34" charset="0"/>
                <a:ea typeface="Noto Sans KR DemiLight" pitchFamily="34" charset="-122"/>
                <a:cs typeface="Noto Sans KR DemiLight" pitchFamily="34" charset="-120"/>
              </a:rPr>
              <a:t>컬럼 단위</a:t>
            </a:r>
            <a:endParaRPr lang="en-US" sz="1150" dirty="0"/>
          </a:p>
        </p:txBody>
      </p:sp>
      <p:sp>
        <p:nvSpPr>
          <p:cNvPr id="14" name="Text 12"/>
          <p:cNvSpPr/>
          <p:nvPr/>
        </p:nvSpPr>
        <p:spPr>
          <a:xfrm>
            <a:off x="2468880" y="2898648"/>
            <a:ext cx="192024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5A6BE0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AES-256-GCM</a:t>
            </a:r>
            <a:endParaRPr lang="en-US" sz="1250" dirty="0"/>
          </a:p>
        </p:txBody>
      </p:sp>
      <p:sp>
        <p:nvSpPr>
          <p:cNvPr id="15" name="Text 13"/>
          <p:cNvSpPr/>
          <p:nvPr/>
        </p:nvSpPr>
        <p:spPr>
          <a:xfrm>
            <a:off x="4434840" y="2898648"/>
            <a:ext cx="297180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050" dirty="0">
                <a:solidFill>
                  <a:srgbClr val="6E7488"/>
                </a:solidFill>
                <a:latin typeface="Noto Sans KR DemiLight" pitchFamily="34" charset="0"/>
                <a:ea typeface="Noto Sans KR DemiLight" pitchFamily="34" charset="-122"/>
                <a:cs typeface="Noto Sans KR DemiLight" pitchFamily="34" charset="-120"/>
              </a:rPr>
              <a:t>USERS.phone (연락처만)</a:t>
            </a:r>
            <a:endParaRPr lang="en-US" sz="1050" dirty="0"/>
          </a:p>
        </p:txBody>
      </p:sp>
      <p:sp>
        <p:nvSpPr>
          <p:cNvPr id="16" name="Shape 14"/>
          <p:cNvSpPr/>
          <p:nvPr/>
        </p:nvSpPr>
        <p:spPr>
          <a:xfrm>
            <a:off x="548640" y="3410712"/>
            <a:ext cx="6949440" cy="0"/>
          </a:xfrm>
          <a:prstGeom prst="line">
            <a:avLst/>
          </a:prstGeom>
          <a:noFill/>
          <a:ln w="9525">
            <a:solidFill>
              <a:srgbClr val="E3E7F3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777240" y="3410712"/>
            <a:ext cx="164592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6E7488"/>
                </a:solidFill>
                <a:latin typeface="Noto Sans KR DemiLight" pitchFamily="34" charset="0"/>
                <a:ea typeface="Noto Sans KR DemiLight" pitchFamily="34" charset="-122"/>
                <a:cs typeface="Noto Sans KR DemiLight" pitchFamily="34" charset="-120"/>
              </a:rPr>
              <a:t>비밀번호</a:t>
            </a:r>
            <a:endParaRPr lang="en-US" sz="1150" dirty="0"/>
          </a:p>
        </p:txBody>
      </p:sp>
      <p:sp>
        <p:nvSpPr>
          <p:cNvPr id="18" name="Text 16"/>
          <p:cNvSpPr/>
          <p:nvPr/>
        </p:nvSpPr>
        <p:spPr>
          <a:xfrm>
            <a:off x="2468880" y="3410712"/>
            <a:ext cx="192024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5A6BE0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bcrypt</a:t>
            </a:r>
            <a:endParaRPr lang="en-US" sz="1250" dirty="0"/>
          </a:p>
        </p:txBody>
      </p:sp>
      <p:sp>
        <p:nvSpPr>
          <p:cNvPr id="19" name="Text 17"/>
          <p:cNvSpPr/>
          <p:nvPr/>
        </p:nvSpPr>
        <p:spPr>
          <a:xfrm>
            <a:off x="4434840" y="3410712"/>
            <a:ext cx="297180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050" dirty="0">
                <a:solidFill>
                  <a:srgbClr val="6E7488"/>
                </a:solidFill>
                <a:latin typeface="Noto Sans KR DemiLight" pitchFamily="34" charset="0"/>
                <a:ea typeface="Noto Sans KR DemiLight" pitchFamily="34" charset="-122"/>
                <a:cs typeface="Noto Sans KR DemiLight" pitchFamily="34" charset="-120"/>
              </a:rPr>
              <a:t>복호화하지 않음</a:t>
            </a:r>
            <a:endParaRPr lang="en-US" sz="1050" dirty="0"/>
          </a:p>
        </p:txBody>
      </p:sp>
      <p:sp>
        <p:nvSpPr>
          <p:cNvPr id="20" name="Shape 18"/>
          <p:cNvSpPr/>
          <p:nvPr/>
        </p:nvSpPr>
        <p:spPr>
          <a:xfrm>
            <a:off x="548640" y="3922776"/>
            <a:ext cx="6949440" cy="0"/>
          </a:xfrm>
          <a:prstGeom prst="line">
            <a:avLst/>
          </a:prstGeom>
          <a:noFill/>
          <a:ln w="9525">
            <a:solidFill>
              <a:srgbClr val="E3E7F3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777240" y="3922776"/>
            <a:ext cx="164592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6E7488"/>
                </a:solidFill>
                <a:latin typeface="Noto Sans KR DemiLight" pitchFamily="34" charset="0"/>
                <a:ea typeface="Noto Sans KR DemiLight" pitchFamily="34" charset="-122"/>
                <a:cs typeface="Noto Sans KR DemiLight" pitchFamily="34" charset="-120"/>
              </a:rPr>
              <a:t>대화 저장</a:t>
            </a:r>
            <a:endParaRPr lang="en-US" sz="1150" dirty="0"/>
          </a:p>
        </p:txBody>
      </p:sp>
      <p:sp>
        <p:nvSpPr>
          <p:cNvPr id="22" name="Text 20"/>
          <p:cNvSpPr/>
          <p:nvPr/>
        </p:nvSpPr>
        <p:spPr>
          <a:xfrm>
            <a:off x="2468880" y="3922776"/>
            <a:ext cx="192024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5A6BE0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정규식 PII 마스킹</a:t>
            </a:r>
            <a:endParaRPr lang="en-US" sz="1250" dirty="0"/>
          </a:p>
        </p:txBody>
      </p:sp>
      <p:sp>
        <p:nvSpPr>
          <p:cNvPr id="23" name="Text 21"/>
          <p:cNvSpPr/>
          <p:nvPr/>
        </p:nvSpPr>
        <p:spPr>
          <a:xfrm>
            <a:off x="4434840" y="3922776"/>
            <a:ext cx="297180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050" dirty="0">
                <a:solidFill>
                  <a:srgbClr val="6E7488"/>
                </a:solidFill>
                <a:latin typeface="Noto Sans KR DemiLight" pitchFamily="34" charset="0"/>
                <a:ea typeface="Noto Sans KR DemiLight" pitchFamily="34" charset="-122"/>
                <a:cs typeface="Noto Sans KR DemiLight" pitchFamily="34" charset="-120"/>
              </a:rPr>
              <a:t>전화·주민번호·이메일을 저장 전에 마스킹</a:t>
            </a:r>
            <a:endParaRPr lang="en-US" sz="1050" dirty="0"/>
          </a:p>
        </p:txBody>
      </p:sp>
      <p:sp>
        <p:nvSpPr>
          <p:cNvPr id="24" name="Shape 22"/>
          <p:cNvSpPr/>
          <p:nvPr/>
        </p:nvSpPr>
        <p:spPr>
          <a:xfrm>
            <a:off x="548640" y="4434840"/>
            <a:ext cx="6949440" cy="0"/>
          </a:xfrm>
          <a:prstGeom prst="line">
            <a:avLst/>
          </a:prstGeom>
          <a:noFill/>
          <a:ln w="9525">
            <a:solidFill>
              <a:srgbClr val="E3E7F3"/>
            </a:solidFill>
            <a:prstDash val="solid"/>
          </a:ln>
        </p:spPr>
      </p:sp>
      <p:sp>
        <p:nvSpPr>
          <p:cNvPr id="25" name="Text 23"/>
          <p:cNvSpPr/>
          <p:nvPr/>
        </p:nvSpPr>
        <p:spPr>
          <a:xfrm>
            <a:off x="777240" y="4434840"/>
            <a:ext cx="164592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6E7488"/>
                </a:solidFill>
                <a:latin typeface="Noto Sans KR DemiLight" pitchFamily="34" charset="0"/>
                <a:ea typeface="Noto Sans KR DemiLight" pitchFamily="34" charset="-122"/>
                <a:cs typeface="Noto Sans KR DemiLight" pitchFamily="34" charset="-120"/>
              </a:rPr>
              <a:t>식별자</a:t>
            </a:r>
            <a:endParaRPr lang="en-US" sz="1150" dirty="0"/>
          </a:p>
        </p:txBody>
      </p:sp>
      <p:sp>
        <p:nvSpPr>
          <p:cNvPr id="26" name="Text 24"/>
          <p:cNvSpPr/>
          <p:nvPr/>
        </p:nvSpPr>
        <p:spPr>
          <a:xfrm>
            <a:off x="2468880" y="4434840"/>
            <a:ext cx="192024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5A6BE0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UUID v4</a:t>
            </a:r>
            <a:endParaRPr lang="en-US" sz="1250" dirty="0"/>
          </a:p>
        </p:txBody>
      </p:sp>
      <p:sp>
        <p:nvSpPr>
          <p:cNvPr id="27" name="Text 25"/>
          <p:cNvSpPr/>
          <p:nvPr/>
        </p:nvSpPr>
        <p:spPr>
          <a:xfrm>
            <a:off x="4434840" y="4434840"/>
            <a:ext cx="297180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050" dirty="0">
                <a:solidFill>
                  <a:srgbClr val="6E7488"/>
                </a:solidFill>
                <a:latin typeface="Noto Sans KR DemiLight" pitchFamily="34" charset="0"/>
                <a:ea typeface="Noto Sans KR DemiLight" pitchFamily="34" charset="-122"/>
                <a:cs typeface="Noto Sans KR DemiLight" pitchFamily="34" charset="-120"/>
              </a:rPr>
              <a:t>테이블 9곳 전부 — 열거 공격 방지</a:t>
            </a:r>
            <a:endParaRPr lang="en-US" sz="1050" dirty="0"/>
          </a:p>
        </p:txBody>
      </p:sp>
      <p:sp>
        <p:nvSpPr>
          <p:cNvPr id="28" name="Shape 26"/>
          <p:cNvSpPr/>
          <p:nvPr/>
        </p:nvSpPr>
        <p:spPr>
          <a:xfrm>
            <a:off x="7772400" y="1874520"/>
            <a:ext cx="3840480" cy="3072384"/>
          </a:xfrm>
          <a:prstGeom prst="roundRect">
            <a:avLst>
              <a:gd name="adj" fmla="val 2381"/>
            </a:avLst>
          </a:prstGeom>
          <a:solidFill>
            <a:srgbClr val="24325F"/>
          </a:solidFill>
          <a:ln/>
        </p:spPr>
      </p:sp>
      <p:sp>
        <p:nvSpPr>
          <p:cNvPr id="29" name="Text 27"/>
          <p:cNvSpPr/>
          <p:nvPr/>
        </p:nvSpPr>
        <p:spPr>
          <a:xfrm>
            <a:off x="8046720" y="1874520"/>
            <a:ext cx="3291840" cy="30723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30000"/>
              </a:lnSpc>
              <a:spcAft>
                <a:spcPts val="1200"/>
              </a:spcAft>
              <a:buNone/>
            </a:pPr>
            <a:r>
              <a:rPr lang="en-US" sz="1300" b="1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왜 전 컬럼 암호화를 하지 않았나</a:t>
            </a:r>
            <a:endParaRPr lang="en-US" sz="1050" dirty="0"/>
          </a:p>
          <a:p>
            <a:pPr indent="0" marL="0">
              <a:lnSpc>
                <a:spcPct val="130000"/>
              </a:lnSpc>
              <a:spcAft>
                <a:spcPts val="1200"/>
              </a:spcAft>
              <a:buNone/>
            </a:pPr>
            <a:r>
              <a:rPr lang="en-US" sz="1050" dirty="0">
                <a:solidFill>
                  <a:srgbClr val="C7CDEA"/>
                </a:solidFill>
                <a:latin typeface="Noto Sans KR DemiLight" pitchFamily="34" charset="0"/>
                <a:ea typeface="Noto Sans KR DemiLight" pitchFamily="34" charset="-122"/>
                <a:cs typeface="Noto Sans KR DemiLight" pitchFamily="34" charset="-120"/>
              </a:rPr>
              <a:t>라이프로그 측정치를 컬럼 암호화하면 서비스가 동작하지 않습니다. 기간별 집계와 복합 인덱스가 핵심 동작인데, 암호화하면 범위 조회를 할 수 없습니다.</a:t>
            </a:r>
            <a:endParaRPr lang="en-US" sz="1050" dirty="0"/>
          </a:p>
          <a:p>
            <a:pPr indent="0" marL="0">
              <a:lnSpc>
                <a:spcPct val="130000"/>
              </a:lnSpc>
              <a:buNone/>
            </a:pPr>
            <a:r>
              <a:rPr lang="en-US" sz="1050" dirty="0">
                <a:solidFill>
                  <a:srgbClr val="C7CDEA"/>
                </a:solidFill>
                <a:latin typeface="Noto Sans KR DemiLight" pitchFamily="34" charset="0"/>
                <a:ea typeface="Noto Sans KR DemiLight" pitchFamily="34" charset="-122"/>
                <a:cs typeface="Noto Sans KR DemiLight" pitchFamily="34" charset="-120"/>
              </a:rPr>
              <a:t>그래서 유출 시 즉각적 2차 피해가 나는 항목(연락처)만 컬럼 암호화하고, 측정치는 전송 구간 보호와 접근통제로 지킵니다.</a:t>
            </a:r>
            <a:endParaRPr lang="en-US" sz="1050" dirty="0"/>
          </a:p>
        </p:txBody>
      </p:sp>
      <p:sp>
        <p:nvSpPr>
          <p:cNvPr id="30" name="Shape 28"/>
          <p:cNvSpPr/>
          <p:nvPr/>
        </p:nvSpPr>
        <p:spPr>
          <a:xfrm>
            <a:off x="548640" y="5257800"/>
            <a:ext cx="11064240" cy="1097280"/>
          </a:xfrm>
          <a:prstGeom prst="roundRect">
            <a:avLst>
              <a:gd name="adj" fmla="val 7500"/>
            </a:avLst>
          </a:prstGeom>
          <a:solidFill>
            <a:srgbClr val="F4F6FD"/>
          </a:solidFill>
          <a:ln/>
        </p:spPr>
      </p:sp>
      <p:sp>
        <p:nvSpPr>
          <p:cNvPr id="31" name="Text 29"/>
          <p:cNvSpPr/>
          <p:nvPr/>
        </p:nvSpPr>
        <p:spPr>
          <a:xfrm>
            <a:off x="868680" y="5257800"/>
            <a:ext cx="1042416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30000"/>
              </a:lnSpc>
              <a:buNone/>
            </a:pPr>
            <a:r>
              <a:rPr lang="en-US" sz="1200" dirty="0">
                <a:solidFill>
                  <a:srgbClr val="6E7488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"보안을 덜 했다"가 아니라 </a:t>
            </a:r>
            <a:pPr indent="0" marL="0">
              <a:lnSpc>
                <a:spcPct val="130000"/>
              </a:lnSpc>
              <a:buNone/>
            </a:pPr>
            <a:r>
              <a:rPr lang="en-US" sz="1200" b="1" dirty="0">
                <a:solidFill>
                  <a:srgbClr val="24325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"보안 요구를 기능 제약과 함께 설계했다"</a:t>
            </a:r>
            <a:pPr indent="0" marL="0">
              <a:lnSpc>
                <a:spcPct val="130000"/>
              </a:lnSpc>
              <a:buNone/>
            </a:pPr>
            <a:r>
              <a:rPr lang="en-US" sz="1200" dirty="0">
                <a:solidFill>
                  <a:srgbClr val="6E7488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입니다. 마스킹은 저장 전에 합니다 — 원문은 어디에도 남지 않고, 외부 LLM에도 마스킹된 텍스트만 전송됩니다.</a:t>
            </a:r>
            <a:endParaRPr lang="en-US" sz="1200" dirty="0"/>
          </a:p>
        </p:txBody>
      </p:sp>
      <p:sp>
        <p:nvSpPr>
          <p:cNvPr id="32" name="Text 30"/>
          <p:cNvSpPr/>
          <p:nvPr/>
        </p:nvSpPr>
        <p:spPr>
          <a:xfrm>
            <a:off x="11277295" y="6355080"/>
            <a:ext cx="54864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B7BCCB"/>
                </a:solidFill>
                <a:latin typeface="Noto Sans KR DemiLight" pitchFamily="34" charset="0"/>
                <a:ea typeface="Noto Sans KR DemiLight" pitchFamily="34" charset="-122"/>
                <a:cs typeface="Noto Sans KR DemiLight" pitchFamily="34" charset="-120"/>
              </a:rPr>
              <a:t>13</a:t>
            </a:r>
            <a:endParaRPr lang="en-US" sz="1000" dirty="0"/>
          </a:p>
        </p:txBody>
      </p:sp>
      <p:sp>
        <p:nvSpPr>
          <p:cNvPr id="33" name="Text 31"/>
          <p:cNvSpPr/>
          <p:nvPr/>
        </p:nvSpPr>
        <p:spPr>
          <a:xfrm>
            <a:off x="548640" y="6355080"/>
            <a:ext cx="36576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B7BCCB"/>
                </a:solidFill>
                <a:latin typeface="Noto Sans KR DemiLight" pitchFamily="34" charset="0"/>
                <a:ea typeface="Noto Sans KR DemiLight" pitchFamily="34" charset="-122"/>
                <a:cs typeface="Noto Sans KR DemiLight" pitchFamily="34" charset="-120"/>
              </a:rPr>
              <a:t>귀기울임 LISN</a:t>
            </a:r>
            <a:endParaRPr lang="en-US" sz="100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84048"/>
            <a:ext cx="73152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5A6BE0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NEXT STEPS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548640" y="658368"/>
            <a:ext cx="1115568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24325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확장 가능한 부분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548640" y="1874520"/>
            <a:ext cx="11064240" cy="640080"/>
          </a:xfrm>
          <a:prstGeom prst="roundRect">
            <a:avLst>
              <a:gd name="adj" fmla="val 12857"/>
            </a:avLst>
          </a:prstGeom>
          <a:solidFill>
            <a:srgbClr val="FFFFFF"/>
          </a:solidFill>
          <a:ln w="12700">
            <a:solidFill>
              <a:srgbClr val="E3E7F3"/>
            </a:solidFill>
            <a:prstDash val="solid"/>
          </a:ln>
          <a:effectLst>
            <a:outerShdw sx="100000" sy="100000" kx="0" ky="0" algn="bl" rotWithShape="0" blurRad="127000" dist="38100" dir="5400000">
              <a:srgbClr val="1B2547">
                <a:alpha val="10000"/>
              </a:srgbClr>
            </a:outerShdw>
          </a:effectLst>
        </p:spPr>
      </p:sp>
      <p:sp>
        <p:nvSpPr>
          <p:cNvPr id="5" name="Text 3"/>
          <p:cNvSpPr/>
          <p:nvPr/>
        </p:nvSpPr>
        <p:spPr>
          <a:xfrm>
            <a:off x="822960" y="1874520"/>
            <a:ext cx="28346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24325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Health Connect 실기기</a:t>
            </a:r>
            <a:endParaRPr lang="en-US" sz="1300" dirty="0"/>
          </a:p>
        </p:txBody>
      </p:sp>
      <p:sp>
        <p:nvSpPr>
          <p:cNvPr id="6" name="Shape 4"/>
          <p:cNvSpPr/>
          <p:nvPr/>
        </p:nvSpPr>
        <p:spPr>
          <a:xfrm>
            <a:off x="3703320" y="2020824"/>
            <a:ext cx="1051560" cy="347472"/>
          </a:xfrm>
          <a:prstGeom prst="roundRect">
            <a:avLst>
              <a:gd name="adj" fmla="val 50000"/>
            </a:avLst>
          </a:prstGeom>
          <a:solidFill>
            <a:srgbClr val="FFF0E9"/>
          </a:solidFill>
          <a:ln/>
        </p:spPr>
      </p:sp>
      <p:sp>
        <p:nvSpPr>
          <p:cNvPr id="7" name="Text 5"/>
          <p:cNvSpPr/>
          <p:nvPr/>
        </p:nvSpPr>
        <p:spPr>
          <a:xfrm>
            <a:off x="3703320" y="2020824"/>
            <a:ext cx="10515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C97448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검증 예정</a:t>
            </a:r>
            <a:endParaRPr lang="en-US" sz="950" dirty="0"/>
          </a:p>
        </p:txBody>
      </p:sp>
      <p:sp>
        <p:nvSpPr>
          <p:cNvPr id="8" name="Text 6"/>
          <p:cNvSpPr/>
          <p:nvPr/>
        </p:nvSpPr>
        <p:spPr>
          <a:xfrm>
            <a:off x="4937760" y="1874520"/>
            <a:ext cx="64922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050" dirty="0">
                <a:solidFill>
                  <a:srgbClr val="6E7488"/>
                </a:solidFill>
                <a:latin typeface="Noto Sans KR DemiLight" pitchFamily="34" charset="0"/>
                <a:ea typeface="Noto Sans KR DemiLight" pitchFamily="34" charset="-122"/>
                <a:cs typeface="Noto Sans KR DemiLight" pitchFamily="34" charset="-120"/>
              </a:rPr>
              <a:t>에뮬레이터에서 워커 동작까지 확인했습니다. 실기기만 확보되면 바로 검증합니다.</a:t>
            </a:r>
            <a:endParaRPr lang="en-US" sz="1050" dirty="0"/>
          </a:p>
        </p:txBody>
      </p:sp>
      <p:sp>
        <p:nvSpPr>
          <p:cNvPr id="9" name="Shape 7"/>
          <p:cNvSpPr/>
          <p:nvPr/>
        </p:nvSpPr>
        <p:spPr>
          <a:xfrm>
            <a:off x="548640" y="2587752"/>
            <a:ext cx="11064240" cy="640080"/>
          </a:xfrm>
          <a:prstGeom prst="roundRect">
            <a:avLst>
              <a:gd name="adj" fmla="val 12857"/>
            </a:avLst>
          </a:prstGeom>
          <a:solidFill>
            <a:srgbClr val="FFFFFF"/>
          </a:solidFill>
          <a:ln w="12700">
            <a:solidFill>
              <a:srgbClr val="E3E7F3"/>
            </a:solidFill>
            <a:prstDash val="solid"/>
          </a:ln>
          <a:effectLst>
            <a:outerShdw sx="100000" sy="100000" kx="0" ky="0" algn="bl" rotWithShape="0" blurRad="127000" dist="38100" dir="5400000">
              <a:srgbClr val="1B2547">
                <a:alpha val="10000"/>
              </a:srgbClr>
            </a:outerShdw>
          </a:effectLst>
        </p:spPr>
      </p:sp>
      <p:sp>
        <p:nvSpPr>
          <p:cNvPr id="10" name="Text 8"/>
          <p:cNvSpPr/>
          <p:nvPr/>
        </p:nvSpPr>
        <p:spPr>
          <a:xfrm>
            <a:off x="822960" y="2587752"/>
            <a:ext cx="28346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24325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iOS 확장</a:t>
            </a:r>
            <a:endParaRPr lang="en-US" sz="1300" dirty="0"/>
          </a:p>
        </p:txBody>
      </p:sp>
      <p:sp>
        <p:nvSpPr>
          <p:cNvPr id="11" name="Shape 9"/>
          <p:cNvSpPr/>
          <p:nvPr/>
        </p:nvSpPr>
        <p:spPr>
          <a:xfrm>
            <a:off x="3703320" y="2734056"/>
            <a:ext cx="1051560" cy="347472"/>
          </a:xfrm>
          <a:prstGeom prst="roundRect">
            <a:avLst>
              <a:gd name="adj" fmla="val 50000"/>
            </a:avLst>
          </a:prstGeom>
          <a:solidFill>
            <a:srgbClr val="EAF5FF"/>
          </a:solidFill>
          <a:ln/>
        </p:spPr>
      </p:sp>
      <p:sp>
        <p:nvSpPr>
          <p:cNvPr id="12" name="Text 10"/>
          <p:cNvSpPr/>
          <p:nvPr/>
        </p:nvSpPr>
        <p:spPr>
          <a:xfrm>
            <a:off x="3703320" y="2734056"/>
            <a:ext cx="10515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3F7FC1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설계 반영</a:t>
            </a:r>
            <a:endParaRPr lang="en-US" sz="950" dirty="0"/>
          </a:p>
        </p:txBody>
      </p:sp>
      <p:sp>
        <p:nvSpPr>
          <p:cNvPr id="13" name="Text 11"/>
          <p:cNvSpPr/>
          <p:nvPr/>
        </p:nvSpPr>
        <p:spPr>
          <a:xfrm>
            <a:off x="4937760" y="2587752"/>
            <a:ext cx="64922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050" dirty="0">
                <a:solidFill>
                  <a:srgbClr val="6E7488"/>
                </a:solidFill>
                <a:latin typeface="Noto Sans KR DemiLight" pitchFamily="34" charset="0"/>
                <a:ea typeface="Noto Sans KR DemiLight" pitchFamily="34" charset="-122"/>
                <a:cs typeface="Noto Sans KR DemiLight" pitchFamily="34" charset="-120"/>
              </a:rPr>
              <a:t>health 패키지가 HealthKit도 감쌉니다. 수집 계층을 그대로 재사용할 수 있게 설계했습니다.</a:t>
            </a:r>
            <a:endParaRPr lang="en-US" sz="1050" dirty="0"/>
          </a:p>
        </p:txBody>
      </p:sp>
      <p:sp>
        <p:nvSpPr>
          <p:cNvPr id="14" name="Shape 12"/>
          <p:cNvSpPr/>
          <p:nvPr/>
        </p:nvSpPr>
        <p:spPr>
          <a:xfrm>
            <a:off x="548640" y="3300984"/>
            <a:ext cx="11064240" cy="640080"/>
          </a:xfrm>
          <a:prstGeom prst="roundRect">
            <a:avLst>
              <a:gd name="adj" fmla="val 12857"/>
            </a:avLst>
          </a:prstGeom>
          <a:solidFill>
            <a:srgbClr val="FFFFFF"/>
          </a:solidFill>
          <a:ln w="12700">
            <a:solidFill>
              <a:srgbClr val="E3E7F3"/>
            </a:solidFill>
            <a:prstDash val="solid"/>
          </a:ln>
          <a:effectLst>
            <a:outerShdw sx="100000" sy="100000" kx="0" ky="0" algn="bl" rotWithShape="0" blurRad="127000" dist="38100" dir="5400000">
              <a:srgbClr val="1B2547">
                <a:alpha val="10000"/>
              </a:srgbClr>
            </a:outerShdw>
          </a:effectLst>
        </p:spPr>
      </p:sp>
      <p:sp>
        <p:nvSpPr>
          <p:cNvPr id="15" name="Text 13"/>
          <p:cNvSpPr/>
          <p:nvPr/>
        </p:nvSpPr>
        <p:spPr>
          <a:xfrm>
            <a:off x="822960" y="3300984"/>
            <a:ext cx="28346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24325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평가셋 확장</a:t>
            </a:r>
            <a:endParaRPr lang="en-US" sz="1300" dirty="0"/>
          </a:p>
        </p:txBody>
      </p:sp>
      <p:sp>
        <p:nvSpPr>
          <p:cNvPr id="16" name="Shape 14"/>
          <p:cNvSpPr/>
          <p:nvPr/>
        </p:nvSpPr>
        <p:spPr>
          <a:xfrm>
            <a:off x="3703320" y="3447288"/>
            <a:ext cx="1051560" cy="347472"/>
          </a:xfrm>
          <a:prstGeom prst="roundRect">
            <a:avLst>
              <a:gd name="adj" fmla="val 50000"/>
            </a:avLst>
          </a:prstGeom>
          <a:solidFill>
            <a:srgbClr val="FFF0E9"/>
          </a:solidFill>
          <a:ln/>
        </p:spPr>
      </p:sp>
      <p:sp>
        <p:nvSpPr>
          <p:cNvPr id="17" name="Text 15"/>
          <p:cNvSpPr/>
          <p:nvPr/>
        </p:nvSpPr>
        <p:spPr>
          <a:xfrm>
            <a:off x="3703320" y="3447288"/>
            <a:ext cx="10515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C97448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다음 단계</a:t>
            </a:r>
            <a:endParaRPr lang="en-US" sz="950" dirty="0"/>
          </a:p>
        </p:txBody>
      </p:sp>
      <p:sp>
        <p:nvSpPr>
          <p:cNvPr id="18" name="Text 16"/>
          <p:cNvSpPr/>
          <p:nvPr/>
        </p:nvSpPr>
        <p:spPr>
          <a:xfrm>
            <a:off x="4937760" y="3300984"/>
            <a:ext cx="64922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050" dirty="0">
                <a:solidFill>
                  <a:srgbClr val="6E7488"/>
                </a:solidFill>
                <a:latin typeface="Noto Sans KR DemiLight" pitchFamily="34" charset="0"/>
                <a:ea typeface="Noto Sans KR DemiLight" pitchFamily="34" charset="-122"/>
                <a:cs typeface="Noto Sans KR DemiLight" pitchFamily="34" charset="-120"/>
              </a:rPr>
              <a:t>0.946은 평가셋 211건 기준입니다. 새 문장을 더해 일반화를 재검증합니다.</a:t>
            </a:r>
            <a:endParaRPr lang="en-US" sz="1050" dirty="0"/>
          </a:p>
        </p:txBody>
      </p:sp>
      <p:sp>
        <p:nvSpPr>
          <p:cNvPr id="19" name="Shape 17"/>
          <p:cNvSpPr/>
          <p:nvPr/>
        </p:nvSpPr>
        <p:spPr>
          <a:xfrm>
            <a:off x="548640" y="4014216"/>
            <a:ext cx="11064240" cy="640080"/>
          </a:xfrm>
          <a:prstGeom prst="roundRect">
            <a:avLst>
              <a:gd name="adj" fmla="val 12857"/>
            </a:avLst>
          </a:prstGeom>
          <a:solidFill>
            <a:srgbClr val="FFFFFF"/>
          </a:solidFill>
          <a:ln w="12700">
            <a:solidFill>
              <a:srgbClr val="E3E7F3"/>
            </a:solidFill>
            <a:prstDash val="solid"/>
          </a:ln>
          <a:effectLst>
            <a:outerShdw sx="100000" sy="100000" kx="0" ky="0" algn="bl" rotWithShape="0" blurRad="127000" dist="38100" dir="5400000">
              <a:srgbClr val="1B2547">
                <a:alpha val="10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822960" y="4014216"/>
            <a:ext cx="28346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24325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미탐 6건</a:t>
            </a:r>
            <a:endParaRPr lang="en-US" sz="1300" dirty="0"/>
          </a:p>
        </p:txBody>
      </p:sp>
      <p:sp>
        <p:nvSpPr>
          <p:cNvPr id="21" name="Shape 19"/>
          <p:cNvSpPr/>
          <p:nvPr/>
        </p:nvSpPr>
        <p:spPr>
          <a:xfrm>
            <a:off x="3703320" y="4160520"/>
            <a:ext cx="1051560" cy="347472"/>
          </a:xfrm>
          <a:prstGeom prst="roundRect">
            <a:avLst>
              <a:gd name="adj" fmla="val 50000"/>
            </a:avLst>
          </a:prstGeom>
          <a:solidFill>
            <a:srgbClr val="EAF8F4"/>
          </a:solidFill>
          <a:ln/>
        </p:spPr>
      </p:sp>
      <p:sp>
        <p:nvSpPr>
          <p:cNvPr id="22" name="Text 20"/>
          <p:cNvSpPr/>
          <p:nvPr/>
        </p:nvSpPr>
        <p:spPr>
          <a:xfrm>
            <a:off x="3703320" y="4160520"/>
            <a:ext cx="10515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2F9E82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패턴 분석 완료</a:t>
            </a:r>
            <a:endParaRPr lang="en-US" sz="950" dirty="0"/>
          </a:p>
        </p:txBody>
      </p:sp>
      <p:sp>
        <p:nvSpPr>
          <p:cNvPr id="23" name="Text 21"/>
          <p:cNvSpPr/>
          <p:nvPr/>
        </p:nvSpPr>
        <p:spPr>
          <a:xfrm>
            <a:off x="4937760" y="4014216"/>
            <a:ext cx="64922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050" dirty="0">
                <a:solidFill>
                  <a:srgbClr val="6E7488"/>
                </a:solidFill>
                <a:latin typeface="Noto Sans KR DemiLight" pitchFamily="34" charset="0"/>
                <a:ea typeface="Noto Sans KR DemiLight" pitchFamily="34" charset="-122"/>
                <a:cs typeface="Noto Sans KR DemiLight" pitchFamily="34" charset="-120"/>
              </a:rPr>
              <a:t>완곡·작별·신변 정리 표현에 몰려 있습니다. 이 패턴군을 다음 개선 대상으로 잡았습니다.</a:t>
            </a:r>
            <a:endParaRPr lang="en-US" sz="1050" dirty="0"/>
          </a:p>
        </p:txBody>
      </p:sp>
      <p:sp>
        <p:nvSpPr>
          <p:cNvPr id="24" name="Text 22"/>
          <p:cNvSpPr/>
          <p:nvPr/>
        </p:nvSpPr>
        <p:spPr>
          <a:xfrm>
            <a:off x="11277295" y="6355080"/>
            <a:ext cx="54864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B7BCCB"/>
                </a:solidFill>
                <a:latin typeface="Noto Sans KR DemiLight" pitchFamily="34" charset="0"/>
                <a:ea typeface="Noto Sans KR DemiLight" pitchFamily="34" charset="-122"/>
                <a:cs typeface="Noto Sans KR DemiLight" pitchFamily="34" charset="-120"/>
              </a:rPr>
              <a:t>14</a:t>
            </a:r>
            <a:endParaRPr lang="en-US" sz="1000" dirty="0"/>
          </a:p>
        </p:txBody>
      </p:sp>
      <p:sp>
        <p:nvSpPr>
          <p:cNvPr id="25" name="Text 23"/>
          <p:cNvSpPr/>
          <p:nvPr/>
        </p:nvSpPr>
        <p:spPr>
          <a:xfrm>
            <a:off x="548640" y="6355080"/>
            <a:ext cx="36576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B7BCCB"/>
                </a:solidFill>
                <a:latin typeface="Noto Sans KR DemiLight" pitchFamily="34" charset="0"/>
                <a:ea typeface="Noto Sans KR DemiLight" pitchFamily="34" charset="-122"/>
                <a:cs typeface="Noto Sans KR DemiLight" pitchFamily="34" charset="-120"/>
              </a:rPr>
              <a:t>귀기울임 LISN</a:t>
            </a:r>
            <a:endParaRPr lang="en-US" sz="1000" dirty="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solidFill>
          <a:srgbClr val="1B254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1371600"/>
            <a:ext cx="5486400" cy="5486400"/>
          </a:xfrm>
          <a:prstGeom prst="ellipse">
            <a:avLst/>
          </a:prstGeom>
          <a:solidFill>
            <a:srgbClr val="24325F"/>
          </a:solidFill>
          <a:ln/>
        </p:spPr>
      </p:sp>
      <p:sp>
        <p:nvSpPr>
          <p:cNvPr id="3" name="Shape 1"/>
          <p:cNvSpPr/>
          <p:nvPr/>
        </p:nvSpPr>
        <p:spPr>
          <a:xfrm>
            <a:off x="5592928" y="1417320"/>
            <a:ext cx="1005840" cy="1005840"/>
          </a:xfrm>
          <a:prstGeom prst="ellipse">
            <a:avLst/>
          </a:prstGeom>
          <a:solidFill>
            <a:srgbClr val="2C3A6B"/>
          </a:solidFill>
          <a:ln/>
        </p:spPr>
      </p:sp>
      <p:pic>
        <p:nvPicPr>
          <p:cNvPr id="4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844388" y="1668780"/>
            <a:ext cx="502920" cy="502920"/>
          </a:xfrm>
          <a:prstGeom prst="rect">
            <a:avLst/>
          </a:prstGeom>
        </p:spPr>
      </p:pic>
      <p:sp>
        <p:nvSpPr>
          <p:cNvPr id="5" name="Text 2"/>
          <p:cNvSpPr/>
          <p:nvPr/>
        </p:nvSpPr>
        <p:spPr>
          <a:xfrm>
            <a:off x="0" y="2743200"/>
            <a:ext cx="12191695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4000" b="1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감사합니다</a:t>
            </a:r>
            <a:endParaRPr lang="en-US" sz="4000" dirty="0"/>
          </a:p>
        </p:txBody>
      </p:sp>
      <p:sp>
        <p:nvSpPr>
          <p:cNvPr id="6" name="Text 3"/>
          <p:cNvSpPr/>
          <p:nvPr/>
        </p:nvSpPr>
        <p:spPr>
          <a:xfrm>
            <a:off x="0" y="3520440"/>
            <a:ext cx="12191695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500" dirty="0">
                <a:solidFill>
                  <a:srgbClr val="8A9CF0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귀기울임 — 먼저 다가가는 정서 케어</a:t>
            </a:r>
            <a:endParaRPr lang="en-US" sz="1500" dirty="0"/>
          </a:p>
        </p:txBody>
      </p:sp>
      <p:sp>
        <p:nvSpPr>
          <p:cNvPr id="7" name="Shape 4"/>
          <p:cNvSpPr/>
          <p:nvPr/>
        </p:nvSpPr>
        <p:spPr>
          <a:xfrm>
            <a:off x="4815688" y="4206240"/>
            <a:ext cx="2560320" cy="0"/>
          </a:xfrm>
          <a:prstGeom prst="line">
            <a:avLst/>
          </a:prstGeom>
          <a:noFill/>
          <a:ln w="12700">
            <a:solidFill>
              <a:srgbClr val="3E4A7A"/>
            </a:solidFill>
            <a:prstDash val="solid"/>
          </a:ln>
        </p:spPr>
      </p:sp>
      <p:sp>
        <p:nvSpPr>
          <p:cNvPr id="8" name="Text 5"/>
          <p:cNvSpPr/>
          <p:nvPr/>
        </p:nvSpPr>
        <p:spPr>
          <a:xfrm>
            <a:off x="0" y="4434840"/>
            <a:ext cx="12191695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A9B3D6"/>
                </a:solidFill>
                <a:latin typeface="Noto Sans KR DemiLight" pitchFamily="34" charset="0"/>
                <a:ea typeface="Noto Sans KR DemiLight" pitchFamily="34" charset="-122"/>
                <a:cs typeface="Noto Sans KR DemiLight" pitchFamily="34" charset="-120"/>
              </a:rPr>
              <a:t>스마트인재개발원 KDT 헬스케어 5팀 · 기업주제(라라랩스)</a:t>
            </a:r>
            <a:endParaRPr lang="en-US" sz="1200" dirty="0"/>
          </a:p>
        </p:txBody>
      </p:sp>
      <p:sp>
        <p:nvSpPr>
          <p:cNvPr id="9" name="Text 6"/>
          <p:cNvSpPr/>
          <p:nvPr/>
        </p:nvSpPr>
        <p:spPr>
          <a:xfrm>
            <a:off x="860908" y="4937760"/>
            <a:ext cx="23774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이응균</a:t>
            </a:r>
            <a:endParaRPr lang="en-US" sz="1400" dirty="0"/>
          </a:p>
        </p:txBody>
      </p:sp>
      <p:sp>
        <p:nvSpPr>
          <p:cNvPr id="10" name="Text 7"/>
          <p:cNvSpPr/>
          <p:nvPr/>
        </p:nvSpPr>
        <p:spPr>
          <a:xfrm>
            <a:off x="860908" y="5285232"/>
            <a:ext cx="23774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dirty="0">
                <a:solidFill>
                  <a:srgbClr val="A9B3D6"/>
                </a:solidFill>
                <a:latin typeface="Noto Sans KR DemiLight" pitchFamily="34" charset="0"/>
                <a:ea typeface="Noto Sans KR DemiLight" pitchFamily="34" charset="-122"/>
                <a:cs typeface="Noto Sans KR DemiLight" pitchFamily="34" charset="-120"/>
              </a:rPr>
              <a:t>PM · 기획 · 문서</a:t>
            </a:r>
            <a:endParaRPr lang="en-US" sz="1050" dirty="0"/>
          </a:p>
        </p:txBody>
      </p:sp>
      <p:sp>
        <p:nvSpPr>
          <p:cNvPr id="11" name="Text 8"/>
          <p:cNvSpPr/>
          <p:nvPr/>
        </p:nvSpPr>
        <p:spPr>
          <a:xfrm>
            <a:off x="3558388" y="4937760"/>
            <a:ext cx="23774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김건영</a:t>
            </a:r>
            <a:endParaRPr lang="en-US" sz="1400" dirty="0"/>
          </a:p>
        </p:txBody>
      </p:sp>
      <p:sp>
        <p:nvSpPr>
          <p:cNvPr id="12" name="Text 9"/>
          <p:cNvSpPr/>
          <p:nvPr/>
        </p:nvSpPr>
        <p:spPr>
          <a:xfrm>
            <a:off x="3558388" y="5285232"/>
            <a:ext cx="23774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dirty="0">
                <a:solidFill>
                  <a:srgbClr val="A9B3D6"/>
                </a:solidFill>
                <a:latin typeface="Noto Sans KR DemiLight" pitchFamily="34" charset="0"/>
                <a:ea typeface="Noto Sans KR DemiLight" pitchFamily="34" charset="-122"/>
                <a:cs typeface="Noto Sans KR DemiLight" pitchFamily="34" charset="-120"/>
              </a:rPr>
              <a:t>AI · DATA</a:t>
            </a:r>
            <a:endParaRPr lang="en-US" sz="1050" dirty="0"/>
          </a:p>
        </p:txBody>
      </p:sp>
      <p:sp>
        <p:nvSpPr>
          <p:cNvPr id="13" name="Text 10"/>
          <p:cNvSpPr/>
          <p:nvPr/>
        </p:nvSpPr>
        <p:spPr>
          <a:xfrm>
            <a:off x="6255868" y="4937760"/>
            <a:ext cx="23774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윤일준</a:t>
            </a:r>
            <a:endParaRPr lang="en-US" sz="1400" dirty="0"/>
          </a:p>
        </p:txBody>
      </p:sp>
      <p:sp>
        <p:nvSpPr>
          <p:cNvPr id="14" name="Text 11"/>
          <p:cNvSpPr/>
          <p:nvPr/>
        </p:nvSpPr>
        <p:spPr>
          <a:xfrm>
            <a:off x="6255868" y="5285232"/>
            <a:ext cx="23774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dirty="0">
                <a:solidFill>
                  <a:srgbClr val="A9B3D6"/>
                </a:solidFill>
                <a:latin typeface="Noto Sans KR DemiLight" pitchFamily="34" charset="0"/>
                <a:ea typeface="Noto Sans KR DemiLight" pitchFamily="34" charset="-122"/>
                <a:cs typeface="Noto Sans KR DemiLight" pitchFamily="34" charset="-120"/>
              </a:rPr>
              <a:t>백엔드 · DB</a:t>
            </a:r>
            <a:endParaRPr lang="en-US" sz="1050" dirty="0"/>
          </a:p>
        </p:txBody>
      </p:sp>
      <p:sp>
        <p:nvSpPr>
          <p:cNvPr id="15" name="Text 12"/>
          <p:cNvSpPr/>
          <p:nvPr/>
        </p:nvSpPr>
        <p:spPr>
          <a:xfrm>
            <a:off x="8953348" y="4937760"/>
            <a:ext cx="23774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함은선</a:t>
            </a:r>
            <a:endParaRPr lang="en-US" sz="1400" dirty="0"/>
          </a:p>
        </p:txBody>
      </p:sp>
      <p:sp>
        <p:nvSpPr>
          <p:cNvPr id="16" name="Text 13"/>
          <p:cNvSpPr/>
          <p:nvPr/>
        </p:nvSpPr>
        <p:spPr>
          <a:xfrm>
            <a:off x="8953348" y="5285232"/>
            <a:ext cx="23774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dirty="0">
                <a:solidFill>
                  <a:srgbClr val="A9B3D6"/>
                </a:solidFill>
                <a:latin typeface="Noto Sans KR DemiLight" pitchFamily="34" charset="0"/>
                <a:ea typeface="Noto Sans KR DemiLight" pitchFamily="34" charset="-122"/>
                <a:cs typeface="Noto Sans KR DemiLight" pitchFamily="34" charset="-120"/>
              </a:rPr>
              <a:t>프론트엔드</a:t>
            </a:r>
            <a:endParaRPr lang="en-US" sz="105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16</Slides>
  <Notes>16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16</vt:i4>
      </vt:variant>
    </vt:vector>
  </HeadingPairs>
  <TitlesOfParts>
    <vt:vector size="19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PptxGenJS</cp:lastModifiedBy>
  <cp:revision>1</cp:revision>
  <dcterms:created xsi:type="dcterms:W3CDTF">2026-08-24T11:42:00Z</dcterms:created>
  <dcterms:modified xsi:type="dcterms:W3CDTF">2026-08-24T11:42:00Z</dcterms:modified>
</cp:coreProperties>
</file>