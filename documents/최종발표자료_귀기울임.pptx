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48095" y="0"/>
            <a:ext cx="5943600" cy="59436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7528255" y="457200"/>
            <a:ext cx="4206240" cy="4206240"/>
          </a:xfrm>
          <a:prstGeom prst="ellipse">
            <a:avLst/>
          </a:prstGeom>
          <a:solidFill>
            <a:srgbClr val="2C3A6B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08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스마트인재개발원 KDT 헬스케어 5팀 · 기업주제(라라랩스)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77240" y="196596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귀기울임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841248" y="30632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4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LISN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41248" y="365760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7DCF5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멀티모달 라이프로그 감정 분석 기반 맞춤형 LLM 케어 및 모니터링 시스템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41248" y="4434840"/>
            <a:ext cx="292608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1248" y="4617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발표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41248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2026. 08. 28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84124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이응균 · PM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49300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김건영 · AI/DATA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14476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윤일준 · 백엔드/DB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796528" y="5989320"/>
            <a:ext cx="2606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함은선 · 프론트엔드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057400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2148840" y="2084832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문제와 해결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2148840" y="2587752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귀기울임인가 · 먼저 다가간다는 것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3081528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227832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148840" y="325526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어떻게 만들었나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148840" y="3758184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아키텍처 · AI 판단 방식 · 안전 설계 · 보안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251960"/>
            <a:ext cx="8778240" cy="0"/>
          </a:xfrm>
          <a:prstGeom prst="line">
            <a:avLst/>
          </a:prstGeom>
          <a:noFill/>
          <a:ln w="9525">
            <a:solidFill>
              <a:srgbClr val="333F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4398264"/>
            <a:ext cx="1097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A9CF0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148840" y="44256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성과와 한계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2148840" y="492861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실측 지표 · 관제 화면 · 못 한 것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문제와 해결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&amp;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데이터는 쌓이는데, 사용자는 앱을 열지 않습니다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143000"/>
          </a:xfrm>
          <a:prstGeom prst="roundRect">
            <a:avLst>
              <a:gd name="adj" fmla="val 7200"/>
            </a:avLst>
          </a:prstGeom>
          <a:solidFill>
            <a:srgbClr val="F4F6F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65960"/>
            <a:ext cx="594360" cy="5943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8131" y="2099691"/>
            <a:ext cx="326898" cy="32689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8288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걸음·수면·심박은 매일 기록되지만, 케어로 이어지려면 사용자가 앱을 열어야 합니다.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783080" y="2267712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그런데 정작 힘든 순간에는 사용자가 앱을 열 힘조차 없습니다. 감지해 놓고도 사용자를 기다리는 구조가 문제입니다.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48640" y="306324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«관찰 → 판단 → 선제 접촉»으로 설계했습니다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41248" y="3886200"/>
            <a:ext cx="566928" cy="566928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807" y="4013759"/>
            <a:ext cx="311810" cy="31181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84124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수집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84124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Connect로 걸음·수면·심박·HRV를 앱이 읽어 서버로 보냅니다. 사용자가 입력할 것이 없습니다.</a:t>
            </a:r>
            <a:endParaRPr lang="en-US" sz="11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87368" y="4023360"/>
            <a:ext cx="237744" cy="23774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34340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636008" y="3886200"/>
            <a:ext cx="566928" cy="566928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3567" y="4013759"/>
            <a:ext cx="311810" cy="31181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534924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463600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평소와 얼마나 다른가</a:t>
            </a:r>
            <a:endParaRPr lang="en-US" sz="1550" dirty="0"/>
          </a:p>
        </p:txBody>
      </p:sp>
      <p:sp>
        <p:nvSpPr>
          <p:cNvPr id="22" name="Text 16"/>
          <p:cNvSpPr/>
          <p:nvPr/>
        </p:nvSpPr>
        <p:spPr>
          <a:xfrm>
            <a:off x="463600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 사람 본인의 평소(14일)와 비교해 징후를 봅니다. 감정을 분류하지 않습니다.</a:t>
            </a:r>
            <a:endParaRPr lang="en-US" sz="11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8" y="4023360"/>
            <a:ext cx="237744" cy="237744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8138160" y="3611880"/>
            <a:ext cx="3520440" cy="2240280"/>
          </a:xfrm>
          <a:prstGeom prst="roundRect">
            <a:avLst>
              <a:gd name="adj" fmla="val 367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8430768" y="3886200"/>
            <a:ext cx="566928" cy="566928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58327" y="4013759"/>
            <a:ext cx="311810" cy="31181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9144000" y="388620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8430768" y="4572000"/>
            <a:ext cx="2935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선제 접촉</a:t>
            </a:r>
            <a:endParaRPr lang="en-US" sz="1550" dirty="0"/>
          </a:p>
        </p:txBody>
      </p:sp>
      <p:sp>
        <p:nvSpPr>
          <p:cNvPr id="29" name="Text 21"/>
          <p:cNvSpPr/>
          <p:nvPr/>
        </p:nvSpPr>
        <p:spPr>
          <a:xfrm>
            <a:off x="8430768" y="4983480"/>
            <a:ext cx="2935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콘텐츠 추천에서 그치지 않고, 필요하면 시스템이 먼저 말을 거는 선제 접촉까지 이어집니다.</a:t>
            </a:r>
            <a:endParaRPr lang="en-US" sz="1100" dirty="0"/>
          </a:p>
        </p:txBody>
      </p:sp>
      <p:sp>
        <p:nvSpPr>
          <p:cNvPr id="30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03</a:t>
            </a:r>
            <a:endParaRPr lang="en-US" sz="1000" dirty="0"/>
          </a:p>
        </p:txBody>
      </p:sp>
      <p:sp>
        <p:nvSpPr>
          <p:cNvPr id="31" name="Text 2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DIFFERENTIATOR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사용자가 앱을 열기 전에, 먼저 다가갑니다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03520" cy="2286000"/>
          </a:xfrm>
          <a:prstGeom prst="roundRect">
            <a:avLst>
              <a:gd name="adj" fmla="val 3600"/>
            </a:avLst>
          </a:prstGeom>
          <a:solidFill>
            <a:srgbClr val="2A3564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9B3D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서비스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68680" y="237744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사용자가 앱을 열어야 확인 → 끝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3063240"/>
            <a:ext cx="4663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위기일수록 앱을 열 힘이 없는데, 확인 자체를 사용자에게 맡깁니다.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1783080"/>
            <a:ext cx="5349240" cy="2286000"/>
          </a:xfrm>
          <a:prstGeom prst="roundRect">
            <a:avLst>
              <a:gd name="adj" fmla="val 3600"/>
            </a:avLst>
          </a:prstGeom>
          <a:solidFill>
            <a:srgbClr val="5A6BE0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19659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E7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629400" y="237744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감지 → 시스템이 먼저 말을 겁니다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629400" y="3063240"/>
            <a:ext cx="4846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AEE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연속 이탈 3일 → 조건 6개 검사 → 첫 발화 생성 → 세션 선생성 → FCM 푸시 · 홈 카드 · 배너로 먼저 말을 겁니다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4343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"감시 아닌가요?" — 그래서 장치를 마련했습니다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4" name="Shape 12"/>
          <p:cNvSpPr/>
          <p:nvPr/>
        </p:nvSpPr>
        <p:spPr>
          <a:xfrm>
            <a:off x="749808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678" y="5132070"/>
            <a:ext cx="251460" cy="25146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49808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옵트인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49808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케어 알림은 콘텐츠 알림과 따로 동의받습니다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364992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19" name="Shape 16"/>
          <p:cNvSpPr/>
          <p:nvPr/>
        </p:nvSpPr>
        <p:spPr>
          <a:xfrm>
            <a:off x="3566160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9030" y="5132070"/>
            <a:ext cx="251460" cy="25146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566160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빈도 상한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3566160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쿨다운 3일 · 하루 1회 · 09~21시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181344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4" name="Shape 20"/>
          <p:cNvSpPr/>
          <p:nvPr/>
        </p:nvSpPr>
        <p:spPr>
          <a:xfrm>
            <a:off x="6382512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5382" y="5132070"/>
            <a:ext cx="251460" cy="251460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6382512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겹침 방지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6382512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같은 날 콘텐츠 알림이 있으면 보류합니다</a:t>
            </a:r>
            <a:endParaRPr lang="en-US" sz="950" dirty="0"/>
          </a:p>
        </p:txBody>
      </p:sp>
      <p:sp>
        <p:nvSpPr>
          <p:cNvPr id="28" name="Shape 23"/>
          <p:cNvSpPr/>
          <p:nvPr/>
        </p:nvSpPr>
        <p:spPr>
          <a:xfrm>
            <a:off x="8997696" y="4846320"/>
            <a:ext cx="2697480" cy="1508760"/>
          </a:xfrm>
          <a:prstGeom prst="roundRect">
            <a:avLst>
              <a:gd name="adj" fmla="val 4848"/>
            </a:avLst>
          </a:prstGeom>
          <a:solidFill>
            <a:srgbClr val="2A3564"/>
          </a:solidFill>
          <a:ln/>
        </p:spPr>
      </p:sp>
      <p:sp>
        <p:nvSpPr>
          <p:cNvPr id="29" name="Shape 24"/>
          <p:cNvSpPr/>
          <p:nvPr/>
        </p:nvSpPr>
        <p:spPr>
          <a:xfrm>
            <a:off x="9198864" y="5029200"/>
            <a:ext cx="457200" cy="457200"/>
          </a:xfrm>
          <a:prstGeom prst="ellipse">
            <a:avLst/>
          </a:prstGeom>
          <a:solidFill>
            <a:srgbClr val="384280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01734" y="5132070"/>
            <a:ext cx="251460" cy="25146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9198864" y="55595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제시</a:t>
            </a:r>
            <a:endParaRPr lang="en-US" sz="1250" dirty="0"/>
          </a:p>
        </p:txBody>
      </p:sp>
      <p:sp>
        <p:nvSpPr>
          <p:cNvPr id="32" name="Text 26"/>
          <p:cNvSpPr/>
          <p:nvPr/>
        </p:nvSpPr>
        <p:spPr>
          <a:xfrm>
            <a:off x="9198864" y="585216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B9C0E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왜 말을 걸었는지 첫 마디에 담습니다</a:t>
            </a:r>
            <a:endParaRPr lang="en-US" sz="950" dirty="0"/>
          </a:p>
        </p:txBody>
      </p:sp>
      <p:sp>
        <p:nvSpPr>
          <p:cNvPr id="33" name="Text 27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04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3분으로 보는 귀기울임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클릭하면 재생됩니다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09064" y="1636776"/>
            <a:ext cx="7973568" cy="4533138"/>
          </a:xfrm>
          <a:prstGeom prst="roundRect">
            <a:avLst>
              <a:gd name="adj" fmla="val 1614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228600" dist="63500" dir="5400000">
              <a:srgbClr val="1B2547">
                <a:alpha val="12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2163928" y="1691640"/>
            <a:ext cx="7863840" cy="442341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HOW WE BUILT IT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어떻게 만들었나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서버를 둘로 나눴나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2743200" cy="1371600"/>
          </a:xfrm>
          <a:prstGeom prst="roundRect">
            <a:avLst>
              <a:gd name="adj" fmla="val 6667"/>
            </a:avLst>
          </a:prstGeom>
          <a:solidFill>
            <a:srgbClr val="24325F"/>
          </a:solidFill>
          <a:ln/>
        </p:spPr>
      </p:sp>
      <p:sp>
        <p:nvSpPr>
          <p:cNvPr id="5" name="Shape 3"/>
          <p:cNvSpPr/>
          <p:nvPr/>
        </p:nvSpPr>
        <p:spPr>
          <a:xfrm>
            <a:off x="804672" y="2542032"/>
            <a:ext cx="502920" cy="502920"/>
          </a:xfrm>
          <a:prstGeom prst="ellipse">
            <a:avLst/>
          </a:prstGeom>
          <a:solidFill>
            <a:srgbClr val="33407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7829" y="2655189"/>
            <a:ext cx="276606" cy="2766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Flutter 앱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4434840" y="2286000"/>
            <a:ext cx="32918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69087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4029" y="2655189"/>
            <a:ext cx="276606" cy="27660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90872" y="3127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비즈니스 서버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8869680" y="2286000"/>
            <a:ext cx="278892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9125712" y="2542032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8869" y="2655189"/>
            <a:ext cx="276606" cy="27660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25712" y="3127248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추론 서버</a:t>
            </a:r>
            <a:endParaRPr lang="en-US" sz="145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26180" y="2834640"/>
            <a:ext cx="274320" cy="274320"/>
          </a:xfrm>
          <a:prstGeom prst="rect">
            <a:avLst/>
          </a:prstGeom>
        </p:spPr>
      </p:pic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61020" y="2834640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3310128" y="1993392"/>
            <a:ext cx="1143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걸음·수면·심박 push</a:t>
            </a:r>
            <a:endParaRPr lang="en-US" sz="850" dirty="0"/>
          </a:p>
        </p:txBody>
      </p:sp>
      <p:sp>
        <p:nvSpPr>
          <p:cNvPr id="19" name="Text 12"/>
          <p:cNvSpPr/>
          <p:nvPr/>
        </p:nvSpPr>
        <p:spPr>
          <a:xfrm>
            <a:off x="7772400" y="1993392"/>
            <a:ext cx="1051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내부 통신</a:t>
            </a:r>
            <a:endParaRPr lang="en-US" sz="850" dirty="0"/>
          </a:p>
        </p:txBody>
      </p:sp>
      <p:sp>
        <p:nvSpPr>
          <p:cNvPr id="20" name="Text 13"/>
          <p:cNvSpPr/>
          <p:nvPr/>
        </p:nvSpPr>
        <p:spPr>
          <a:xfrm>
            <a:off x="548640" y="4069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키워드 필터는 비즈니스 서버 안에 둡니다.  </a:t>
            </a:r>
            <a:pPr indent="0" marL="0">
              <a:buNone/>
            </a:pPr>
            <a:r>
              <a:rPr lang="en-US" sz="135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서버가 죽어도 탐지가 멈추면 안 되기 때문입니다.</a:t>
            </a:r>
            <a:endParaRPr lang="en-US" sz="1350" dirty="0"/>
          </a:p>
        </p:txBody>
      </p:sp>
      <p:sp>
        <p:nvSpPr>
          <p:cNvPr id="21" name="Shape 14"/>
          <p:cNvSpPr/>
          <p:nvPr/>
        </p:nvSpPr>
        <p:spPr>
          <a:xfrm>
            <a:off x="548640" y="4526280"/>
            <a:ext cx="11064240" cy="1371600"/>
          </a:xfrm>
          <a:prstGeom prst="roundRect">
            <a:avLst>
              <a:gd name="adj" fmla="val 6000"/>
            </a:avLst>
          </a:prstGeom>
          <a:solidFill>
            <a:srgbClr val="F4F6FD"/>
          </a:solidFill>
          <a:ln/>
        </p:spPr>
      </p:sp>
      <p:sp>
        <p:nvSpPr>
          <p:cNvPr id="22" name="Text 15"/>
          <p:cNvSpPr/>
          <p:nvPr/>
        </p:nvSpPr>
        <p:spPr>
          <a:xfrm>
            <a:off x="868680" y="4681728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앱이 먼저 보내고, 서버는 끌어오지 않습니다</a:t>
            </a:r>
            <a:endParaRPr lang="en-US" sz="1450" dirty="0"/>
          </a:p>
        </p:txBody>
      </p:sp>
      <p:sp>
        <p:nvSpPr>
          <p:cNvPr id="23" name="Text 16"/>
          <p:cNvSpPr/>
          <p:nvPr/>
        </p:nvSpPr>
        <p:spPr>
          <a:xfrm>
            <a:off x="868680" y="5029200"/>
            <a:ext cx="104241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Health Connect는 Android 단말 안의 권한 모델이라 서버가 가질 OAuth 토큰이 없습니다. 그래서 앱이 읽어 push하고, 앱을 열지 않아도 WorkManager가 15분 주기로 백그라운드 전송합니다. 서버가 안 가져오는 것이 아니라, 가져올 수가 없습니다.</a:t>
            </a:r>
            <a:endParaRPr lang="en-US" sz="1150" dirty="0"/>
          </a:p>
        </p:txBody>
      </p:sp>
      <p:sp>
        <p:nvSpPr>
          <p:cNvPr id="24" name="Text 17"/>
          <p:cNvSpPr/>
          <p:nvPr/>
        </p:nvSpPr>
        <p:spPr>
          <a:xfrm>
            <a:off x="548640" y="6035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A6BE0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STACK   </a:t>
            </a:r>
            <a:pPr indent="0" marL="0">
              <a:buNone/>
            </a:pPr>
            <a:r>
              <a:rPr lang="en-US" sz="10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Flutter · Health Connect · WorkManager   |   FastAPI · SQLAlchemy · PostgreSQL 17   |   React · Vite   |   OpenAI API   |   인프라: 로컬 데모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07</a:t>
            </a:r>
            <a:endParaRPr lang="en-US" sz="1000" dirty="0"/>
          </a:p>
        </p:txBody>
      </p:sp>
      <p:sp>
        <p:nvSpPr>
          <p:cNvPr id="26" name="Text 19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DESIGN JOURNEY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 분류 모델은 검증하고 접었습니다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21992"/>
            <a:ext cx="420624" cy="420624"/>
          </a:xfrm>
          <a:prstGeom prst="ellipse">
            <a:avLst/>
          </a:prstGeom>
          <a:solidFill>
            <a:srgbClr val="EAF8F4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시도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라벨이 붙은 데이터로 분류 모델을 학습하려 했습니다</a:t>
            </a:r>
            <a:endParaRPr lang="en-US" sz="11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7368" y="2834640"/>
            <a:ext cx="237744" cy="23774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34340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17720" y="2221992"/>
            <a:ext cx="420624" cy="420624"/>
          </a:xfrm>
          <a:prstGeom prst="ellipse">
            <a:avLst/>
          </a:prstGeom>
          <a:solidFill>
            <a:srgbClr val="FFF0E9"/>
          </a:solidFill>
          <a:ln/>
        </p:spPr>
      </p:sp>
      <p:sp>
        <p:nvSpPr>
          <p:cNvPr id="12" name="Text 9"/>
          <p:cNvSpPr/>
          <p:nvPr/>
        </p:nvSpPr>
        <p:spPr>
          <a:xfrm>
            <a:off x="461772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16636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461772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국내 라벨 데이터셋을 구하지 못해 공개 데이터(GLOBEM)로 검증했더니 ROC-AUC 0.528, 무작위 수준이었습니다</a:t>
            </a:r>
            <a:endParaRPr lang="en-US" sz="1150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2834640"/>
            <a:ext cx="237744" cy="237744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138160" y="1965960"/>
            <a:ext cx="352044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12480" y="2221992"/>
            <a:ext cx="420624" cy="420624"/>
          </a:xfrm>
          <a:prstGeom prst="ellipse">
            <a:avLst/>
          </a:prstGeom>
          <a:solidFill>
            <a:srgbClr val="EAF5FF"/>
          </a:solidFill>
          <a:ln/>
        </p:spPr>
      </p:sp>
      <p:sp>
        <p:nvSpPr>
          <p:cNvPr id="18" name="Text 14"/>
          <p:cNvSpPr/>
          <p:nvPr/>
        </p:nvSpPr>
        <p:spPr>
          <a:xfrm>
            <a:off x="8412480" y="22219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8961120" y="2221992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endParaRPr lang="en-US" sz="1700" dirty="0"/>
          </a:p>
        </p:txBody>
      </p:sp>
      <p:sp>
        <p:nvSpPr>
          <p:cNvPr id="20" name="Text 16"/>
          <p:cNvSpPr/>
          <p:nvPr/>
        </p:nvSpPr>
        <p:spPr>
          <a:xfrm>
            <a:off x="8412480" y="2807208"/>
            <a:ext cx="2971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 기준선 이탈 탐지로 방향을 바꿨습니다 — 중앙값·MAD robust z, 지표 7개 중 2개 이상 이탈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548640" y="434340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24325F"/>
          </a:solidFill>
          <a:ln/>
        </p:spPr>
      </p:sp>
      <p:sp>
        <p:nvSpPr>
          <p:cNvPr id="22" name="Text 18"/>
          <p:cNvSpPr/>
          <p:nvPr/>
        </p:nvSpPr>
        <p:spPr>
          <a:xfrm>
            <a:off x="868680" y="45262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"감정을 분석·분류합니다"라고 말하지 않는 이유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868680" y="4919472"/>
            <a:ext cx="104241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감정 코드는 이탈 정도를 표시하는 규칙 기반 산출값입니다. 학습된 분류기가 정한 값이 아니라, 코드에서 model_version이 "rule-"로 시작하는 것이 그 표시입니다. 대신 그 사람 본인의 평소와 비교하는 개인 기준선 이탈 탐지로 실제 서비스를 완성했습니다.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08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CRISIS DETECTION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탐지는 2단계입니다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212848"/>
            <a:ext cx="594360" cy="594360"/>
          </a:xfrm>
          <a:prstGeom prst="ellipse">
            <a:avLst/>
          </a:prstGeom>
          <a:solidFill>
            <a:srgbClr val="FFF0E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" y="2361438"/>
            <a:ext cx="297180" cy="2971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1차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64592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키워드 규칙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외부 API가 죽어도 탐지가 멈추지 않습니다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6868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단독 재현율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6868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0.081</a:t>
            </a:r>
            <a:endParaRPr lang="en-US" sz="24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6168" y="3063240"/>
            <a:ext cx="237744" cy="23774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172200" y="1920240"/>
            <a:ext cx="5349240" cy="246888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27000" dist="38100" dir="5400000">
              <a:srgbClr val="1B2547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92240" y="2212848"/>
            <a:ext cx="594360" cy="594360"/>
          </a:xfrm>
          <a:prstGeom prst="ellipse">
            <a:avLst/>
          </a:prstGeom>
          <a:solidFill>
            <a:srgbClr val="EAF8F4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830" y="2361438"/>
            <a:ext cx="297180" cy="2971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269480" y="21945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2차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7269480" y="2468880"/>
            <a:ext cx="3977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LLM 문맥 판정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6492240" y="306324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문장 맥락까지 읽어 더 정밀하게 판정합니다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492240" y="3703320"/>
            <a:ext cx="4709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최종 재현율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6492240" y="39136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21" name="Shape 16"/>
          <p:cNvSpPr/>
          <p:nvPr/>
        </p:nvSpPr>
        <p:spPr>
          <a:xfrm>
            <a:off x="548640" y="448056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F4F6FD"/>
          </a:solidFill>
          <a:ln/>
        </p:spPr>
      </p:sp>
      <p:sp>
        <p:nvSpPr>
          <p:cNvPr id="22" name="Text 17"/>
          <p:cNvSpPr/>
          <p:nvPr/>
        </p:nvSpPr>
        <p:spPr>
          <a:xfrm>
            <a:off x="868680" y="4617720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정신건강 서비스라서 다르게 만든 것</a:t>
            </a:r>
            <a:endParaRPr lang="en-US" sz="1450" dirty="0"/>
          </a:p>
        </p:txBody>
      </p:sp>
      <p:sp>
        <p:nvSpPr>
          <p:cNvPr id="23" name="Text 18"/>
          <p:cNvSpPr/>
          <p:nvPr/>
        </p:nvSpPr>
        <p:spPr>
          <a:xfrm>
            <a:off x="868680" y="49834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CRITICAL이면 이미 만든 답변도 버립니다.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판정과 응답 생성을 동시에 돌리지만, CRITICAL이면 만들어 둔 응답을 버립니다. 그래서 스트리밍을 쓰지 않습니다. 판정 전에 흘려보낸 글자는 되돌릴 수 없습니다.</a:t>
            </a:r>
            <a:endParaRPr lang="en-US" sz="1150" dirty="0"/>
          </a:p>
        </p:txBody>
      </p:sp>
      <p:sp>
        <p:nvSpPr>
          <p:cNvPr id="24" name="Text 19"/>
          <p:cNvSpPr/>
          <p:nvPr/>
        </p:nvSpPr>
        <p:spPr>
          <a:xfrm>
            <a:off x="868680" y="550468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경고색은 쓰지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빨강·주황은 불안을 키워 회피를 부릅니다.   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4325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데이터가 없다고 "정상"이라 하지도 않습니다.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3일 미만이면 422로 끊습니다. 편차 0을 정상으로 적재하면 위험을 놓칩니다.</a:t>
            </a:r>
            <a:endParaRPr lang="en-US" sz="1150" dirty="0"/>
          </a:p>
        </p:txBody>
      </p:sp>
      <p:sp>
        <p:nvSpPr>
          <p:cNvPr id="25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09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88575" y="5120640"/>
            <a:ext cx="1280160" cy="1280160"/>
          </a:xfrm>
          <a:prstGeom prst="ellipse">
            <a:avLst/>
          </a:prstGeom>
          <a:ln w="15240">
            <a:solidFill>
              <a:srgbClr val="8A9CF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02775" y="4434840"/>
            <a:ext cx="2651760" cy="2651760"/>
          </a:xfrm>
          <a:prstGeom prst="ellipse">
            <a:avLst/>
          </a:prstGeom>
          <a:ln w="15240">
            <a:solidFill>
              <a:srgbClr val="8A9CF0">
                <a:alpha val="3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16975" y="3749040"/>
            <a:ext cx="4023360" cy="4023360"/>
          </a:xfrm>
          <a:prstGeom prst="ellipse">
            <a:avLst/>
          </a:prstGeom>
          <a:ln w="15240">
            <a:solidFill>
              <a:srgbClr val="8A9CF0">
                <a:alpha val="21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31175" y="3063240"/>
            <a:ext cx="5394960" cy="5394960"/>
          </a:xfrm>
          <a:prstGeom prst="ellipse">
            <a:avLst/>
          </a:prstGeom>
          <a:ln w="15240">
            <a:solidFill>
              <a:srgbClr val="8A9CF0">
                <a:alpha val="1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646359" y="5678424"/>
            <a:ext cx="164592" cy="164592"/>
          </a:xfrm>
          <a:prstGeom prst="ellipse">
            <a:avLst/>
          </a:prstGeom>
          <a:solidFill>
            <a:srgbClr val="8A9CF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514600"/>
            <a:ext cx="1371600" cy="1371600"/>
          </a:xfrm>
          <a:prstGeom prst="ellipse">
            <a:avLst/>
          </a:prstGeom>
          <a:solidFill>
            <a:srgbClr val="5A6BE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03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2514600" y="2651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 &amp; LIMITS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514600" y="3017520"/>
            <a:ext cx="8686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Noto Sans KR Black" pitchFamily="34" charset="0"/>
                <a:ea typeface="Noto Sans KR Black" pitchFamily="34" charset="-122"/>
                <a:cs typeface="Noto Sans KR Black" pitchFamily="34" charset="-120"/>
              </a:rPr>
              <a:t>성과와 한계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실측으로 증명한 것만 남겼습니다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5" name="Text 3"/>
          <p:cNvSpPr/>
          <p:nvPr/>
        </p:nvSpPr>
        <p:spPr>
          <a:xfrm>
            <a:off x="749808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0.946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49808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재현율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374136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8" name="Text 6"/>
          <p:cNvSpPr/>
          <p:nvPr/>
        </p:nvSpPr>
        <p:spPr>
          <a:xfrm>
            <a:off x="3575304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0.921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3575304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정밀도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199632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0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0.933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00800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위기 판정 F1-Score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025128" y="1783080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4" name="Text 12"/>
          <p:cNvSpPr/>
          <p:nvPr/>
        </p:nvSpPr>
        <p:spPr>
          <a:xfrm>
            <a:off x="9226296" y="191109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211건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226296" y="255117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자체 평가셋 · 위기 111 · 비위기 100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2인 교차 라벨링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17" name="Text 15"/>
          <p:cNvSpPr/>
          <p:nvPr/>
        </p:nvSpPr>
        <p:spPr>
          <a:xfrm>
            <a:off x="749808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33개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49808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API 엔드포인트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74136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0" name="Text 18"/>
          <p:cNvSpPr/>
          <p:nvPr/>
        </p:nvSpPr>
        <p:spPr>
          <a:xfrm>
            <a:off x="3575304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9개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3575304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 테이블 · UUID·TIMESTAMPTZ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199632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319건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6400800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회귀 테스트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118 · AI 22 · 앱 165 · 관리자 14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025128" y="3465576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1E2A54"/>
          </a:solidFill>
          <a:ln/>
        </p:spPr>
      </p:sp>
      <p:sp>
        <p:nvSpPr>
          <p:cNvPr id="26" name="Text 24"/>
          <p:cNvSpPr/>
          <p:nvPr/>
        </p:nvSpPr>
        <p:spPr>
          <a:xfrm>
            <a:off x="9226296" y="359359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2052ms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9226296" y="42336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챗봇 응답 지연 최댓값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(예산 3000ms)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5212080"/>
            <a:ext cx="11064240" cy="658368"/>
          </a:xfrm>
          <a:prstGeom prst="roundRect">
            <a:avLst>
              <a:gd name="adj" fmla="val 12500"/>
            </a:avLst>
          </a:prstGeom>
          <a:solidFill>
            <a:srgbClr val="1E2A54"/>
          </a:solidFill>
          <a:ln/>
        </p:spPr>
      </p:sp>
      <p:sp>
        <p:nvSpPr>
          <p:cNvPr id="29" name="Text 27"/>
          <p:cNvSpPr/>
          <p:nvPr/>
        </p:nvSpPr>
        <p:spPr>
          <a:xfrm>
            <a:off x="868680" y="5212080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실서버 관통 점검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13건 수정 뒤 실패 0건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문서 검사기 4종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같은 수치가 문서마다 갈리는 것을 사람이 세지 않고 기계가 대조    · 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db/schema.sql 정본 </a:t>
            </a:r>
            <a:pPr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— 드리프트 테스트가 모델과 어긋나면 실패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891BE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※ 재현율은 8/05 0.793 → 8/12 0.946 — 팀이 확정한 라벨 기준을 프롬프트에 반영하고, 판정 모델을 gpt-5.6 → gpt-5.4로 교체(미탐 23 → 6건, 지연 최댓값 절반 이하)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11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ADMIN CONSOLE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관리자는 위험한 사람부터 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93776" y="1865376"/>
            <a:ext cx="6967728" cy="4398264"/>
          </a:xfrm>
          <a:prstGeom prst="roundRect">
            <a:avLst>
              <a:gd name="adj" fmla="val 2079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  <a:effectLst>
            <a:outerShdw sx="100000" sy="100000" kx="0" ky="0" algn="bl" rotWithShape="0" blurRad="152400" dist="50800" dir="5400000">
              <a:srgbClr val="1B2547">
                <a:alpha val="12000"/>
              </a:srgbClr>
            </a:outerShdw>
          </a:effectLst>
        </p:spPr>
      </p:sp>
      <p:pic>
        <p:nvPicPr>
          <p:cNvPr id="5" name="Image 0" descr="C:\project\LISN\docs\design\ADMIN_DASH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20240"/>
            <a:ext cx="6858000" cy="428625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96596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3850" y="209169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503920" y="1947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위험도 분포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8503920" y="227685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안정·주의·심각이 각각 몇 명인지 한눈에 봅니다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7818120" y="301752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3850" y="3143250"/>
            <a:ext cx="251460" cy="2514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503920" y="299923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· 검색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8503920" y="332841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이름·이메일·상태로 즉시 필터링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7818120" y="406908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43850" y="4194810"/>
            <a:ext cx="251460" cy="2514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503920" y="40507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조회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8503920" y="437997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개인별 라이프로그 추이와 대화 이력을 확인합니다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7818120" y="5120640"/>
            <a:ext cx="502920" cy="502920"/>
          </a:xfrm>
          <a:prstGeom prst="ellipse">
            <a:avLst/>
          </a:prstGeom>
          <a:solidFill>
            <a:srgbClr val="EAF5FF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3850" y="5246370"/>
            <a:ext cx="251460" cy="2514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503920" y="510235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위기 이력</a:t>
            </a:r>
            <a:endParaRPr lang="en-US" sz="1350" dirty="0"/>
          </a:p>
        </p:txBody>
      </p:sp>
      <p:sp>
        <p:nvSpPr>
          <p:cNvPr id="21" name="Text 14"/>
          <p:cNvSpPr/>
          <p:nvPr/>
        </p:nvSpPr>
        <p:spPr>
          <a:xfrm>
            <a:off x="8503920" y="5431536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판정 시점과 대응 이력을 시간순으로 따라갑니다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12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SECURITY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"전부 암호화"가 아니라 위험도 기반입니다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6949440" cy="3072384"/>
          </a:xfrm>
          <a:prstGeom prst="roundRect">
            <a:avLst>
              <a:gd name="adj" fmla="val 2381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87452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전송 구간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2468880" y="187452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HTTPS / TLS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34840" y="187452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앱 ↔ 백엔드, 백엔드 ↔ AI 서버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386584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386584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저장 매체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468880" y="2386584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볼륨 디스크 암호화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434840" y="2386584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클라우드 배포 시에만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2898648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898648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컬럼 단위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68880" y="2898648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AES-256-GCM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434840" y="2898648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USERS.phone (연락처만)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410712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410712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비밀번호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468880" y="3410712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bcrypt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434840" y="3410712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복호화하지 않음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922776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3922776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대화 저장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468880" y="3922776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정규식 PII 마스킹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434840" y="3922776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전화·주민번호·이메일을 저장 전에 마스킹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434840"/>
            <a:ext cx="6949440" cy="0"/>
          </a:xfrm>
          <a:prstGeom prst="line">
            <a:avLst/>
          </a:prstGeom>
          <a:noFill/>
          <a:ln w="9525">
            <a:solidFill>
              <a:srgbClr val="E3E7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4434840"/>
            <a:ext cx="1645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식별자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468880" y="443484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UUID v4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34840" y="4434840"/>
            <a:ext cx="2971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테이블 9곳 전부 — 열거 공격 방지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772400" y="1874520"/>
            <a:ext cx="3840480" cy="3072384"/>
          </a:xfrm>
          <a:prstGeom prst="roundRect">
            <a:avLst>
              <a:gd name="adj" fmla="val 2381"/>
            </a:avLst>
          </a:prstGeom>
          <a:solidFill>
            <a:srgbClr val="24325F"/>
          </a:solidFill>
          <a:ln/>
        </p:spPr>
      </p:sp>
      <p:sp>
        <p:nvSpPr>
          <p:cNvPr id="29" name="Text 27"/>
          <p:cNvSpPr/>
          <p:nvPr/>
        </p:nvSpPr>
        <p:spPr>
          <a:xfrm>
            <a:off x="8046720" y="2084832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전 컬럼 암호화를 하지 않았나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046720" y="2487168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라이프로그 측정치를 컬럼 암호화하면 서비스가 동작하지 않습니다. 기간별 집계와 복합 인덱스가 핵심 동작인데, 암호화하면 범위 조회를 할 수 없습니다.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8046720" y="361188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C7CDEA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그래서 유출 시 즉각적 2차 피해가 나는 항목(연락처)만 컬럼 암호화하고, 측정치는 전송 구간 보호와 접근통제로 지킵니다.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48640" y="5257800"/>
            <a:ext cx="11064240" cy="1097280"/>
          </a:xfrm>
          <a:prstGeom prst="roundRect">
            <a:avLst>
              <a:gd name="adj" fmla="val 7500"/>
            </a:avLst>
          </a:prstGeom>
          <a:solidFill>
            <a:srgbClr val="F4F6FD"/>
          </a:solidFill>
          <a:ln/>
        </p:spPr>
      </p:sp>
      <p:sp>
        <p:nvSpPr>
          <p:cNvPr id="33" name="Text 31"/>
          <p:cNvSpPr/>
          <p:nvPr/>
        </p:nvSpPr>
        <p:spPr>
          <a:xfrm>
            <a:off x="868680" y="52578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"보안을 덜 했다"가 아니라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"보안 요구를 기능 제약과 함께 설계했다"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E7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입니다. 마스킹은 저장 전에 합니다 — 원문은 어디에도 남지 않고, 외부 LLM에도 마스킹된 텍스트만 전송됩니다.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A6B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HONEST STATUS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155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못 한 부분은 그대로 말씀드리겠습니다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Health Connect 실기기 검증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703320" y="202082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7" name="Text 5"/>
          <p:cNvSpPr/>
          <p:nvPr/>
        </p:nvSpPr>
        <p:spPr>
          <a:xfrm>
            <a:off x="3703320" y="202082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남음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4937760" y="187452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에뮬레이터에는 Health Connect가 없어 워커 동작만 확인했습니다.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587752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587752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미수신 감지 스케줄러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703320" y="2734056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12" name="Text 10"/>
          <p:cNvSpPr/>
          <p:nvPr/>
        </p:nvSpPr>
        <p:spPr>
          <a:xfrm>
            <a:off x="3703320" y="2734056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남음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937760" y="2587752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NFR-DV-002 의 3시간 미갱신 감지입니다. 이걸 주기적으로 돌려 줄 주체를 아직 두지 않았습니다.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300984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300984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03320" y="344728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5FF"/>
          </a:solidFill>
          <a:ln/>
        </p:spPr>
      </p:sp>
      <p:sp>
        <p:nvSpPr>
          <p:cNvPr id="17" name="Text 15"/>
          <p:cNvSpPr/>
          <p:nvPr/>
        </p:nvSpPr>
        <p:spPr>
          <a:xfrm>
            <a:off x="3703320" y="344728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7FC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범위 제외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937760" y="3300984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기술적으로 불가능한 것은 아닙니다. macOS·Xcode·Apple 계정 등 장비와 일정 문제입니다.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014216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014216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배포 인프라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703320" y="4160520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22" name="Text 20"/>
          <p:cNvSpPr/>
          <p:nvPr/>
        </p:nvSpPr>
        <p:spPr>
          <a:xfrm>
            <a:off x="3703320" y="4160520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미정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937760" y="4014216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지금은 로컬 데모 구조입니다. 클라우드 배포는 다음 단계 과제입니다.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727448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72744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평가셋 holdout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703320" y="4873752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FFF0E9"/>
          </a:solidFill>
          <a:ln/>
        </p:spPr>
      </p:sp>
      <p:sp>
        <p:nvSpPr>
          <p:cNvPr id="27" name="Text 25"/>
          <p:cNvSpPr/>
          <p:nvPr/>
        </p:nvSpPr>
        <p:spPr>
          <a:xfrm>
            <a:off x="3703320" y="4873752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C9744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없음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4937760" y="4727448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0.946은 이 평가셋 211건에서 나온 값입니다. 새 문장으로는 다시 검증하지 않았습니다.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5440680"/>
            <a:ext cx="11064240" cy="640080"/>
          </a:xfrm>
          <a:prstGeom prst="roundRect">
            <a:avLst>
              <a:gd name="adj" fmla="val 12857"/>
            </a:avLst>
          </a:prstGeom>
          <a:solidFill>
            <a:srgbClr val="FFFFFF"/>
          </a:solidFill>
          <a:ln w="12700">
            <a:solidFill>
              <a:srgbClr val="E3E7F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54406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4325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놓친 6건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703320" y="5586984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EAF8F4"/>
          </a:solidFill>
          <a:ln/>
        </p:spPr>
      </p:sp>
      <p:sp>
        <p:nvSpPr>
          <p:cNvPr id="32" name="Text 30"/>
          <p:cNvSpPr/>
          <p:nvPr/>
        </p:nvSpPr>
        <p:spPr>
          <a:xfrm>
            <a:off x="3703320" y="5586984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9E82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 완료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937760" y="544068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6E7488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완곡·작별·신변 정리 표현에 몰려 있고, 문장 하나만으로는 사람도 라벨이 갈립니다.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14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6355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BCCB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귀기울임 LISN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5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5486400" cy="5486400"/>
          </a:xfrm>
          <a:prstGeom prst="ellipse">
            <a:avLst/>
          </a:prstGeom>
          <a:solidFill>
            <a:srgbClr val="24325F"/>
          </a:solidFill>
          <a:ln/>
        </p:spPr>
      </p:sp>
      <p:sp>
        <p:nvSpPr>
          <p:cNvPr id="3" name="Shape 1"/>
          <p:cNvSpPr/>
          <p:nvPr/>
        </p:nvSpPr>
        <p:spPr>
          <a:xfrm>
            <a:off x="5592928" y="1417320"/>
            <a:ext cx="1005840" cy="1005840"/>
          </a:xfrm>
          <a:prstGeom prst="ellipse">
            <a:avLst/>
          </a:prstGeom>
          <a:solidFill>
            <a:srgbClr val="2C3A6B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4388" y="16687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274320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0" y="352044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9C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귀기울임 — 먼저 다가가는 정서 케어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4815688" y="4206240"/>
            <a:ext cx="2560320" cy="0"/>
          </a:xfrm>
          <a:prstGeom prst="line">
            <a:avLst/>
          </a:prstGeom>
          <a:noFill/>
          <a:ln w="12700">
            <a:solidFill>
              <a:srgbClr val="3E4A7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0" y="44348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스마트인재개발원 KDT 헬스케어 5팀 · 기업주제(라라랩스)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090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이응균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6090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PM · 기획 · 문서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355838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김건영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355838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AI · DATA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25586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윤일준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625586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백엔드 · DB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953348" y="4937760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함은선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953348" y="52852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9B3D6"/>
                </a:solidFill>
                <a:latin typeface="Noto Sans KR DemiLight" pitchFamily="34" charset="0"/>
                <a:ea typeface="Noto Sans KR DemiLight" pitchFamily="34" charset="-122"/>
                <a:cs typeface="Noto Sans KR DemiLight" pitchFamily="34" charset="-120"/>
              </a:rPr>
              <a:t>프론트엔드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2026-08-22T07:37:41Z</dcterms:created>
  <dcterms:modified xsi:type="dcterms:W3CDTF">2026-08-22T07:37:41Z</dcterms:modified>
</cp:coreProperties>
</file>