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66" r:id="rId6"/>
    <p:sldId id="259" r:id="rId7"/>
    <p:sldId id="267" r:id="rId8"/>
    <p:sldId id="260" r:id="rId9"/>
    <p:sldId id="261" r:id="rId10"/>
    <p:sldId id="262" r:id="rId11"/>
    <p:sldId id="263" r:id="rId12"/>
    <p:sldId id="264" r:id="rId13"/>
    <p:sldId id="265" r:id="rId14"/>
  </p:sldIdLst>
  <p:sldSz cx="9906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4657D0C9-0EA7-4B0F-8A54-AE788284F10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presProps" Target="presProps.xml"  /><Relationship Id="rId16" Type="http://schemas.openxmlformats.org/officeDocument/2006/relationships/viewProps" Target="viewProps.xml"  /><Relationship Id="rId17" Type="http://schemas.openxmlformats.org/officeDocument/2006/relationships/theme" Target="theme/theme1.xml"  /><Relationship Id="rId18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/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/>
            <a:endParaRPr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200150" y="1143000"/>
            <a:ext cx="4457700" cy="30861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/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/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/>
          <p:nvPr>
            <p:ph idx="2" type="sldImg"/>
          </p:nvPr>
        </p:nvSpPr>
        <p:spPr>
          <a:xfrm>
            <a:off x="711200" y="744538"/>
            <a:ext cx="5372100" cy="37195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>
                <a:solidFill>
                  <a:srgbClr val="000000"/>
                </a:solidFill>
              </a:rPr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711200" y="744538"/>
            <a:ext cx="5372100" cy="37195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>
                <a:solidFill>
                  <a:srgbClr val="000000"/>
                </a:solidFill>
              </a:rPr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/>
          <p:nvPr>
            <p:ph idx="2" type="sldImg"/>
          </p:nvPr>
        </p:nvSpPr>
        <p:spPr>
          <a:xfrm>
            <a:off x="711200" y="744538"/>
            <a:ext cx="5372100" cy="37195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>
                <a:solidFill>
                  <a:srgbClr val="000000"/>
                </a:solidFill>
              </a:rPr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5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6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7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8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9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0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/>
          <p:nvPr>
            <p:ph type="ctrTitle"/>
          </p:nvPr>
        </p:nvSpPr>
        <p:spPr>
          <a:xfrm>
            <a:off x="742950" y="1122363"/>
            <a:ext cx="84201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2"/>
          <p:cNvSpPr txBox="1"/>
          <p:nvPr>
            <p:ph idx="1" type="subTitle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2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2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및 내용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3"/>
          <p:cNvSpPr txBox="1"/>
          <p:nvPr>
            <p:ph idx="1" type="body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3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3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3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/>
          <p:nvPr>
            <p:ph type="title"/>
          </p:nvPr>
        </p:nvSpPr>
        <p:spPr>
          <a:xfrm>
            <a:off x="675879" y="1709740"/>
            <a:ext cx="8543925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4"/>
          <p:cNvSpPr txBox="1"/>
          <p:nvPr>
            <p:ph idx="1" type="body"/>
          </p:nvPr>
        </p:nvSpPr>
        <p:spPr>
          <a:xfrm>
            <a:off x="675879" y="4589465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4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4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4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5"/>
          <p:cNvSpPr txBox="1"/>
          <p:nvPr>
            <p:ph idx="1" type="body"/>
          </p:nvPr>
        </p:nvSpPr>
        <p:spPr>
          <a:xfrm>
            <a:off x="681038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5"/>
          <p:cNvSpPr txBox="1"/>
          <p:nvPr>
            <p:ph idx="2" type="body"/>
          </p:nvPr>
        </p:nvSpPr>
        <p:spPr>
          <a:xfrm>
            <a:off x="5014913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5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5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5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/>
          <p:nvPr>
            <p:ph type="title"/>
          </p:nvPr>
        </p:nvSpPr>
        <p:spPr>
          <a:xfrm>
            <a:off x="68232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6"/>
          <p:cNvSpPr txBox="1"/>
          <p:nvPr>
            <p:ph idx="1" type="body"/>
          </p:nvPr>
        </p:nvSpPr>
        <p:spPr>
          <a:xfrm>
            <a:off x="682329" y="1681163"/>
            <a:ext cx="4190702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6"/>
          <p:cNvSpPr txBox="1"/>
          <p:nvPr>
            <p:ph idx="2" type="body"/>
          </p:nvPr>
        </p:nvSpPr>
        <p:spPr>
          <a:xfrm>
            <a:off x="682329" y="2505075"/>
            <a:ext cx="4190702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6"/>
          <p:cNvSpPr txBox="1"/>
          <p:nvPr>
            <p:ph idx="3" type="body"/>
          </p:nvPr>
        </p:nvSpPr>
        <p:spPr>
          <a:xfrm>
            <a:off x="5014913" y="1681163"/>
            <a:ext cx="421134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6"/>
          <p:cNvSpPr txBox="1"/>
          <p:nvPr>
            <p:ph idx="4" type="body"/>
          </p:nvPr>
        </p:nvSpPr>
        <p:spPr>
          <a:xfrm>
            <a:off x="5014913" y="2505075"/>
            <a:ext cx="4211340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6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6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6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7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7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7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8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8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" type="body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9"/>
          <p:cNvSpPr txBox="1"/>
          <p:nvPr>
            <p:ph idx="2" type="body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9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9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9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/>
          <p:nvPr>
            <p:ph idx="2" type="pic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0"/>
          <p:cNvSpPr txBox="1"/>
          <p:nvPr>
            <p:ph idx="1" type="body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0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0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0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1"/>
          <p:cNvSpPr txBox="1"/>
          <p:nvPr>
            <p:ph idx="1" type="body"/>
          </p:nvPr>
        </p:nvSpPr>
        <p:spPr>
          <a:xfrm rot="5400000">
            <a:off x="2777332" y="-270668"/>
            <a:ext cx="4351338" cy="85439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1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2"/>
          <p:cNvSpPr txBox="1"/>
          <p:nvPr>
            <p:ph type="title"/>
          </p:nvPr>
        </p:nvSpPr>
        <p:spPr>
          <a:xfrm rot="5400000">
            <a:off x="5251054" y="2203054"/>
            <a:ext cx="5811838" cy="21359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2"/>
          <p:cNvSpPr txBox="1"/>
          <p:nvPr>
            <p:ph idx="1" type="body"/>
          </p:nvPr>
        </p:nvSpPr>
        <p:spPr>
          <a:xfrm rot="5400000">
            <a:off x="917179" y="128984"/>
            <a:ext cx="5811838" cy="62841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2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2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1"/>
          <p:cNvSpPr txBox="1"/>
          <p:nvPr>
            <p:ph idx="1" type="body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1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1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1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2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1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2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4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5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6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9906000" cy="511746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612140" y="1270635"/>
            <a:ext cx="6006465" cy="210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과제명 (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멀티모달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감정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기반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맞춤형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LLM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케어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모니터링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시스템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부제 (</a:t>
            </a:r>
            <a:r>
              <a:rPr lang="ko-KR" altLang="en-US" sz="2000" b="1" dirty="0">
                <a:solidFill>
                  <a:schemeClr val="bg1"/>
                </a:solidFill>
              </a:rPr>
              <a:t>디지털</a:t>
            </a:r>
            <a:r>
              <a:rPr lang="en-US" altLang="ko-KR" sz="2000" b="1" dirty="0">
                <a:solidFill>
                  <a:schemeClr val="bg1"/>
                </a:solidFill>
              </a:rPr>
              <a:t> </a:t>
            </a:r>
            <a:r>
              <a:rPr lang="ko-KR" altLang="en-US" sz="2000" b="1" dirty="0">
                <a:solidFill>
                  <a:schemeClr val="bg1"/>
                </a:solidFill>
              </a:rPr>
              <a:t>라이프로그</a:t>
            </a:r>
            <a:r>
              <a:rPr lang="en-US" altLang="ko-KR" sz="2000" b="1" dirty="0">
                <a:solidFill>
                  <a:schemeClr val="bg1"/>
                </a:solidFill>
              </a:rPr>
              <a:t> </a:t>
            </a:r>
            <a:r>
              <a:rPr lang="ko-KR" altLang="en-US" sz="2000" b="1" dirty="0">
                <a:solidFill>
                  <a:schemeClr val="bg1"/>
                </a:solidFill>
              </a:rPr>
              <a:t>기반</a:t>
            </a:r>
            <a:r>
              <a:rPr lang="en-US" altLang="ko-KR" sz="2000" b="1" dirty="0">
                <a:solidFill>
                  <a:schemeClr val="bg1"/>
                </a:solidFill>
              </a:rPr>
              <a:t> </a:t>
            </a:r>
            <a:r>
              <a:rPr lang="ko-KR" altLang="en-US" sz="2000" b="1" dirty="0">
                <a:solidFill>
                  <a:schemeClr val="bg1"/>
                </a:solidFill>
              </a:rPr>
              <a:t>정서</a:t>
            </a:r>
            <a:r>
              <a:rPr lang="en-US" altLang="ko-KR" sz="2000" b="1" dirty="0">
                <a:solidFill>
                  <a:schemeClr val="bg1"/>
                </a:solidFill>
              </a:rPr>
              <a:t> </a:t>
            </a:r>
            <a:r>
              <a:rPr lang="ko-KR" altLang="en-US" sz="2000" b="1" dirty="0">
                <a:solidFill>
                  <a:schemeClr val="bg1"/>
                </a:solidFill>
              </a:rPr>
              <a:t>케어</a:t>
            </a:r>
            <a:r>
              <a:rPr lang="en-US" altLang="ko-KR" sz="2000" b="1" dirty="0">
                <a:solidFill>
                  <a:schemeClr val="bg1"/>
                </a:solidFill>
              </a:rPr>
              <a:t> </a:t>
            </a:r>
            <a:r>
              <a:rPr lang="ko-KR" altLang="en-US" sz="2000" b="1" dirty="0">
                <a:solidFill>
                  <a:schemeClr val="bg1"/>
                </a:solidFill>
              </a:rPr>
              <a:t>서비스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54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화면설계서</a:t>
            </a:r>
            <a:endParaRPr sz="54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"/>
          <p:cNvCxnSpPr/>
          <p:nvPr/>
        </p:nvCxnSpPr>
        <p:spPr>
          <a:xfrm>
            <a:off x="713105" y="939800"/>
            <a:ext cx="410845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/>
            <a:headEnd w="sm" len="sm"/>
            <a:tailEnd w="sm" len="sm"/>
          </a:ln>
        </p:spPr>
      </p:cxnSp>
      <p:sp>
        <p:nvSpPr>
          <p:cNvPr id="91" name="Google Shape;91;p1"/>
          <p:cNvSpPr txBox="1"/>
          <p:nvPr/>
        </p:nvSpPr>
        <p:spPr>
          <a:xfrm>
            <a:off x="5607050" y="5859775"/>
            <a:ext cx="4135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팀명 : 귀기울임</a:t>
            </a:r>
            <a:endParaRPr sz="18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팀원 : 이응균 / 김건영 / 윤일준 / 함은선</a:t>
            </a:r>
            <a:endParaRPr sz="18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02615" y="6136640"/>
            <a:ext cx="133921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2026. 07. 21</a:t>
            </a:r>
            <a:endParaRPr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/>
        </p:nvSpPr>
        <p:spPr>
          <a:xfrm>
            <a:off x="422275" y="408305"/>
            <a:ext cx="1826260" cy="584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변경이력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2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cap="flat" cmpd="sng" w="190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cxnSp>
      <p:graphicFrame>
        <p:nvGraphicFramePr>
          <p:cNvPr id="100" name="Google Shape;100;p2"/>
          <p:cNvGraphicFramePr/>
          <p:nvPr/>
        </p:nvGraphicFramePr>
        <p:xfrm>
          <a:off x="553720" y="144335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{4657D0C9-0EA7-4B0F-8A54-AE788284F10E}</a:tableStyleId>
              </a:tblPr>
              <a:tblGrid>
                <a:gridCol w="817875"/>
                <a:gridCol w="1000125"/>
                <a:gridCol w="4419600"/>
                <a:gridCol w="1247775"/>
                <a:gridCol w="1247775"/>
              </a:tblGrid>
              <a:tr h="337825"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Calibri"/>
                        <a:buNone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버전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Calibri"/>
                        <a:buNone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작성일자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Calibri"/>
                        <a:buNone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수정사항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Calibri"/>
                        <a:buNone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Calibri"/>
                        <a:buNone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검수자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</a:tr>
              <a:tr h="521975"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2026.07.20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메뉴 구성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521975"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플로우 차트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0.3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설계 화면 설명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0.4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화면 설계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0.5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8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플로우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차트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및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로그인, 회원가입, 회원가입 정보 입력, 챗봇 성격 선택, 실시간 대화 및 대화기록 조회, 메인 홈 대시보드 화면 관련 유스케이스ID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</a:tbl>
          </a:graphicData>
        </a:graphic>
      </p:graphicFrame>
      <p:sp>
        <p:nvSpPr>
          <p:cNvPr id="101" name="Google Shape;101;p2"/>
          <p:cNvSpPr txBox="1"/>
          <p:nvPr/>
        </p:nvSpPr>
        <p:spPr>
          <a:xfrm>
            <a:off x="553720" y="5022512"/>
            <a:ext cx="73329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작성방법)</a:t>
            </a:r>
            <a:endParaRPr b="1">
              <a:solidFill>
                <a:srgbClr val="ff0000"/>
              </a:solidFill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화면설계서가 수정될 때마다 버전, 작성자, 수정사항, 수정날짜를 작성하여 이력을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버전은 화면설계서가 수정될 때마다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수정사항은 과거버전 대비 어떠한 내용이 달라졌는지(추가/수정/삭제)를 작성해야 한다.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작성자는 화면설계내용을 작성한 사람이다.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검수자는 화면설계에 대해 문제가 없는지 점검하는 사람이다.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현재 문서를 제출할 경우 현재 작성방법에 대한 내용은 모두 지우고 제출해야 한다.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3"/>
          <p:cNvCxnSpPr/>
          <p:nvPr/>
        </p:nvCxnSpPr>
        <p:spPr>
          <a:xfrm rot="10800000">
            <a:off x="1233946" y="2928490"/>
            <a:ext cx="1200" cy="14619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08" name="Google Shape;108;p3"/>
          <p:cNvCxnSpPr/>
          <p:nvPr/>
        </p:nvCxnSpPr>
        <p:spPr>
          <a:xfrm flipH="1" rot="10800000">
            <a:off x="8672195" y="2929255"/>
            <a:ext cx="635" cy="173609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09" name="Google Shape;109;p3"/>
          <p:cNvCxnSpPr>
            <a:stCxn id="110" idx="0"/>
            <a:endCxn id="111" idx="2"/>
          </p:cNvCxnSpPr>
          <p:nvPr/>
        </p:nvCxnSpPr>
        <p:spPr>
          <a:xfrm flipH="1" rot="5400000">
            <a:off x="6462493" y="1070390"/>
            <a:ext cx="699900" cy="3717600"/>
          </a:xfrm>
          <a:prstGeom prst="bentConnector3">
            <a:avLst>
              <a:gd fmla="val 50023" name="adj1"/>
            </a:avLst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2" name="Google Shape;112;p3"/>
          <p:cNvCxnSpPr/>
          <p:nvPr/>
        </p:nvCxnSpPr>
        <p:spPr>
          <a:xfrm flipH="1" rot="10800000">
            <a:off x="2660015" y="2926715"/>
            <a:ext cx="635" cy="181483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3" name="Google Shape;113;p3"/>
          <p:cNvCxnSpPr/>
          <p:nvPr/>
        </p:nvCxnSpPr>
        <p:spPr>
          <a:xfrm flipH="1" rot="10800000">
            <a:off x="4159249" y="2926715"/>
            <a:ext cx="635" cy="231521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4" name="Google Shape;114;p3"/>
          <p:cNvCxnSpPr/>
          <p:nvPr/>
        </p:nvCxnSpPr>
        <p:spPr>
          <a:xfrm rot="-5400000">
            <a:off x="4740621" y="3864899"/>
            <a:ext cx="1873828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5" name="Google Shape;115;p3"/>
          <p:cNvCxnSpPr/>
          <p:nvPr/>
        </p:nvCxnSpPr>
        <p:spPr>
          <a:xfrm rot="10800000">
            <a:off x="7169785" y="2926715"/>
            <a:ext cx="1270" cy="1392555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6" name="Google Shape;116;p3"/>
          <p:cNvSpPr txBox="1"/>
          <p:nvPr/>
        </p:nvSpPr>
        <p:spPr>
          <a:xfrm>
            <a:off x="422275" y="408305"/>
            <a:ext cx="1918970" cy="584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메뉴 구성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cap="flat" cmpd="sng" w="190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1" name="Google Shape;111;p3"/>
          <p:cNvSpPr/>
          <p:nvPr/>
        </p:nvSpPr>
        <p:spPr>
          <a:xfrm>
            <a:off x="4173855" y="2211070"/>
            <a:ext cx="1559560" cy="368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귀기울임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805886" y="3279140"/>
            <a:ext cx="875700" cy="3492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223012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3734435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홈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24129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챗봇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673354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823341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설정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216150" y="37198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약관 동의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2216150" y="415607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기본정보 입력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2216150" y="459549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가입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720464" y="371729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오늘의 감정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720464" y="505460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추천 콘텐츠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5227320" y="37198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성격 선택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8233410" y="37198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웨어러블 연동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8233410" y="415607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알림 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4201795" y="5460365"/>
            <a:ext cx="939165" cy="1194435"/>
          </a:xfrm>
          <a:prstGeom prst="rect">
            <a:avLst/>
          </a:prstGeom>
          <a:solidFill>
            <a:srgbClr val="0090D0">
              <a:alpha val="9804"/>
            </a:srgbClr>
          </a:solidFill>
          <a:ln cap="flat" cmpd="sng" w="28575">
            <a:solidFill>
              <a:srgbClr val="0090D0"/>
            </a:solidFill>
            <a:prstDash val="dash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4242435" y="5508625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명상 / 호흡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4242435" y="5877560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음악 / 힐링 사운드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4" name="Google Shape;134;p3"/>
          <p:cNvGrpSpPr/>
          <p:nvPr/>
        </p:nvGrpSpPr>
        <p:grpSpPr>
          <a:xfrm>
            <a:off x="8051800" y="1193800"/>
            <a:ext cx="1238250" cy="1435100"/>
            <a:chOff x="8051800" y="1193800"/>
            <a:chExt cx="1238250" cy="1435100"/>
          </a:xfrm>
        </p:grpSpPr>
        <p:sp>
          <p:nvSpPr>
            <p:cNvPr id="135" name="Google Shape;135;p3"/>
            <p:cNvSpPr/>
            <p:nvPr/>
          </p:nvSpPr>
          <p:spPr>
            <a:xfrm>
              <a:off x="8054975" y="1535430"/>
              <a:ext cx="1235075" cy="300355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메인메뉴이름</a:t>
              </a:r>
              <a:endParaRPr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8054975" y="1877060"/>
              <a:ext cx="1235075" cy="300355"/>
            </a:xfrm>
            <a:prstGeom prst="rect">
              <a:avLst/>
            </a:prstGeom>
            <a:solidFill>
              <a:schemeClr val="lt1"/>
            </a:solidFill>
            <a:ln cap="flat" cmpd="sng" w="12700">
              <a:solidFill>
                <a:srgbClr val="0090D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서브메뉴이름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8051800" y="2218690"/>
              <a:ext cx="1235075" cy="410210"/>
            </a:xfrm>
            <a:prstGeom prst="rect">
              <a:avLst/>
            </a:prstGeom>
            <a:solidFill>
              <a:srgbClr val="0090D0">
                <a:alpha val="10196"/>
              </a:srgbClr>
            </a:solidFill>
            <a:ln cap="flat" cmpd="sng" w="28575">
              <a:solidFill>
                <a:srgbClr val="0090D0"/>
              </a:solidFill>
              <a:prstDash val="dash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 내 메뉴이름</a:t>
              </a: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8054975" y="1193800"/>
              <a:ext cx="1231900" cy="300355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프로젝트명</a:t>
              </a:r>
              <a:endParaRPr/>
            </a:p>
          </p:txBody>
        </p:sp>
      </p:grpSp>
      <p:sp>
        <p:nvSpPr>
          <p:cNvPr id="139" name="Google Shape;139;p3"/>
          <p:cNvSpPr/>
          <p:nvPr/>
        </p:nvSpPr>
        <p:spPr>
          <a:xfrm>
            <a:off x="805744" y="3719195"/>
            <a:ext cx="875700" cy="3492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08284" y="4159885"/>
            <a:ext cx="875700" cy="3492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243070" y="6255385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산책 / 운동 추천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220075" y="458470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계정 관리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6729730" y="372999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감정 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729730" y="41516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726815" y="415861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726180" y="459994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한줄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5226685" y="4154169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대화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5236210" y="4588508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725160" y="4984747"/>
            <a:ext cx="939165" cy="810895"/>
          </a:xfrm>
          <a:prstGeom prst="rect">
            <a:avLst/>
          </a:prstGeom>
          <a:solidFill>
            <a:srgbClr val="0090D0">
              <a:alpha val="9804"/>
            </a:srgbClr>
          </a:solidFill>
          <a:ln cap="flat" cmpd="sng" w="28575">
            <a:solidFill>
              <a:srgbClr val="0090D0"/>
            </a:solidFill>
            <a:prstDash val="dash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5765800" y="5033007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 상세보기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5765800" y="5401942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삭제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3"/>
          <p:cNvCxnSpPr/>
          <p:nvPr/>
        </p:nvCxnSpPr>
        <p:spPr>
          <a:xfrm rot="-5400000">
            <a:off x="2745980" y="1068265"/>
            <a:ext cx="699900" cy="3717600"/>
          </a:xfrm>
          <a:prstGeom prst="bentConnector3">
            <a:avLst>
              <a:gd fmla="val 50023" name="adj1"/>
            </a:avLst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41789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회원가입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353906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회원가입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sp>
        <p:nvSpPr>
          <p:cNvPr id="5" name="직사각형 23"/>
          <p:cNvSpPr/>
          <p:nvPr/>
        </p:nvSpPr>
        <p:spPr>
          <a:xfrm>
            <a:off x="3539251" y="178847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3538855" y="466566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정보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7" name="사각형: 둥근 모서리 28"/>
          <p:cNvSpPr/>
          <p:nvPr/>
        </p:nvSpPr>
        <p:spPr>
          <a:xfrm>
            <a:off x="7646244" y="585686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로그인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cxnSp>
        <p:nvCxnSpPr>
          <p:cNvPr id="8" name="prstName"/>
          <p:cNvCxnSpPr/>
          <p:nvPr/>
        </p:nvCxnSpPr>
        <p:spPr>
          <a:xfrm rot="5400000">
            <a:off x="4158376" y="1693227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prstName"/>
          <p:cNvCxnSpPr/>
          <p:nvPr/>
        </p:nvCxnSpPr>
        <p:spPr>
          <a:xfrm rot="16200000" flipH="1">
            <a:off x="4014668" y="5474851"/>
            <a:ext cx="476250" cy="87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rstName"/>
          <p:cNvSpPr/>
          <p:nvPr/>
        </p:nvSpPr>
        <p:spPr>
          <a:xfrm>
            <a:off x="3538855" y="571341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입력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정보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1" name="prstName"/>
          <p:cNvSpPr/>
          <p:nvPr/>
        </p:nvSpPr>
        <p:spPr>
          <a:xfrm>
            <a:off x="3538855" y="274097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이용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약관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동의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12" name="prstName"/>
          <p:cNvCxnSpPr/>
          <p:nvPr/>
        </p:nvCxnSpPr>
        <p:spPr>
          <a:xfrm rot="5400000">
            <a:off x="4063126" y="4475162"/>
            <a:ext cx="3810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16200000" flipH="1">
            <a:off x="4062731" y="3788730"/>
            <a:ext cx="38100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4062490" y="2549842"/>
            <a:ext cx="381000" cy="127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7646036" y="466566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정보</a:t>
            </a:r>
            <a:r>
              <a:rPr lang="en-US" altLang="ko-KR" sz="1200" b="1" dirty="0">
                <a:solidFill>
                  <a:schemeClr val="tx1"/>
                </a:solidFill>
              </a:rPr>
              <a:t> DB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가입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처리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6" name="prstName"/>
          <p:cNvCxnSpPr/>
          <p:nvPr/>
        </p:nvCxnSpPr>
        <p:spPr>
          <a:xfrm rot="10800000">
            <a:off x="2943621" y="3788727"/>
            <a:ext cx="857489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rstName"/>
          <p:cNvCxnSpPr/>
          <p:nvPr/>
        </p:nvCxnSpPr>
        <p:spPr>
          <a:xfrm rot="10800000">
            <a:off x="2921318" y="2550261"/>
            <a:ext cx="1212533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2324500" y="3188018"/>
            <a:ext cx="123825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prstName"/>
          <p:cNvCxnSpPr/>
          <p:nvPr/>
        </p:nvCxnSpPr>
        <p:spPr>
          <a:xfrm rot="10800000">
            <a:off x="1727835" y="4474946"/>
            <a:ext cx="2095500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890670" y="5293679"/>
            <a:ext cx="167640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0800000">
            <a:off x="1710055" y="6141402"/>
            <a:ext cx="144780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>
            <a:off x="5349037" y="6141402"/>
            <a:ext cx="145732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prstName"/>
          <p:cNvCxnSpPr/>
          <p:nvPr/>
        </p:nvCxnSpPr>
        <p:spPr>
          <a:xfrm rot="10800000">
            <a:off x="6763386" y="4855527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5400000" flipH="1" flipV="1">
            <a:off x="6140212" y="5498784"/>
            <a:ext cx="12858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stCxn id="15" idx="4"/>
            <a:endCxn id="7" idx="0"/>
          </p:cNvCxnSpPr>
          <p:nvPr/>
        </p:nvCxnSpPr>
        <p:spPr>
          <a:xfrm rot="16200000" flipH="1">
            <a:off x="8050665" y="5546910"/>
            <a:ext cx="619700" cy="20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"/>
          <p:cNvSpPr txBox="1"/>
          <p:nvPr/>
        </p:nvSpPr>
        <p:spPr>
          <a:xfrm>
            <a:off x="3155696" y="597953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sp>
        <p:nvSpPr>
          <p:cNvPr id="27" name="TextBox"/>
          <p:cNvSpPr txBox="1"/>
          <p:nvPr/>
        </p:nvSpPr>
        <p:spPr>
          <a:xfrm>
            <a:off x="4967737" y="5979300"/>
            <a:ext cx="45275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28" name="TextBox"/>
          <p:cNvSpPr txBox="1"/>
          <p:nvPr/>
        </p:nvSpPr>
        <p:spPr>
          <a:xfrm>
            <a:off x="3987297" y="3979050"/>
            <a:ext cx="53784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29" name="TextBox"/>
          <p:cNvSpPr txBox="1"/>
          <p:nvPr/>
        </p:nvSpPr>
        <p:spPr>
          <a:xfrm>
            <a:off x="3770376" y="363638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cxnSp>
        <p:nvCxnSpPr>
          <p:cNvPr id="30" name="prstName"/>
          <p:cNvCxnSpPr/>
          <p:nvPr/>
        </p:nvCxnSpPr>
        <p:spPr>
          <a:xfrm rot="10800000">
            <a:off x="4109085" y="3788727"/>
            <a:ext cx="14287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32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400025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37725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로그인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411818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로그인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5" name="직사각형 23"/>
          <p:cNvSpPr/>
          <p:nvPr/>
        </p:nvSpPr>
        <p:spPr>
          <a:xfrm>
            <a:off x="4118371" y="192246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28"/>
          <p:cNvSpPr/>
          <p:nvPr/>
        </p:nvSpPr>
        <p:spPr>
          <a:xfrm>
            <a:off x="4118184" y="5794632"/>
            <a:ext cx="1428750" cy="571500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메인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화면</a:t>
            </a:r>
            <a:br>
              <a:rPr lang="en-US" altLang="ko-KR" sz="1200" b="1" dirty="0">
                <a:solidFill>
                  <a:schemeClr val="bg1"/>
                </a:solidFill>
              </a:rPr>
            </a:br>
            <a:r>
              <a:rPr lang="ko-KR" altLang="en-US" sz="1200" b="1" dirty="0">
                <a:solidFill>
                  <a:schemeClr val="bg1"/>
                </a:solidFill>
              </a:rPr>
              <a:t>이동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cxnSp>
        <p:nvCxnSpPr>
          <p:cNvPr id="7" name="prstName"/>
          <p:cNvCxnSpPr>
            <a:endCxn id="5" idx="0"/>
          </p:cNvCxnSpPr>
          <p:nvPr/>
        </p:nvCxnSpPr>
        <p:spPr>
          <a:xfrm rot="16200000" flipH="1">
            <a:off x="4670504" y="1760220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stName"/>
          <p:cNvSpPr/>
          <p:nvPr/>
        </p:nvSpPr>
        <p:spPr>
          <a:xfrm>
            <a:off x="4117975" y="371570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계정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인증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및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9" name="prstName"/>
          <p:cNvSpPr/>
          <p:nvPr/>
        </p:nvSpPr>
        <p:spPr>
          <a:xfrm>
            <a:off x="4117976" y="281908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이메일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비밀번호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0" name="prstName"/>
          <p:cNvCxnSpPr/>
          <p:nvPr/>
        </p:nvCxnSpPr>
        <p:spPr>
          <a:xfrm rot="10800000">
            <a:off x="2971165" y="4493577"/>
            <a:ext cx="11239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prstName"/>
          <p:cNvCxnSpPr/>
          <p:nvPr/>
        </p:nvCxnSpPr>
        <p:spPr>
          <a:xfrm rot="5400000" flipH="1" flipV="1">
            <a:off x="2051255" y="3582335"/>
            <a:ext cx="1857375" cy="825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prstName"/>
          <p:cNvCxnSpPr/>
          <p:nvPr/>
        </p:nvCxnSpPr>
        <p:spPr>
          <a:xfrm rot="10800000" flipV="1">
            <a:off x="2960892" y="2645727"/>
            <a:ext cx="1700213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23"/>
          <p:cNvSpPr/>
          <p:nvPr/>
        </p:nvSpPr>
        <p:spPr>
          <a:xfrm>
            <a:off x="4118371" y="489807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세션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생성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및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상태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유지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TextBox"/>
          <p:cNvSpPr txBox="1"/>
          <p:nvPr/>
        </p:nvSpPr>
        <p:spPr>
          <a:xfrm>
            <a:off x="3238096" y="4376158"/>
            <a:ext cx="1322705" cy="51816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1400"/>
              <a:t>NO</a:t>
            </a:r>
            <a:endParaRPr lang="en-US" altLang="ko-KR" sz="1400"/>
          </a:p>
          <a:p>
            <a:pPr lvl="0">
              <a:defRPr/>
            </a:pPr>
            <a:r>
              <a:rPr lang="en-US" altLang="ko-KR" sz="1400"/>
              <a:t>(</a:t>
            </a:r>
            <a:r>
              <a:rPr lang="ko-KR" altLang="en-US" sz="1400"/>
              <a:t>로그인</a:t>
            </a:r>
            <a:r>
              <a:rPr lang="en-US" altLang="ko-KR" sz="1400"/>
              <a:t> </a:t>
            </a:r>
            <a:r>
              <a:rPr lang="ko-KR" altLang="en-US" sz="1400"/>
              <a:t>실패</a:t>
            </a:r>
            <a:r>
              <a:rPr lang="en-US" altLang="ko-KR" sz="1400"/>
              <a:t>)</a:t>
            </a:r>
            <a:endParaRPr lang="ko-KR" altLang="en-US" sz="1400"/>
          </a:p>
        </p:txBody>
      </p:sp>
      <p:sp>
        <p:nvSpPr>
          <p:cNvPr id="15" name="TextBox"/>
          <p:cNvSpPr txBox="1"/>
          <p:nvPr/>
        </p:nvSpPr>
        <p:spPr>
          <a:xfrm>
            <a:off x="4846452" y="4514990"/>
            <a:ext cx="1508760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YES(</a:t>
            </a:r>
            <a:r>
              <a:rPr lang="ko-KR" altLang="en-US" sz="1400" dirty="0"/>
              <a:t>로그인성공</a:t>
            </a:r>
            <a:r>
              <a:rPr lang="en-US" altLang="ko-KR" sz="1400" dirty="0"/>
              <a:t>)</a:t>
            </a:r>
            <a:endParaRPr lang="ko-KR" altLang="en-US" sz="1400"/>
          </a:p>
        </p:txBody>
      </p:sp>
      <p:sp>
        <p:nvSpPr>
          <p:cNvPr id="16" name="순서도: 문서 40"/>
          <p:cNvSpPr/>
          <p:nvPr/>
        </p:nvSpPr>
        <p:spPr>
          <a:xfrm>
            <a:off x="1428634" y="2906583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이메일 또는 비밀번호를 확인하세요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18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cxnSp>
        <p:nvCxnSpPr>
          <p:cNvPr id="19" name="prstName"/>
          <p:cNvCxnSpPr/>
          <p:nvPr/>
        </p:nvCxnSpPr>
        <p:spPr>
          <a:xfrm rot="16200000" flipH="1">
            <a:off x="4670504" y="265620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4670504" y="355282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4670504" y="473519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 rot="16200000" flipH="1">
            <a:off x="4670504" y="563181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5604510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(AI </a:t>
            </a:r>
            <a:r>
              <a:rPr lang="ko-KR" altLang="en-US" sz="3200" b="1" dirty="0"/>
              <a:t>페르소나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챗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봇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1029544" y="115913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A</a:t>
            </a:r>
            <a:r>
              <a:rPr lang="en-US" altLang="ko-KR" sz="1200" b="1" dirty="0">
                <a:solidFill>
                  <a:srgbClr val="ffffff"/>
                </a:solidFill>
              </a:rPr>
              <a:t>I </a:t>
            </a:r>
            <a:r>
              <a:rPr lang="ko-KR" altLang="en-US" sz="1200" b="1" dirty="0">
                <a:solidFill>
                  <a:srgbClr val="ffffff"/>
                </a:solidFill>
              </a:rPr>
              <a:t>챗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봇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sp>
        <p:nvSpPr>
          <p:cNvPr id="5" name="직사각형 23"/>
          <p:cNvSpPr/>
          <p:nvPr/>
        </p:nvSpPr>
        <p:spPr>
          <a:xfrm>
            <a:off x="1029731" y="222408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챗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봇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화면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1029335" y="449230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200" b="1">
                <a:solidFill>
                  <a:schemeClr val="tx1"/>
                </a:solidFill>
              </a:rPr>
              <a:t>AI </a:t>
            </a:r>
            <a:r>
              <a:rPr lang="ko-KR" altLang="en-US" sz="1200" b="1">
                <a:solidFill>
                  <a:schemeClr val="tx1"/>
                </a:solidFill>
              </a:rPr>
              <a:t>인사말</a:t>
            </a:r>
            <a:br>
              <a:rPr lang="en-US" altLang="ko-KR" sz="1200" b="1">
                <a:solidFill>
                  <a:schemeClr val="tx1"/>
                </a:solidFill>
              </a:rPr>
            </a:br>
            <a:r>
              <a:rPr lang="ko-KR" altLang="en-US" sz="1200" b="1">
                <a:solidFill>
                  <a:schemeClr val="tx1"/>
                </a:solidFill>
              </a:rPr>
              <a:t>출력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7" name="prstName"/>
          <p:cNvSpPr/>
          <p:nvPr/>
        </p:nvSpPr>
        <p:spPr>
          <a:xfrm>
            <a:off x="4601210" y="257587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위기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대응</a:t>
            </a:r>
            <a:br>
              <a:rPr lang="en-US" altLang="ko-KR" sz="1200" b="1" dirty="0">
                <a:solidFill>
                  <a:schemeClr val="tx1"/>
                </a:solidFill>
              </a:rPr>
            </a:b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제공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8" name="사각형: 둥근 모서리 28"/>
          <p:cNvSpPr/>
          <p:nvPr/>
        </p:nvSpPr>
        <p:spPr>
          <a:xfrm>
            <a:off x="7343349" y="613245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메인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cxnSp>
        <p:nvCxnSpPr>
          <p:cNvPr id="9" name="prstName"/>
          <p:cNvCxnSpPr/>
          <p:nvPr/>
        </p:nvCxnSpPr>
        <p:spPr>
          <a:xfrm rot="16200000" flipH="1">
            <a:off x="1505887" y="1968724"/>
            <a:ext cx="476250" cy="18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prstName"/>
          <p:cNvCxnSpPr/>
          <p:nvPr/>
        </p:nvCxnSpPr>
        <p:spPr>
          <a:xfrm rot="5400000">
            <a:off x="1505981" y="303371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rstName"/>
          <p:cNvSpPr/>
          <p:nvPr/>
        </p:nvSpPr>
        <p:spPr>
          <a:xfrm>
            <a:off x="1029335" y="554005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사용자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메세지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2" name="prstName"/>
          <p:cNvCxnSpPr/>
          <p:nvPr/>
        </p:nvCxnSpPr>
        <p:spPr>
          <a:xfrm rot="16200000" flipH="1">
            <a:off x="1419225" y="4167821"/>
            <a:ext cx="64897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5400000">
            <a:off x="1505981" y="530193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5196919" y="6012815"/>
            <a:ext cx="238125" cy="2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4601210" y="115919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위기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발화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여부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6" name="직사각형 23"/>
          <p:cNvSpPr/>
          <p:nvPr/>
        </p:nvSpPr>
        <p:spPr>
          <a:xfrm>
            <a:off x="4601606" y="356266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관리자</a:t>
            </a:r>
            <a:r>
              <a:rPr lang="en-US" altLang="ko-KR" sz="1200" b="1" dirty="0">
                <a:solidFill>
                  <a:schemeClr val="tx1"/>
                </a:solidFill>
              </a:rPr>
              <a:t> , </a:t>
            </a:r>
            <a:r>
              <a:rPr lang="ko-KR" altLang="en-US" sz="1200" b="1" dirty="0">
                <a:solidFill>
                  <a:schemeClr val="tx1"/>
                </a:solidFill>
              </a:rPr>
              <a:t>긴급상담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연결</a:t>
            </a:r>
            <a:r>
              <a:rPr lang="en-US" altLang="ko-KR" sz="1200" b="1" dirty="0">
                <a:solidFill>
                  <a:schemeClr val="tx1"/>
                </a:solidFill>
              </a:rPr>
              <a:t> UI </a:t>
            </a:r>
            <a:r>
              <a:rPr lang="ko-KR" altLang="en-US" sz="1200" b="1" dirty="0">
                <a:solidFill>
                  <a:schemeClr val="tx1"/>
                </a:solidFill>
              </a:rPr>
              <a:t>노출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17" name="prstName"/>
          <p:cNvCxnSpPr/>
          <p:nvPr/>
        </p:nvCxnSpPr>
        <p:spPr>
          <a:xfrm rot="16200000" flipH="1">
            <a:off x="5108138" y="3354824"/>
            <a:ext cx="415290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5173106" y="2439988"/>
            <a:ext cx="2857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23"/>
          <p:cNvSpPr/>
          <p:nvPr/>
        </p:nvSpPr>
        <p:spPr>
          <a:xfrm>
            <a:off x="4601606" y="613251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대화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기록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20" name="prstName"/>
          <p:cNvCxnSpPr>
            <a:endCxn id="8" idx="1"/>
          </p:cNvCxnSpPr>
          <p:nvPr/>
        </p:nvCxnSpPr>
        <p:spPr>
          <a:xfrm flipV="1">
            <a:off x="6030355" y="6418203"/>
            <a:ext cx="1312993" cy="5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5206046" y="5555614"/>
            <a:ext cx="21908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rstName"/>
          <p:cNvSpPr/>
          <p:nvPr/>
        </p:nvSpPr>
        <p:spPr>
          <a:xfrm>
            <a:off x="7343140" y="134969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답변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출력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23" name="prstName"/>
          <p:cNvCxnSpPr>
            <a:stCxn id="11" idx="2"/>
          </p:cNvCxnSpPr>
          <p:nvPr/>
        </p:nvCxnSpPr>
        <p:spPr>
          <a:xfrm>
            <a:off x="2386762" y="5825807"/>
            <a:ext cx="12382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10800000">
            <a:off x="3610611" y="1587182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/>
          <p:nvPr/>
        </p:nvCxnSpPr>
        <p:spPr>
          <a:xfrm flipV="1">
            <a:off x="6390640" y="1587817"/>
            <a:ext cx="95250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prstName"/>
          <p:cNvCxnSpPr/>
          <p:nvPr/>
        </p:nvCxnSpPr>
        <p:spPr>
          <a:xfrm rot="16200000" flipH="1">
            <a:off x="6832480" y="3146226"/>
            <a:ext cx="2450467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prstName"/>
          <p:cNvCxnSpPr/>
          <p:nvPr/>
        </p:nvCxnSpPr>
        <p:spPr>
          <a:xfrm rot="5400000" flipH="1" flipV="1">
            <a:off x="1500584" y="3717291"/>
            <a:ext cx="425958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rstName"/>
          <p:cNvSpPr/>
          <p:nvPr/>
        </p:nvSpPr>
        <p:spPr>
          <a:xfrm>
            <a:off x="4601210" y="458882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대화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종료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29" name="prstName"/>
          <p:cNvCxnSpPr/>
          <p:nvPr/>
        </p:nvCxnSpPr>
        <p:spPr>
          <a:xfrm>
            <a:off x="5648959" y="4350702"/>
            <a:ext cx="240982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rstName"/>
          <p:cNvSpPr/>
          <p:nvPr/>
        </p:nvSpPr>
        <p:spPr>
          <a:xfrm>
            <a:off x="1029335" y="327183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페르소나</a:t>
            </a:r>
            <a:r>
              <a:rPr lang="en-US" altLang="ko-KR" sz="1200" b="1" dirty="0">
                <a:solidFill>
                  <a:schemeClr val="tx1"/>
                </a:solidFill>
              </a:rPr>
              <a:t>  </a:t>
            </a:r>
            <a:r>
              <a:rPr lang="ko-KR" altLang="en-US" sz="1200" b="1" dirty="0">
                <a:solidFill>
                  <a:schemeClr val="tx1"/>
                </a:solidFill>
              </a:rPr>
              <a:t>선택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31" name="TextBox"/>
          <p:cNvSpPr txBox="1"/>
          <p:nvPr/>
        </p:nvSpPr>
        <p:spPr>
          <a:xfrm>
            <a:off x="5125217" y="5640210"/>
            <a:ext cx="53784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2" name="TextBox"/>
          <p:cNvSpPr txBox="1"/>
          <p:nvPr/>
        </p:nvSpPr>
        <p:spPr>
          <a:xfrm>
            <a:off x="4170426" y="4865108"/>
            <a:ext cx="4311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cxnSp>
        <p:nvCxnSpPr>
          <p:cNvPr id="33" name="prstName"/>
          <p:cNvCxnSpPr/>
          <p:nvPr/>
        </p:nvCxnSpPr>
        <p:spPr>
          <a:xfrm rot="5400000">
            <a:off x="5088454" y="4361299"/>
            <a:ext cx="454658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"/>
          <p:cNvSpPr txBox="1"/>
          <p:nvPr/>
        </p:nvSpPr>
        <p:spPr>
          <a:xfrm>
            <a:off x="5125217" y="2016265"/>
            <a:ext cx="53784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5" name="TextBox"/>
          <p:cNvSpPr txBox="1"/>
          <p:nvPr/>
        </p:nvSpPr>
        <p:spPr>
          <a:xfrm>
            <a:off x="5995416" y="1406898"/>
            <a:ext cx="4311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cxnSp>
        <p:nvCxnSpPr>
          <p:cNvPr id="36" name="prstName"/>
          <p:cNvCxnSpPr>
            <a:stCxn id="32" idx="2"/>
          </p:cNvCxnSpPr>
          <p:nvPr/>
        </p:nvCxnSpPr>
        <p:spPr>
          <a:xfrm rot="5400000">
            <a:off x="3704655" y="5850630"/>
            <a:ext cx="13620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prstName"/>
          <p:cNvCxnSpPr/>
          <p:nvPr/>
        </p:nvCxnSpPr>
        <p:spPr>
          <a:xfrm>
            <a:off x="385877" y="6512242"/>
            <a:ext cx="400050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prstName"/>
          <p:cNvCxnSpPr/>
          <p:nvPr/>
        </p:nvCxnSpPr>
        <p:spPr>
          <a:xfrm rot="5400000">
            <a:off x="-237423" y="5907780"/>
            <a:ext cx="12477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rstName"/>
          <p:cNvCxnSpPr/>
          <p:nvPr/>
        </p:nvCxnSpPr>
        <p:spPr>
          <a:xfrm flipV="1">
            <a:off x="385445" y="5301932"/>
            <a:ext cx="12382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41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7953037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2743200" y="5172075"/>
            <a:ext cx="7162800" cy="16859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020060" y="5253355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화면설명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3020060" y="5598795"/>
            <a:ext cx="6688455" cy="11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❶ </a:t>
            </a:r>
            <a:r>
              <a:rPr lang="ko-KR" altLang="en-US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입력창: 계정 </a:t>
            </a:r>
            <a:r>
              <a:rPr lang="ko-KR" altLang="en-US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입력받는 인풋 박스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❷ 비밀번호 입력창: 비밀번호 입력용 마스킹 인풋 박스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❸ 로그인 유지: 자동 로그인 세션 지속 여부 체크박스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❹ 로그인 버튼: JWT 토큰 발급 및 홈 화면(MAIN_HOME_01) 이동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❺ 계정 찾기: 비밀번호 재설정 페이지 연결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❻ 회원가입 버튼: 약관동의 화면(MAIN_JOIN_01)으로 이동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5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09" name="Google Shape;209;p5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5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5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12" name="Google Shape;212;p5"/>
            <p:cNvSpPr txBox="1"/>
            <p:nvPr/>
          </p:nvSpPr>
          <p:spPr>
            <a:xfrm>
              <a:off x="285750" y="1318260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5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5"/>
          <p:cNvGrpSpPr/>
          <p:nvPr/>
        </p:nvGrpSpPr>
        <p:grpSpPr>
          <a:xfrm rot="0"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15" name="Google Shape;215;p5"/>
            <p:cNvSpPr txBox="1"/>
            <p:nvPr/>
          </p:nvSpPr>
          <p:spPr>
            <a:xfrm>
              <a:off x="285750" y="2386330"/>
              <a:ext cx="18986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 txBox="1"/>
            <p:nvPr/>
          </p:nvSpPr>
          <p:spPr>
            <a:xfrm>
              <a:off x="285750" y="271716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5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18" name="Google Shape;218;p5"/>
            <p:cNvSpPr txBox="1"/>
            <p:nvPr/>
          </p:nvSpPr>
          <p:spPr>
            <a:xfrm>
              <a:off x="285750" y="5814695"/>
              <a:ext cx="80073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5"/>
          <p:cNvGrpSpPr/>
          <p:nvPr/>
        </p:nvGrpSpPr>
        <p:grpSpPr>
          <a:xfrm rot="0">
            <a:off x="285750" y="3289935"/>
            <a:ext cx="2379345" cy="975360"/>
            <a:chOff x="285750" y="3289935"/>
            <a:chExt cx="2379345" cy="975360"/>
          </a:xfrm>
        </p:grpSpPr>
        <p:sp>
          <p:nvSpPr>
            <p:cNvPr id="221" name="Google Shape;221;p5"/>
            <p:cNvSpPr txBox="1"/>
            <p:nvPr/>
          </p:nvSpPr>
          <p:spPr>
            <a:xfrm>
              <a:off x="285750" y="3289935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5"/>
            <p:cNvSpPr txBox="1"/>
            <p:nvPr/>
          </p:nvSpPr>
          <p:spPr>
            <a:xfrm>
              <a:off x="285750" y="3621405"/>
              <a:ext cx="2379345" cy="640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사용자가 로그인에 필요한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이메일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/ 비밀번호를 입력하고 로그인 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5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24" name="Google Shape;224;p5"/>
            <p:cNvSpPr txBox="1"/>
            <p:nvPr/>
          </p:nvSpPr>
          <p:spPr>
            <a:xfrm>
              <a:off x="285750" y="4504055"/>
              <a:ext cx="10985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5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descr="/temp/fImage23789698489.png" id="226" name="Google Shape;22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7645" y="-635"/>
            <a:ext cx="7160895" cy="51822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temp/fImage265607009694.png" id="231" name="Google Shape;23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8915" y="-6350"/>
            <a:ext cx="7155180" cy="517525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6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화면설명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3020060" y="5673090"/>
            <a:ext cx="6688455" cy="10020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b="0" i="0" lang="ko-KR" sz="120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-❶ 전체 동의: 필수 및 선택 약관 전체 동의 체크</a:t>
            </a:r>
            <a:endParaRPr b="0" i="0" sz="120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b="0" i="0" lang="ko-KR" sz="120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-❷~❹ 필수 동의</a:t>
            </a:r>
            <a:endParaRPr b="0" i="0" sz="120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b="0" i="0" lang="ko-KR" sz="120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-❺ 선택 동의</a:t>
            </a:r>
            <a:endParaRPr b="0" i="0" sz="120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b="0" i="0" lang="ko-KR" sz="120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-❻ 약관에 대한 상세내용</a:t>
            </a:r>
            <a:endParaRPr b="0" i="0" sz="120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b="0" i="0" lang="ko-KR" sz="120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-❼ 필수 약관(❷~❹) 모두 동의 시 활성화되어 기본정보 입력 단계로 이동</a:t>
            </a:r>
            <a:endParaRPr b="0" i="0" sz="120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0" y="10795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" name="Google Shape;237;p6"/>
          <p:cNvGrpSpPr/>
          <p:nvPr/>
        </p:nvGrpSpPr>
        <p:grpSpPr>
          <a:xfrm>
            <a:off x="285750" y="435610"/>
            <a:ext cx="2171700" cy="608330"/>
            <a:chOff x="285750" y="435610"/>
            <a:chExt cx="2171700" cy="608330"/>
          </a:xfrm>
        </p:grpSpPr>
        <p:sp>
          <p:nvSpPr>
            <p:cNvPr id="238" name="Google Shape;238;p6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6"/>
            <p:cNvSpPr txBox="1"/>
            <p:nvPr/>
          </p:nvSpPr>
          <p:spPr>
            <a:xfrm>
              <a:off x="285750" y="766445"/>
              <a:ext cx="2171700" cy="27749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6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41" name="Google Shape;241;p6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6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화면(약관 동의)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6"/>
          <p:cNvGrpSpPr/>
          <p:nvPr/>
        </p:nvGrpSpPr>
        <p:grpSpPr>
          <a:xfrm rot="0"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44" name="Google Shape;244;p6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6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Calibri"/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6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47" name="Google Shape;247;p6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6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6"/>
          <p:cNvGrpSpPr/>
          <p:nvPr/>
        </p:nvGrpSpPr>
        <p:grpSpPr>
          <a:xfrm>
            <a:off x="285750" y="3289935"/>
            <a:ext cx="2171700" cy="977900"/>
            <a:chOff x="285750" y="3289935"/>
            <a:chExt cx="2171700" cy="977900"/>
          </a:xfrm>
        </p:grpSpPr>
        <p:sp>
          <p:nvSpPr>
            <p:cNvPr id="250" name="Google Shape;250;p6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6"/>
            <p:cNvSpPr txBox="1"/>
            <p:nvPr/>
          </p:nvSpPr>
          <p:spPr>
            <a:xfrm>
              <a:off x="285750" y="3621405"/>
              <a:ext cx="2171700" cy="64643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서비스 이용약관 및 민감정보(생체/건강 데이터) 수집 동의 처리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6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53" name="Google Shape;253;p6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6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화면설명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-❶ 계정 정보 입력: </a:t>
            </a:r>
            <a:r>
              <a:rPr lang="ko-KR" altLang="en-US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및 비밀번호/비밀번호 확인 입력 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-❷ 사용자 인적사항: 이름, 생년월일, 성별 입력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-❸ 중복 확인 버튼: 입력한 </a:t>
            </a:r>
            <a:r>
              <a:rPr lang="ko-KR" altLang="en-US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 DB와 대조해서 중복하는 </a:t>
            </a:r>
            <a:r>
              <a:rPr lang="ko-KR" altLang="en-US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이메일이</a:t>
            </a: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있는지 확인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-❹ 회원가입 완료 버튼: 정보 유효성 검증 후 홈 화면으로 이동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608330"/>
            <a:chOff x="285750" y="1318260"/>
            <a:chExt cx="2219960" cy="60833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정보 입력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 rot="0"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Calibri"/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608330"/>
            <a:chOff x="285750" y="3289935"/>
            <a:chExt cx="2171700" cy="608330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정보 및 인적 사항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82" name="Google Shape;282;p7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2743834" y="-9525"/>
            <a:ext cx="7162164" cy="5182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화면설명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3020060" y="5781675"/>
            <a:ext cx="6688455" cy="817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-캐릭터 카드를 물리적으로 선택하는 UI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-❶ [T] </a:t>
            </a:r>
            <a:r>
              <a:rPr lang="ko-KR" altLang="en-US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현실적인</a:t>
            </a:r>
            <a:r>
              <a:rPr lang="en-US" alt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조언형</a:t>
            </a:r>
            <a:r>
              <a:rPr lang="en-US" alt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: 객관적 상황 분석 및 문제 해결 중심   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-❷ [F] 따</a:t>
            </a:r>
            <a:r>
              <a:rPr lang="ko-KR" altLang="en-US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스한</a:t>
            </a: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 공</a:t>
            </a:r>
            <a:r>
              <a:rPr lang="ko-KR" altLang="en-US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감형</a:t>
            </a:r>
            <a:r>
              <a:rPr lang="en-US" alt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: 감정 경청 및 따뜻한 위로 중심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ts val="1200"/>
              <a:buFont typeface="Malgun Gothic"/>
              <a:buNone/>
            </a:pPr>
            <a:r>
              <a:rPr lang="ko-KR" sz="1200" b="0" i="0">
                <a:solidFill>
                  <a:srgbClr val="31333f"/>
                </a:solidFill>
                <a:latin typeface="Malgun Gothic"/>
                <a:ea typeface="Malgun Gothic"/>
                <a:cs typeface="Malgun Gothic"/>
                <a:sym typeface="Malgun Gothic"/>
              </a:rPr>
              <a:t>-❸ 대화 시작 버튼을 통해 실시간 대화 및 대화 기록 조회 화면으로 이동(MAIN_CHAT_02)</a:t>
            </a:r>
            <a:endParaRPr sz="1200" b="0" i="0">
              <a:solidFill>
                <a:srgbClr val="31333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2" name="Google Shape;292;p8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93" name="Google Shape;293;p8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8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8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96" name="Google Shape;296;p8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8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챗봇 성격 선택 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8"/>
          <p:cNvGrpSpPr/>
          <p:nvPr/>
        </p:nvGrpSpPr>
        <p:grpSpPr>
          <a:xfrm rot="0"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99" name="Google Shape;299;p8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p8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MLCM_30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1" name="Google Shape;301;p8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02" name="Google Shape;302;p8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3" name="Google Shape;303;p8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4" name="Google Shape;304;p8"/>
          <p:cNvGrpSpPr/>
          <p:nvPr/>
        </p:nvGrpSpPr>
        <p:grpSpPr>
          <a:xfrm>
            <a:off x="285750" y="3289935"/>
            <a:ext cx="2314575" cy="608330"/>
            <a:chOff x="285750" y="3289935"/>
            <a:chExt cx="2314575" cy="608330"/>
          </a:xfrm>
        </p:grpSpPr>
        <p:sp>
          <p:nvSpPr>
            <p:cNvPr id="305" name="Google Shape;305;p8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306;p8"/>
            <p:cNvSpPr txBox="1"/>
            <p:nvPr/>
          </p:nvSpPr>
          <p:spPr>
            <a:xfrm>
              <a:off x="285750" y="3621405"/>
              <a:ext cx="2314575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대화할 챗봇을 선택하는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7" name="Google Shape;307;p8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308" name="Google Shape;308;p8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8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0" name="Google Shape;31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835" y="0"/>
            <a:ext cx="7162165" cy="5182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화면설명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3020060" y="5781675"/>
            <a:ext cx="6688455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-❶ 선택한 대화 상대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-❷ 대화 메세지 영역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-❸~➎ 대화 글자 및 음성 입력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-➏~➑ 이전 대화 기록 상세보기 및 삭제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-❾ 대화종료 버튼을 통해 홈 화면(</a:t>
            </a:r>
            <a:r>
              <a:rPr b="0" i="0" lang="ko-KR" sz="1200">
                <a:solidFill>
                  <a:srgbClr val="31333F"/>
                </a:solidFill>
                <a:latin typeface="Arial"/>
                <a:ea typeface="Arial"/>
                <a:cs typeface="Arial"/>
                <a:sym typeface="Arial"/>
              </a:rPr>
              <a:t>MAIN_HOME_01)</a:t>
            </a: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으로 이동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" name="Google Shape;320;p9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21" name="Google Shape;321;p9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9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9"/>
          <p:cNvGrpSpPr/>
          <p:nvPr/>
        </p:nvGrpSpPr>
        <p:grpSpPr>
          <a:xfrm rot="0">
            <a:off x="285750" y="1318260"/>
            <a:ext cx="2171700" cy="784860"/>
            <a:chOff x="285750" y="1318260"/>
            <a:chExt cx="2171700" cy="784860"/>
          </a:xfrm>
        </p:grpSpPr>
        <p:sp>
          <p:nvSpPr>
            <p:cNvPr id="324" name="Google Shape;324;p9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9"/>
            <p:cNvSpPr txBox="1"/>
            <p:nvPr/>
          </p:nvSpPr>
          <p:spPr>
            <a:xfrm>
              <a:off x="285750" y="1649730"/>
              <a:ext cx="2171700" cy="4533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실시간 대화 및 대화기록 조회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9"/>
          <p:cNvGrpSpPr/>
          <p:nvPr/>
        </p:nvGrpSpPr>
        <p:grpSpPr>
          <a:xfrm rot="0"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327" name="Google Shape;327;p9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9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9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30" name="Google Shape;330;p9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9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9"/>
          <p:cNvGrpSpPr/>
          <p:nvPr/>
        </p:nvGrpSpPr>
        <p:grpSpPr>
          <a:xfrm>
            <a:off x="285750" y="3289935"/>
            <a:ext cx="2380615" cy="793115"/>
            <a:chOff x="285750" y="3289935"/>
            <a:chExt cx="2380615" cy="793115"/>
          </a:xfrm>
        </p:grpSpPr>
        <p:sp>
          <p:nvSpPr>
            <p:cNvPr id="333" name="Google Shape;333;p9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9"/>
            <p:cNvSpPr txBox="1"/>
            <p:nvPr/>
          </p:nvSpPr>
          <p:spPr>
            <a:xfrm>
              <a:off x="285750" y="3621405"/>
              <a:ext cx="2380615" cy="4616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실제 AI와 대화를 주고받는 메인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화면, 대화 기록 조회/삭제 가능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9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336" name="Google Shape;336;p9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9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선택/실시간 대화 및 대화 기록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8" name="Google Shape;338;p9"/>
          <p:cNvSpPr txBox="1"/>
          <p:nvPr/>
        </p:nvSpPr>
        <p:spPr>
          <a:xfrm>
            <a:off x="285750" y="3289935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b="1"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9" name="Google Shape;33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834" y="0"/>
            <a:ext cx="7162164" cy="5182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화면설명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-❶ 오늘의 감정: 대표 감정 이모지, 정서 점수 및 긍정/중립/부정 상태 분포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-❷ 라이프로그 요약: 수면 시간, 걸음 수, HRV 스트레스 요약 지표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-❸ AI 한줄 요약: LLM 기반 일일 감정 종합 리포트 및 반응 피드백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-❹ 추천 콘텐츠: 사용자 컨디션 맞춤형 영상(3-4-1), 음악(3-4-2), 운동(3-4-3)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-➎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MAIN_HOME_01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603885"/>
            <a:chOff x="285750" y="1318260"/>
            <a:chExt cx="2171700" cy="603885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724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 홈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 rot="0"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하단 네비게이션 바 기반의 접근성을 확보하고, 감정 상태&amp;라이프로그요약&amp;AI피드백 및 콘텐츠 추천을 통합 제공하는 대시보드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b="1"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6" name="Google Shape;36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0" y="0"/>
            <a:ext cx="7162800" cy="5183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378</ep:Words>
  <ep:PresentationFormat/>
  <ep:Paragraphs>82</ep:Paragraphs>
  <ep:Slides>12</ep:Slides>
  <ep:Notes>12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ep:HeadingPairs>
  <ep:TitlesOfParts>
    <vt:vector size="13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smhrd</dc:creator>
  <dcterms:modified xsi:type="dcterms:W3CDTF">2026-07-28T06:46:44.330</dcterms:modified>
  <cp:revision>3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