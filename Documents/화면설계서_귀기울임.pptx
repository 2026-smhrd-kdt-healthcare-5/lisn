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6" r:id="rId5"/>
    <p:sldId id="259" r:id="rId6"/>
    <p:sldId id="267" r:id="rId7"/>
    <p:sldId id="260" r:id="rId8"/>
    <p:sldId id="272" r:id="rId22"/>
    <p:sldId id="261" r:id="rId9"/>
    <p:sldId id="262" r:id="rId10"/>
    <p:sldId id="271" r:id="rId11"/>
    <p:sldId id="263" r:id="rId12"/>
    <p:sldId id="264" r:id="rId13"/>
    <p:sldId id="265" r:id="rId14"/>
    <p:sldId id="269" r:id="rId15"/>
    <p:sldId id="273" r:id="rId23"/>
    <p:sldId id="270" r:id="rId16"/>
    <p:sldId id="274" r:id="rId24"/>
    <p:sldId id="275" r:id="rId25"/>
    <p:sldId id="276" r:id="rId26"/>
    <p:sldId id="277" r:id="rId27"/>
  </p:sldIdLst>
  <p:sldSz cx="9906000" cy="6858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11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00" d="100"/>
          <a:sy n="100" d="100"/>
        </p:scale>
        <p:origin x="1104" y="72"/>
      </p:cViewPr>
      <p:guideLst>
        <p:guide orient="horz" pos="2159"/>
        <p:guide pos="311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맑은 고딕"/>
                <a:ea typeface="맑은 고딕"/>
                <a:cs typeface="맑은 고딕"/>
                <a:sym typeface="맑은 고딕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>
              <a:solidFill>
                <a:schemeClr val="dk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2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3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5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7" name="Google Shape;2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563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7398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46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body" idx="1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9"/>
          <p:cNvSpPr txBox="1">
            <a:spLocks noGrp="1"/>
          </p:cNvSpPr>
          <p:nvPr>
            <p:ph type="body" idx="2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9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9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>
            <a:spLocks noGrp="1"/>
          </p:cNvSpPr>
          <p:nvPr>
            <p:ph type="pic" idx="2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>
            <a:spLocks noGrp="1"/>
          </p:cNvSpPr>
          <p:nvPr>
            <p:ph type="body" idx="1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body" idx="1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>
            <a:spLocks noGrp="1"/>
          </p:cNvSpPr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6539" y="1080135"/>
            <a:ext cx="9150985" cy="17944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>
                <a:solidFill>
                  <a:schemeClr val="bg1"/>
                </a:solidFill>
              </a:rPr>
              <a:t>디지털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라이프로그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기반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정서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케어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351314" y="951706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464175" y="5868050"/>
            <a:ext cx="4298950" cy="6343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7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2026. 07. 30</a:t>
            </a:r>
            <a:endParaRPr lang="en-US" alt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8733150" cy="32811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782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2026.07.28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0.6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2026.07.29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화면 설계 페이지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8" name="Google Shape;108;p3"/>
          <p:cNvCxnSpPr/>
          <p:nvPr/>
        </p:nvCxnSpPr>
        <p:spPr>
          <a:xfrm rot="10800000" flipH="1">
            <a:off x="8672195" y="2929255"/>
            <a:ext cx="635" cy="173609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rot="5400000" flipH="1">
            <a:off x="6462493" y="1070390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2" name="Google Shape;112;p3"/>
          <p:cNvCxnSpPr/>
          <p:nvPr/>
        </p:nvCxnSpPr>
        <p:spPr>
          <a:xfrm rot="10800000" flipH="1">
            <a:off x="2660015" y="2926715"/>
            <a:ext cx="635" cy="181483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3" name="Google Shape;113;p3"/>
          <p:cNvCxnSpPr/>
          <p:nvPr/>
        </p:nvCxnSpPr>
        <p:spPr>
          <a:xfrm rot="10800000" flipH="1">
            <a:off x="4159249" y="2926715"/>
            <a:ext cx="635" cy="231521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w="12700" cap="flat" cmpd="sng">
              <a:solidFill>
                <a:srgbClr val="0090D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w="28575" cap="flat" cmpd="sng">
              <a:solidFill>
                <a:srgbClr val="0090D0"/>
              </a:solidFill>
              <a:prstDash val="dash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감정 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86279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3539251" y="162485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145900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6126375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539221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982925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11" name="prstName"/>
          <p:cNvSpPr/>
          <p:nvPr/>
        </p:nvSpPr>
        <p:spPr>
          <a:xfrm>
            <a:off x="3538855" y="242334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3" name="prstName"/>
          <p:cNvCxnSpPr/>
          <p:nvPr/>
        </p:nvCxnSpPr>
        <p:spPr>
          <a:xfrm rot="16200000" flipH="1">
            <a:off x="4062731" y="3528855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935175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57697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33851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297626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410915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5125040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768297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816423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6249046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27" name="TextBox"/>
          <p:cNvSpPr txBox="1"/>
          <p:nvPr/>
        </p:nvSpPr>
        <p:spPr>
          <a:xfrm>
            <a:off x="4890734" y="6248813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8" name="TextBox"/>
          <p:cNvSpPr txBox="1"/>
          <p:nvPr/>
        </p:nvSpPr>
        <p:spPr>
          <a:xfrm>
            <a:off x="3987297" y="3709550"/>
            <a:ext cx="614092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9" name="TextBox"/>
          <p:cNvSpPr txBox="1"/>
          <p:nvPr/>
        </p:nvSpPr>
        <p:spPr>
          <a:xfrm>
            <a:off x="3731875" y="34246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57697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34" name="prstName">
            <a:extLst>
              <a:ext uri="{FF2B5EF4-FFF2-40B4-BE49-F238E27FC236}">
                <a16:creationId xmlns:a16="http://schemas.microsoft.com/office/drawing/2014/main" id="{A158F8C2-CB63-E1B3-A8F5-5B31452FF578}"/>
              </a:ext>
            </a:extLst>
          </p:cNvPr>
          <p:cNvSpPr/>
          <p:nvPr/>
        </p:nvSpPr>
        <p:spPr>
          <a:xfrm>
            <a:off x="3539252" y="494117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사용 가능한 이메일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cxnSp>
        <p:nvCxnSpPr>
          <p:cNvPr id="68" name="prstName">
            <a:extLst>
              <a:ext uri="{FF2B5EF4-FFF2-40B4-BE49-F238E27FC236}">
                <a16:creationId xmlns:a16="http://schemas.microsoft.com/office/drawing/2014/main" id="{A9387E69-1203-F1DB-7E0B-D5FBC80D2631}"/>
              </a:ext>
            </a:extLst>
          </p:cNvPr>
          <p:cNvCxnSpPr/>
          <p:nvPr/>
        </p:nvCxnSpPr>
        <p:spPr>
          <a:xfrm rot="5400000">
            <a:off x="4158376" y="2303493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prstName">
            <a:extLst>
              <a:ext uri="{FF2B5EF4-FFF2-40B4-BE49-F238E27FC236}">
                <a16:creationId xmlns:a16="http://schemas.microsoft.com/office/drawing/2014/main" id="{D03AA4F6-2DB0-6302-9FFA-149B36FCF65D}"/>
              </a:ext>
            </a:extLst>
          </p:cNvPr>
          <p:cNvCxnSpPr/>
          <p:nvPr/>
        </p:nvCxnSpPr>
        <p:spPr>
          <a:xfrm rot="5400000">
            <a:off x="4158376" y="404342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prstName">
            <a:extLst>
              <a:ext uri="{FF2B5EF4-FFF2-40B4-BE49-F238E27FC236}">
                <a16:creationId xmlns:a16="http://schemas.microsoft.com/office/drawing/2014/main" id="{EB5D3CE3-2F7B-3FCE-B4FD-AB60A07A8283}"/>
              </a:ext>
            </a:extLst>
          </p:cNvPr>
          <p:cNvCxnSpPr/>
          <p:nvPr/>
        </p:nvCxnSpPr>
        <p:spPr>
          <a:xfrm rot="5400000">
            <a:off x="4158376" y="482950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prstName">
            <a:extLst>
              <a:ext uri="{FF2B5EF4-FFF2-40B4-BE49-F238E27FC236}">
                <a16:creationId xmlns:a16="http://schemas.microsoft.com/office/drawing/2014/main" id="{D4C611C5-F608-CFB5-36ED-6CF717AD9632}"/>
              </a:ext>
            </a:extLst>
          </p:cNvPr>
          <p:cNvCxnSpPr/>
          <p:nvPr/>
        </p:nvCxnSpPr>
        <p:spPr>
          <a:xfrm rot="5400000">
            <a:off x="4158376" y="590203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">
            <a:extLst>
              <a:ext uri="{FF2B5EF4-FFF2-40B4-BE49-F238E27FC236}">
                <a16:creationId xmlns:a16="http://schemas.microsoft.com/office/drawing/2014/main" id="{371AF7F4-F061-701B-6E13-FB3172E2F552}"/>
              </a:ext>
            </a:extLst>
          </p:cNvPr>
          <p:cNvSpPr txBox="1"/>
          <p:nvPr/>
        </p:nvSpPr>
        <p:spPr>
          <a:xfrm>
            <a:off x="3151777" y="5211125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73" name="TextBox">
            <a:extLst>
              <a:ext uri="{FF2B5EF4-FFF2-40B4-BE49-F238E27FC236}">
                <a16:creationId xmlns:a16="http://schemas.microsoft.com/office/drawing/2014/main" id="{892C6387-1E9A-DE2B-F041-B30A9A1A32F5}"/>
              </a:ext>
            </a:extLst>
          </p:cNvPr>
          <p:cNvSpPr txBox="1"/>
          <p:nvPr/>
        </p:nvSpPr>
        <p:spPr>
          <a:xfrm>
            <a:off x="4322725" y="5724500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7D9804C1-31C1-CDE6-AB74-56819C4EDEDD}"/>
              </a:ext>
            </a:extLst>
          </p:cNvPr>
          <p:cNvCxnSpPr>
            <a:cxnSpLocks/>
            <a:stCxn id="72" idx="1"/>
          </p:cNvCxnSpPr>
          <p:nvPr/>
        </p:nvCxnSpPr>
        <p:spPr>
          <a:xfrm rot="10800000" flipH="1">
            <a:off x="3151777" y="4848951"/>
            <a:ext cx="982074" cy="514575"/>
          </a:xfrm>
          <a:prstGeom prst="bentConnector3">
            <a:avLst>
              <a:gd name="adj1" fmla="val -23277"/>
            </a:avLst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순서도: 문서 40">
            <a:extLst>
              <a:ext uri="{FF2B5EF4-FFF2-40B4-BE49-F238E27FC236}">
                <a16:creationId xmlns:a16="http://schemas.microsoft.com/office/drawing/2014/main" id="{526E9EDB-E7DC-1F0C-0BC1-95E5A4100721}"/>
              </a:ext>
            </a:extLst>
          </p:cNvPr>
          <p:cNvSpPr/>
          <p:nvPr/>
        </p:nvSpPr>
        <p:spPr>
          <a:xfrm>
            <a:off x="1374032" y="4559597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이미 가입된 이메일 입니다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80" name="연결선: 꺾임 79">
            <a:extLst>
              <a:ext uri="{FF2B5EF4-FFF2-40B4-BE49-F238E27FC236}">
                <a16:creationId xmlns:a16="http://schemas.microsoft.com/office/drawing/2014/main" id="{B3BE001B-BC2C-EC70-ABB6-B8C378E0F1E5}"/>
              </a:ext>
            </a:extLst>
          </p:cNvPr>
          <p:cNvCxnSpPr>
            <a:cxnSpLocks/>
            <a:stCxn id="26" idx="1"/>
            <a:endCxn id="28" idx="1"/>
          </p:cNvCxnSpPr>
          <p:nvPr/>
        </p:nvCxnSpPr>
        <p:spPr>
          <a:xfrm rot="10800000" flipH="1">
            <a:off x="3155695" y="3861950"/>
            <a:ext cx="831601" cy="2539496"/>
          </a:xfrm>
          <a:prstGeom prst="bentConnector3">
            <a:avLst>
              <a:gd name="adj1" fmla="val -275180"/>
            </a:avLst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en-US" altLang="ko-KR" sz="1400"/>
              <a:t>NO</a:t>
            </a:r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6896415" y="3185936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>
                <a:solidFill>
                  <a:schemeClr val="tx1"/>
                </a:solidFill>
              </a:rPr>
              <a:t>A</a:t>
            </a:r>
            <a:r>
              <a:rPr lang="en-US" altLang="ko-KR" sz="1200" b="1" dirty="0">
                <a:solidFill>
                  <a:schemeClr val="tx1"/>
                </a:solidFill>
              </a:rPr>
              <a:t>I </a:t>
            </a: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cxnSpLocks/>
          </p:cNvCxnSpPr>
          <p:nvPr/>
        </p:nvCxnSpPr>
        <p:spPr>
          <a:xfrm>
            <a:off x="6390640" y="1588452"/>
            <a:ext cx="486343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>
            <a:cxnSpLocks/>
            <a:stCxn id="22" idx="4"/>
          </p:cNvCxnSpPr>
          <p:nvPr/>
        </p:nvCxnSpPr>
        <p:spPr>
          <a:xfrm>
            <a:off x="7610790" y="3757436"/>
            <a:ext cx="3176" cy="574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>
            <a:cxnSpLocks/>
          </p:cNvCxnSpPr>
          <p:nvPr/>
        </p:nvCxnSpPr>
        <p:spPr>
          <a:xfrm>
            <a:off x="5648959" y="4350702"/>
            <a:ext cx="198691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057843" y="5640210"/>
            <a:ext cx="6212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34932"/>
            <a:ext cx="526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048217" y="2016265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35" name="TextBox"/>
          <p:cNvSpPr txBox="1"/>
          <p:nvPr/>
        </p:nvSpPr>
        <p:spPr>
          <a:xfrm>
            <a:off x="5995416" y="141642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46" name="prstName">
            <a:extLst>
              <a:ext uri="{FF2B5EF4-FFF2-40B4-BE49-F238E27FC236}">
                <a16:creationId xmlns:a16="http://schemas.microsoft.com/office/drawing/2014/main" id="{2E096118-B1E8-6326-77E2-C66F4037D3E3}"/>
              </a:ext>
            </a:extLst>
          </p:cNvPr>
          <p:cNvSpPr/>
          <p:nvPr/>
        </p:nvSpPr>
        <p:spPr>
          <a:xfrm>
            <a:off x="6899591" y="1166223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주의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신호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감지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sp>
        <p:nvSpPr>
          <p:cNvPr id="55" name="TextBox">
            <a:extLst>
              <a:ext uri="{FF2B5EF4-FFF2-40B4-BE49-F238E27FC236}">
                <a16:creationId xmlns:a16="http://schemas.microsoft.com/office/drawing/2014/main" id="{422E7D80-57C0-8FEB-C037-990403BABBA8}"/>
              </a:ext>
            </a:extLst>
          </p:cNvPr>
          <p:cNvSpPr txBox="1"/>
          <p:nvPr/>
        </p:nvSpPr>
        <p:spPr>
          <a:xfrm>
            <a:off x="8302593" y="1444882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56" name="prstName">
            <a:extLst>
              <a:ext uri="{FF2B5EF4-FFF2-40B4-BE49-F238E27FC236}">
                <a16:creationId xmlns:a16="http://schemas.microsoft.com/office/drawing/2014/main" id="{5D1CEA2C-A6FB-0A3B-7F3C-89C702D0BBB1}"/>
              </a:ext>
            </a:extLst>
          </p:cNvPr>
          <p:cNvCxnSpPr>
            <a:cxnSpLocks/>
          </p:cNvCxnSpPr>
          <p:nvPr/>
        </p:nvCxnSpPr>
        <p:spPr>
          <a:xfrm>
            <a:off x="7610790" y="2388346"/>
            <a:ext cx="0" cy="79759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prstName">
            <a:extLst>
              <a:ext uri="{FF2B5EF4-FFF2-40B4-BE49-F238E27FC236}">
                <a16:creationId xmlns:a16="http://schemas.microsoft.com/office/drawing/2014/main" id="{AEACEA39-124B-47C8-4B7D-A56E6408F50C}"/>
              </a:ext>
            </a:extLst>
          </p:cNvPr>
          <p:cNvCxnSpPr>
            <a:cxnSpLocks/>
          </p:cNvCxnSpPr>
          <p:nvPr/>
        </p:nvCxnSpPr>
        <p:spPr>
          <a:xfrm>
            <a:off x="4384790" y="5118418"/>
            <a:ext cx="0" cy="141356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A607A9-94FA-B08B-FAFD-80D8F90EB3B5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8613211" y="1749682"/>
            <a:ext cx="0" cy="2953444"/>
          </a:xfrm>
          <a:prstGeom prst="straightConnector1">
            <a:avLst/>
          </a:prstGeom>
          <a:ln w="44450">
            <a:solidFill>
              <a:srgbClr val="000000">
                <a:alpha val="100000"/>
              </a:srgb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rstName">
            <a:extLst>
              <a:ext uri="{FF2B5EF4-FFF2-40B4-BE49-F238E27FC236}">
                <a16:creationId xmlns:a16="http://schemas.microsoft.com/office/drawing/2014/main" id="{54F82A43-C057-43EF-6B86-4037894DCCBD}"/>
              </a:ext>
            </a:extLst>
          </p:cNvPr>
          <p:cNvSpPr/>
          <p:nvPr/>
        </p:nvSpPr>
        <p:spPr>
          <a:xfrm>
            <a:off x="7898835" y="4739291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힐링 콘텐츠 추천 연계</a:t>
            </a:r>
          </a:p>
        </p:txBody>
      </p:sp>
      <p:cxnSp>
        <p:nvCxnSpPr>
          <p:cNvPr id="76" name="prstName">
            <a:extLst>
              <a:ext uri="{FF2B5EF4-FFF2-40B4-BE49-F238E27FC236}">
                <a16:creationId xmlns:a16="http://schemas.microsoft.com/office/drawing/2014/main" id="{1C10AC58-0A19-9448-9603-6E06812D54EA}"/>
              </a:ext>
            </a:extLst>
          </p:cNvPr>
          <p:cNvCxnSpPr>
            <a:cxnSpLocks/>
            <a:stCxn id="74" idx="5"/>
            <a:endCxn id="28" idx="3"/>
          </p:cNvCxnSpPr>
          <p:nvPr/>
        </p:nvCxnSpPr>
        <p:spPr>
          <a:xfrm flipH="1" flipV="1">
            <a:off x="6029960" y="5017452"/>
            <a:ext cx="1940313" cy="758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">
            <a:extLst>
              <a:ext uri="{FF2B5EF4-FFF2-40B4-BE49-F238E27FC236}">
                <a16:creationId xmlns:a16="http://schemas.microsoft.com/office/drawing/2014/main" id="{FD0B9588-F1F8-A046-0D91-C3B4CE40FF30}"/>
              </a:ext>
            </a:extLst>
          </p:cNvPr>
          <p:cNvSpPr txBox="1"/>
          <p:nvPr/>
        </p:nvSpPr>
        <p:spPr>
          <a:xfrm>
            <a:off x="7375431" y="205454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62247"/>
            <a:ext cx="7162800" cy="1695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47243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817870"/>
            <a:ext cx="6688455" cy="8191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입력창: 계정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입력받는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입력창: 비밀번호 입력용 마스킹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로그인 버튼: JWT 토큰 발급 및 홈 화면(MAIN_HOME_01)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버튼: 약관동의 화면(MAIN_JOIN_01)으로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8" name="그림 2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4058" y="19050"/>
            <a:ext cx="2361084" cy="5109629"/>
          </a:xfrm>
          <a:prstGeom prst="rect">
            <a:avLst/>
          </a:prstGeom>
        </p:spPr>
      </p:pic>
      <p:sp>
        <p:nvSpPr>
          <p:cNvPr id="229" name="가로 글상자 228"/>
          <p:cNvSpPr txBox="1"/>
          <p:nvPr/>
        </p:nvSpPr>
        <p:spPr>
          <a:xfrm>
            <a:off x="5010708" y="230906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30" name="가로 글상자 229"/>
          <p:cNvSpPr txBox="1"/>
          <p:nvPr/>
        </p:nvSpPr>
        <p:spPr>
          <a:xfrm>
            <a:off x="5010708" y="289369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31" name="가로 글상자 230"/>
          <p:cNvSpPr txBox="1"/>
          <p:nvPr/>
        </p:nvSpPr>
        <p:spPr>
          <a:xfrm>
            <a:off x="5010708" y="335470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32" name="가로 글상자 231"/>
          <p:cNvSpPr txBox="1"/>
          <p:nvPr/>
        </p:nvSpPr>
        <p:spPr>
          <a:xfrm>
            <a:off x="5010708" y="37642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전체 동의: 필수 및 선택 약관 전체 동의 체크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동의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선택 동의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약관에 대한 상세내용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약관(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 모두 동의 시 활성화되어 기본정보 입력 단계로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57" name="그림 2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9950" y="23711"/>
            <a:ext cx="2349934" cy="5085498"/>
          </a:xfrm>
          <a:prstGeom prst="rect">
            <a:avLst/>
          </a:prstGeom>
        </p:spPr>
      </p:pic>
      <p:sp>
        <p:nvSpPr>
          <p:cNvPr id="258" name="가로 글상자 257"/>
          <p:cNvSpPr txBox="1"/>
          <p:nvPr/>
        </p:nvSpPr>
        <p:spPr>
          <a:xfrm>
            <a:off x="5067300" y="13229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59" name="가로 글상자 258"/>
          <p:cNvSpPr txBox="1"/>
          <p:nvPr/>
        </p:nvSpPr>
        <p:spPr>
          <a:xfrm>
            <a:off x="5067300" y="18122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60" name="가로 글상자 259"/>
          <p:cNvSpPr txBox="1"/>
          <p:nvPr/>
        </p:nvSpPr>
        <p:spPr>
          <a:xfrm>
            <a:off x="5067300" y="214947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61" name="가로 글상자 260"/>
          <p:cNvSpPr txBox="1"/>
          <p:nvPr/>
        </p:nvSpPr>
        <p:spPr>
          <a:xfrm>
            <a:off x="5067300" y="248285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62" name="가로 글상자 261"/>
          <p:cNvSpPr txBox="1"/>
          <p:nvPr/>
        </p:nvSpPr>
        <p:spPr>
          <a:xfrm>
            <a:off x="5067300" y="281622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63" name="가로 글상자 262"/>
          <p:cNvSpPr txBox="1"/>
          <p:nvPr/>
        </p:nvSpPr>
        <p:spPr>
          <a:xfrm>
            <a:off x="5067300" y="34213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65" name="가로 글상자 264"/>
          <p:cNvSpPr txBox="1"/>
          <p:nvPr/>
        </p:nvSpPr>
        <p:spPr>
          <a:xfrm>
            <a:off x="6844394" y="1802765"/>
            <a:ext cx="266700" cy="271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그림 29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50002" y="26035"/>
            <a:ext cx="2349831" cy="5085275"/>
          </a:xfrm>
          <a:prstGeom prst="rect">
            <a:avLst/>
          </a:prstGeom>
        </p:spPr>
      </p:pic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비상 연락처 입력 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선택사항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❽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가로 글상자 287"/>
          <p:cNvSpPr txBox="1"/>
          <p:nvPr/>
        </p:nvSpPr>
        <p:spPr>
          <a:xfrm>
            <a:off x="5048250" y="12467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89" name="가로 글상자 288"/>
          <p:cNvSpPr txBox="1"/>
          <p:nvPr/>
        </p:nvSpPr>
        <p:spPr>
          <a:xfrm>
            <a:off x="5048250" y="179324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90" name="가로 글상자 289"/>
          <p:cNvSpPr txBox="1"/>
          <p:nvPr/>
        </p:nvSpPr>
        <p:spPr>
          <a:xfrm>
            <a:off x="5048250" y="23399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91" name="가로 글상자 290"/>
          <p:cNvSpPr txBox="1"/>
          <p:nvPr/>
        </p:nvSpPr>
        <p:spPr>
          <a:xfrm>
            <a:off x="5048250" y="28733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92" name="가로 글상자 291"/>
          <p:cNvSpPr txBox="1"/>
          <p:nvPr/>
        </p:nvSpPr>
        <p:spPr>
          <a:xfrm>
            <a:off x="5048250" y="33686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  <p:sp>
        <p:nvSpPr>
          <p:cNvPr id="293" name="가로 글상자 292"/>
          <p:cNvSpPr txBox="1"/>
          <p:nvPr/>
        </p:nvSpPr>
        <p:spPr>
          <a:xfrm>
            <a:off x="5048250" y="39166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95" name="가로 글상자 294"/>
          <p:cNvSpPr txBox="1"/>
          <p:nvPr/>
        </p:nvSpPr>
        <p:spPr>
          <a:xfrm>
            <a:off x="6581775" y="1246714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가입 완료 안내 및 수집 항목: 필수(활동량·수면)와 선택(체성분) 구분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항목별 동의 체크박스: 필수·선택 항목에 대해 개별 동의를 받음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연동하기 버튼: Health Connect 권한 요청 창 호출 후 연동 상태 저장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건너뛰기: 연동 없이 홈으로 이동. 이후 설정(MAIN_SETTING_01)에서 연동 가능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594340"/>
            <a:chOff x="285750" y="1318260"/>
            <a:chExt cx="2219960" cy="59434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웨어러블 연동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 화면</a:t>
              </a: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MLCM_110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965815"/>
            <a:chOff x="285750" y="3289935"/>
            <a:chExt cx="2171700" cy="965815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6343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완료 후 스마트워치·체성분계 수집 항목에 동의하고 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Health Connect 연동 권한을 설정하는 화면</a:t>
              </a: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입력/웨어러블 연동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4" name="그림 28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213715" y="15620"/>
            <a:ext cx="2355301" cy="5097114"/>
          </a:xfrm>
          <a:prstGeom prst="rect">
            <a:avLst/>
          </a:prstGeom>
        </p:spPr>
      </p:pic>
      <p:pic>
        <p:nvPicPr>
          <p:cNvPr id="285" name="그림 28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213715" y="11430"/>
            <a:ext cx="2355302" cy="509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10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172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-캐릭터 카드를 물리적으로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스와이프 형식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선택하는 UI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[F] 따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스한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공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감형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감정 경청 및 따뜻한 위로 중심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[T]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현실적인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조언형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객관적 상황 분석 및 문제 해결 중심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대화 시작 버튼을 통해 실시간 대화 및 대화 기록 조회 화면으로 이동(MAIN_CHAT_02)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그림 3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59059" y="28575"/>
            <a:ext cx="2362358" cy="5112385"/>
          </a:xfrm>
          <a:prstGeom prst="rect">
            <a:avLst/>
          </a:prstGeom>
        </p:spPr>
      </p:pic>
      <p:pic>
        <p:nvPicPr>
          <p:cNvPr id="312" name="그림 31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345940" y="28575"/>
            <a:ext cx="2363673" cy="5115230"/>
          </a:xfrm>
          <a:prstGeom prst="rect">
            <a:avLst/>
          </a:prstGeom>
        </p:spPr>
      </p:pic>
      <p:sp>
        <p:nvSpPr>
          <p:cNvPr id="313" name="가로 글상자 312"/>
          <p:cNvSpPr txBox="1"/>
          <p:nvPr/>
        </p:nvSpPr>
        <p:spPr>
          <a:xfrm>
            <a:off x="4167187" y="2121535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14" name="가로 글상자 313"/>
          <p:cNvSpPr txBox="1"/>
          <p:nvPr/>
        </p:nvSpPr>
        <p:spPr>
          <a:xfrm>
            <a:off x="6565106" y="212153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15" name="가로 글상자 314"/>
          <p:cNvSpPr txBox="1"/>
          <p:nvPr/>
        </p:nvSpPr>
        <p:spPr>
          <a:xfrm>
            <a:off x="4320733" y="360489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16" name="직사각형 315"/>
          <p:cNvSpPr/>
          <p:nvPr/>
        </p:nvSpPr>
        <p:spPr>
          <a:xfrm>
            <a:off x="4953000" y="4343400"/>
            <a:ext cx="412750" cy="234950"/>
          </a:xfrm>
          <a:prstGeom prst="rect">
            <a:avLst/>
          </a:prstGeom>
          <a:solidFill>
            <a:schemeClr val="lt1"/>
          </a:solidFill>
          <a:ln>
            <a:solidFill>
              <a:schemeClr val="l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선택한 대화 상대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메세지 영역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글자 및 음성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대화종료 버튼을 통해 홈 화면(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</a:rPr>
              <a:t>MAIN_HOME_01)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그림 34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79337" y="19050"/>
            <a:ext cx="2369899" cy="5128705"/>
          </a:xfrm>
          <a:prstGeom prst="rect">
            <a:avLst/>
          </a:prstGeom>
        </p:spPr>
      </p:pic>
      <p:sp>
        <p:nvSpPr>
          <p:cNvPr id="342" name="가로 글상자 341"/>
          <p:cNvSpPr txBox="1"/>
          <p:nvPr/>
        </p:nvSpPr>
        <p:spPr>
          <a:xfrm>
            <a:off x="6366782" y="941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43" name="가로 글상자 342"/>
          <p:cNvSpPr txBox="1"/>
          <p:nvPr/>
        </p:nvSpPr>
        <p:spPr>
          <a:xfrm>
            <a:off x="5279571" y="47275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44" name="가로 글상자 343"/>
          <p:cNvSpPr txBox="1"/>
          <p:nvPr/>
        </p:nvSpPr>
        <p:spPr>
          <a:xfrm>
            <a:off x="5091792" y="415516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45" name="가로 글상자 344"/>
          <p:cNvSpPr txBox="1"/>
          <p:nvPr/>
        </p:nvSpPr>
        <p:spPr>
          <a:xfrm>
            <a:off x="7282537" y="94189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감정: 대표 감정 이모지, 정서 점수 및 긍정/중립/부정 상태 분포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그림 36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2593" y="19050"/>
            <a:ext cx="2364648" cy="51173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 선택: 일·주·월 단위 전환 및 최종 동기화 시각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활동량 차트: 걸음 수·이동 거리·소모 칼로리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수면 차트: 단계별(깊은수면·얕은수면·REM·각성) 구성과 수면 효율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생체 지표 차트: 심박수·심박변이도(HRV)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체성분 기록: 체중·체지방·근육량·기초대사량 측정 이력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LIFELOG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 기록 조회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4438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수집된 라이프로그를 기간별로 조회하는 화면. 활동량·수면·생체 지표·체성분을 차트로 확인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9" name="그림 36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9442" y="19050"/>
            <a:ext cx="2370951" cy="513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381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웨어러블 연동: 기기명·연동 여부 표시, 항목별(활동량·수면·체성분) 동의 개별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알림 설정: 맞춤 케어 알림 수신 토글. 해제 시 추천 푸시 미발송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페르소나 변경: 현재 챗봇 성격 표시, 선택 시 성격 선택 화면(MAIN_CHAT_01)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관리: 계정 관리·회원 탈퇴 화면(MAIN_SETTING_02)으로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로그아웃 버튼: 세션(JWT) 무효화 후 로그인 화면(MAIN_LOGIN_01)으로 복귀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SETTING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110 / MLCM_101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웨어러블 연동과 항목별 수집 동의, 알림, 페르소나를 설정하고 계정 기능으로 진입하는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가입 시 사용한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인증 메일 발송: 재설정 링크·인증 코드 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발송 안내: 미가입 이메일도 동일 문구, 실제 미발송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새 비밀번호 입력창: 새 비밀번호·확인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재설정 완료: 비밀번호 갱신 후 MAIN_LOGIN_01 이동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비밀번호 재설정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비밀번호 분실 시 이메일 인증을 통해 새 비밀번호로 재설정하는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로그인/비밀번호 찾기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기간: 주·월·직접 지정 전환. 변경 시 재조회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감정 변화 곡선: 기간별 감정 스코어 추이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 단계 분포: 안정·주의·심각 단계 비율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결합 차트: 감정 추이와 수면·활동량 동일 시간축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종합 요약 문구·PDF 내보내기 버튼 제공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MAIN_REPORT_01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정서 리포트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본인의 기간별 감정 위험도 스코어 추이와 라이프로그 변화를 대시보드로 조회하고 PDF로 내보내는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라이프로그/정서 리포트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정보: 이메일, 이름, 가입일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변경: 현재 비밀번호 확인 후 변경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회원 탈퇴: 탈퇴 절차 시작. 비밀번호 재입력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삭제 범위 안내: 라이프로그·체성분·대화·분석·기기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최종 확인 후 탈퇴 처리, MAIN_LOGIN_01 복귀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MAIN_SETTING_02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관리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MLCM_103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계정 정보를 확인하고 회원 탈퇴를 처리하는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설정/계정 관리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상태 안내: 도움이 필요한 신호가 감지되었음을 안내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긴급 상담 연결: 109 자살예방상담전화 통화 연결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개인정보 안내: 전화 앱만 실행, 분석 데이터 미전송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닫기: 이전 화면 복귀. 판정 이력은 기록됨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노출 중 힐링 콘텐츠 추천은 표시하지 않음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MAIN_EMERGENCY_01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긴급 상담 연결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정서 위험도가 CRITICAL로 판정된 경우 콘텐츠 추천을 중단하고 전문 상담기관 직통 연결을 안내하는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(전역 · CRITICAL 판정 시 자동 노출)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관리자 계정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입력창: 마스킹 처리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로그인 버튼: 인증 성공 시 ADMIN_DASH_01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관리자 권한이 아니면 접근 불가 안내 노출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/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/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ADMIN_LOGIN_01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로그인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 / MLCM_501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관제 대시보드에 접근하기 위해 로그인하는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위험도 분포 요약: 안정·주의·심각 인원수 집계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목록: 심각·주의 우선 정렬, 평가일시·점수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상세: 기간별 감정 스코어·라이프로그 차트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위기 사건 조회: 긴급 상담 연결 노출 이력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관리자 권한 계정만 접근 가능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ADMIN_DASH_01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관제 대시보드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전체 사용자의 위험도 분포를 요약 조회하고 고위험군을 우선 식별하는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관제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44450">
          <a:solidFill>
            <a:srgbClr val="000000">
              <a:alpha val="100000"/>
            </a:srgbClr>
          </a:solidFill>
          <a:head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1458</Words>
  <Application>Microsoft Office PowerPoint</Application>
  <PresentationFormat>A4 용지(210x297mm)</PresentationFormat>
  <Paragraphs>331</Paragraphs>
  <Slides>15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Malgun Gothic</vt:lpstr>
      <vt:lpstr>Malgun Gothic</vt:lpstr>
      <vt:lpstr>Arial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cp:lastModifiedBy>smhrd1</cp:lastModifiedBy>
  <cp:revision>29</cp:revision>
  <dcterms:modified xsi:type="dcterms:W3CDTF">2026-07-31T08:39:29Z</dcterms:modified>
  <cp:version/>
</cp:coreProperties>
</file>