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  <p:sldMasterId id="2147483651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239"/>
        <p:guide pos="575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presProps" Target="presProps.xml"  /><Relationship Id="rId22" Type="http://schemas.openxmlformats.org/officeDocument/2006/relationships/viewProps" Target="viewProps.xml"  /><Relationship Id="rId23" Type="http://schemas.openxmlformats.org/officeDocument/2006/relationships/theme" Target="theme/theme1.xml"  /><Relationship Id="rId24" Type="http://schemas.openxmlformats.org/officeDocument/2006/relationships/tableStyles" Target="tableStyles.xml"  /><Relationship Id="rId3" Type="http://schemas.openxmlformats.org/officeDocument/2006/relationships/notesMaster" Target="notesMasters/notesMaster1.xml"  /><Relationship Id="rId4" Type="http://schemas.openxmlformats.org/officeDocument/2006/relationships/slide" Target="slides/slide1.xml"  /><Relationship Id="rId5" Type="http://schemas.openxmlformats.org/officeDocument/2006/relationships/slide" Target="slides/slide2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714825" y="1371600"/>
            <a:ext cx="6858325" cy="6858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g3f96eaffb38_0_33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" name="Google Shape;12;g3f96eaffb38_0_3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 귀기울임의 기업주제 프로젝트 발표입니다. 생체신호 기반 감정 분석과 위기 대응을 하나로 묶은 시스템입니다.</a:t>
            </a:r>
            <a:endParaRPr/>
          </a:p>
        </p:txBody>
      </p:sp>
      <p:sp>
        <p:nvSpPr>
          <p:cNvPr id="20" name="Google Shape;2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기술 격차, 고독사 증가, 스트레스 지표 — 세 가지 숫자가 프로젝트의 출발점입니다.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수집–판정–대응 세 단계를 완전 자동화한 것이 핵심입니다.</a:t>
            </a:r>
            <a:endParaRPr/>
          </a:p>
        </p:txBody>
      </p:sp>
      <p:sp>
        <p:nvSpPr>
          <p:cNvPr id="81" name="Google Shape;8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가지 핵심 기능과 사용 기술 스택입니다.</a:t>
            </a:r>
            <a:endParaRPr/>
          </a:p>
        </p:txBody>
      </p:sp>
      <p:sp>
        <p:nvSpPr>
          <p:cNvPr id="114" name="Google Shape;11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시장은 두 자릿수로 성장 중이고, 세 기능을 모두 갖춘 서비스는 아직 없습니다.</a:t>
            </a:r>
            <a:endParaRPr/>
          </a:p>
        </p:txBody>
      </p:sp>
      <p:sp>
        <p:nvSpPr>
          <p:cNvPr id="156" name="Google Shape;156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SWOT 전략과 초기 타깃 정의입니다.</a:t>
            </a:r>
            <a:endParaRPr/>
          </a:p>
        </p:txBody>
      </p:sp>
      <p:sp>
        <p:nvSpPr>
          <p:cNvPr id="239" name="Google Shape;23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 계층, 비즈니스 서버, AI 추론 서버로 구성된 3계층 구조입니다.</a:t>
            </a:r>
            <a:endParaRPr/>
          </a:p>
        </p:txBody>
      </p:sp>
      <p:sp>
        <p:nvSpPr>
          <p:cNvPr id="267" name="Google Shape;267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수집부터 액션까지 5단계, 각 구간의 성능 목표는 하단 Metric Box에 정리했습니다.</a:t>
            </a:r>
            <a:endParaRPr/>
          </a:p>
        </p:txBody>
      </p:sp>
      <p:sp>
        <p:nvSpPr>
          <p:cNvPr id="301" name="Google Shape;30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개의 모델 트랙과 각각의 목표 지표입니다.</a:t>
            </a:r>
            <a:endParaRPr/>
          </a:p>
        </p:txBody>
      </p:sp>
      <p:sp>
        <p:nvSpPr>
          <p:cNvPr id="341" name="Google Shape;34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ALERT, CAUTION, NORMAL 세 단계와 자동 트리거되는 액션입니다.</a:t>
            </a:r>
            <a:endParaRPr/>
          </a:p>
        </p:txBody>
      </p:sp>
      <p:sp>
        <p:nvSpPr>
          <p:cNvPr id="371" name="Google Shape;37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오픈 데이터 두 종과 민감 보건의료 데이터 한 종의 확보·활용 전략입니다.</a:t>
            </a:r>
            <a:endParaRPr/>
          </a:p>
        </p:txBody>
      </p:sp>
      <p:sp>
        <p:nvSpPr>
          <p:cNvPr id="405" name="Google Shape;405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2" name="Google Shape;432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PostgreSQL 단일 DB 기준의 무결성·보안 원칙 여섯 가지입니다.</a:t>
            </a:r>
            <a:endParaRPr/>
          </a:p>
        </p:txBody>
      </p:sp>
      <p:sp>
        <p:nvSpPr>
          <p:cNvPr id="433" name="Google Shape;433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요구사항과 비기능 요구사항 및 한계치입니다.</a:t>
            </a:r>
            <a:endParaRPr/>
          </a:p>
        </p:txBody>
      </p:sp>
      <p:sp>
        <p:nvSpPr>
          <p:cNvPr id="462" name="Google Shape;46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6주 일정, 8월 28일 최종 발표가 마일스톤입니다.</a:t>
            </a:r>
            <a:endParaRPr/>
          </a:p>
        </p:txBody>
      </p:sp>
      <p:sp>
        <p:nvSpPr>
          <p:cNvPr id="492" name="Google Shape;492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1" name="Google Shape;52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아홉 개의 핵심 목표 수치와 확장 비전으로 마무리합니다.</a:t>
            </a:r>
            <a:endParaRPr/>
          </a:p>
        </p:txBody>
      </p:sp>
      <p:sp>
        <p:nvSpPr>
          <p:cNvPr id="522" name="Google Shape;52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f96eaffb38_0_0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g3f96eaffb38_0_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4인 팀이며 PM, 데이터 모델링, 백엔드/DB, 프론트엔드로 역할을 완전히 분리해 병렬로 진행하고 있습니다.</a:t>
            </a:r>
            <a:endParaRPr/>
          </a:p>
        </p:txBody>
      </p:sp>
      <p:sp>
        <p:nvSpPr>
          <p:cNvPr id="557" name="Google Shape;557;g3f96eaffb38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matchingName="DEFAULT">
  <p:cSld name="DEFAULT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theme" Target="../theme/theme1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theme" Target="../theme/theme2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.jpe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6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5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7.xml"  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제목 폰트 사이즈를 두 줄로 보여지게 줄여줘" id="14" name="Google Shape;14;g3f96eaffb38_0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g3f96eaffb38_0_33"/>
          <p:cNvSpPr/>
          <p:nvPr/>
        </p:nvSpPr>
        <p:spPr>
          <a:xfrm>
            <a:off x="712350" y="9137225"/>
            <a:ext cx="2323175" cy="534325"/>
          </a:xfrm>
          <a:custGeom>
            <a:rect b="b" l="l" r="r" t="t"/>
            <a:pathLst>
              <a:path extrusionOk="0" h="21373" w="92927">
                <a:moveTo>
                  <a:pt x="3717" y="929"/>
                </a:moveTo>
                <a:lnTo>
                  <a:pt x="92927" y="0"/>
                </a:lnTo>
                <a:lnTo>
                  <a:pt x="92927" y="21373"/>
                </a:lnTo>
                <a:lnTo>
                  <a:pt x="0" y="21373"/>
                </a:lnTo>
                <a:close/>
              </a:path>
            </a:pathLst>
          </a:custGeom>
          <a:solidFill>
            <a:srgbClr val="F7FBFE"/>
          </a:solidFill>
          <a:ln cap="flat" cmpd="sng" w="9525">
            <a:solidFill>
              <a:srgbClr val="F7FBFD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" name="Google Shape;16;g3f96eaffb38_0_33"/>
          <p:cNvSpPr txBox="1"/>
          <p:nvPr/>
        </p:nvSpPr>
        <p:spPr>
          <a:xfrm>
            <a:off x="863450" y="9112397"/>
            <a:ext cx="5462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2400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2026.7.28</a:t>
            </a:r>
            <a:endParaRPr b="0" i="0" sz="2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1282700" y="555625"/>
            <a:ext cx="508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목차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1054100" y="21336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2057400" y="22352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배경과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5842000" y="23114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추진 배경  ·  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1054100" y="35052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 txBox="1"/>
          <p:nvPr/>
        </p:nvSpPr>
        <p:spPr>
          <a:xfrm>
            <a:off x="1054100" y="37338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02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2057400" y="38354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기능과 시장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5842000" y="39116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핵심 기능  ·  시장 성장성과 경쟁 포지셔닝  ·  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054100" y="51054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1054100" y="53340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03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2057400" y="54356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기술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5842000" y="55118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  ·  데이터 처리 파이프라인  ·  AI 모델 설계(Tech Specs)</a:t>
            </a:r>
            <a:endParaRPr b="0" i="0" sz="1900" u="none" cap="none" strike="noStrike">
              <a:solidFill>
                <a:srgbClr val="4A5A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054100" y="67056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1054100" y="69342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04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2057400" y="70358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데이터와 보안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 txBox="1"/>
          <p:nvPr/>
        </p:nvSpPr>
        <p:spPr>
          <a:xfrm>
            <a:off x="5842000" y="71120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  ·  학습 데이터셋 확보 계획  ·  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054100" y="83058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054100" y="85344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05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2057400" y="86360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실행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5842000" y="87122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  ·  6주 개발 일정  ·  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F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123825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1657350" y="2590800"/>
            <a:ext cx="809625" cy="857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1657350" y="2057400"/>
            <a:ext cx="85725" cy="6191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276475" y="2171700"/>
            <a:ext cx="190500" cy="3238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028825" y="2273300"/>
            <a:ext cx="190500" cy="228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2424284" y="3124200"/>
            <a:ext cx="251738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2.2년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2831306" y="4445000"/>
            <a:ext cx="1703338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3117056" y="4559300"/>
            <a:ext cx="113183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기술 격차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2343274" y="5549900"/>
            <a:ext cx="2679255" cy="21484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보건의료 질환 분야 미국 대비 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기술수준 80.3%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669920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7118300" y="2057400"/>
            <a:ext cx="628650" cy="628650"/>
          </a:xfrm>
          <a:prstGeom prst="roundRect">
            <a:avLst>
              <a:gd fmla="val 15152" name="adj"/>
            </a:avLst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251650" y="22606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251650" y="24003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7556450" y="2413000"/>
            <a:ext cx="323850" cy="323850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583850" y="3136900"/>
            <a:ext cx="312000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+7.2%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169473" y="4457700"/>
            <a:ext cx="1948755" cy="609600"/>
          </a:xfrm>
          <a:prstGeom prst="roundRect">
            <a:avLst>
              <a:gd fmla="val 50000" name="adj"/>
            </a:avLst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455223" y="4572000"/>
            <a:ext cx="137725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고독사 증가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93404" y="5562600"/>
            <a:ext cx="4100894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2024년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고독사 사망자 3,924명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(2027년까지 20% 감축 목표, R&amp;D 예산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1조 652억 원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12160151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1257925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845951" y="2057400"/>
            <a:ext cx="266700" cy="476250"/>
          </a:xfrm>
          <a:custGeom>
            <a:rect b="b" l="l" r="r" t="t"/>
            <a:pathLst>
              <a:path extrusionOk="0" h="476250" w="266700">
                <a:moveTo>
                  <a:pt x="133350" y="0"/>
                </a:moveTo>
                <a:lnTo>
                  <a:pt x="133350" y="0"/>
                </a:lnTo>
                <a:cubicBezTo>
                  <a:pt x="168717" y="0"/>
                  <a:pt x="202635" y="14049"/>
                  <a:pt x="227643" y="39057"/>
                </a:cubicBezTo>
                <a:cubicBezTo>
                  <a:pt x="252651" y="64065"/>
                  <a:pt x="266700" y="97983"/>
                  <a:pt x="266700" y="133350"/>
                </a:cubicBezTo>
                <a:lnTo>
                  <a:pt x="266700" y="438150"/>
                </a:lnTo>
                <a:cubicBezTo>
                  <a:pt x="266700" y="459192"/>
                  <a:pt x="249642" y="476250"/>
                  <a:pt x="228600" y="476250"/>
                </a:cubicBezTo>
                <a:lnTo>
                  <a:pt x="38100" y="476250"/>
                </a:lnTo>
                <a:cubicBezTo>
                  <a:pt x="17058" y="476250"/>
                  <a:pt x="0" y="459192"/>
                  <a:pt x="0" y="438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316980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3060018" y="2984500"/>
            <a:ext cx="3089717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46.3%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3790265" y="4305300"/>
            <a:ext cx="1629221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4076015" y="4419600"/>
            <a:ext cx="1057721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스트레스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3271610" y="5410200"/>
            <a:ext cx="2666531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1인가구 </a:t>
            </a: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804만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시대(36.1%),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스트레스 46.3%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및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우울감 40.2%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응답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추진 배경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"/>
          <p:cNvSpPr/>
          <p:nvPr/>
        </p:nvSpPr>
        <p:spPr>
          <a:xfrm>
            <a:off x="277802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 rot="-2700000">
            <a:off x="3630968" y="29718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 rot="-2700000">
            <a:off x="2782333" y="21209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 rot="-2700000">
            <a:off x="3382409" y="2374900"/>
            <a:ext cx="133350" cy="13335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804847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856282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266700" y="0"/>
                </a:moveTo>
                <a:lnTo>
                  <a:pt x="476250" y="0"/>
                </a:lnTo>
                <a:cubicBezTo>
                  <a:pt x="491407" y="0"/>
                  <a:pt x="505943" y="6021"/>
                  <a:pt x="516661" y="16739"/>
                </a:cubicBezTo>
                <a:cubicBezTo>
                  <a:pt x="527379" y="27457"/>
                  <a:pt x="533400" y="41993"/>
                  <a:pt x="533400" y="57150"/>
                </a:cubicBezTo>
                <a:lnTo>
                  <a:pt x="533400" y="666750"/>
                </a:lnTo>
                <a:cubicBezTo>
                  <a:pt x="533400" y="698313"/>
                  <a:pt x="507813" y="723900"/>
                  <a:pt x="476250" y="723900"/>
                </a:cubicBezTo>
                <a:lnTo>
                  <a:pt x="266700" y="723900"/>
                </a:lnTo>
                <a:cubicBezTo>
                  <a:pt x="119406" y="723900"/>
                  <a:pt x="0" y="604494"/>
                  <a:pt x="0" y="4572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19147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57150" y="0"/>
                </a:moveTo>
                <a:lnTo>
                  <a:pt x="266700" y="0"/>
                </a:lnTo>
                <a:cubicBezTo>
                  <a:pt x="337433" y="0"/>
                  <a:pt x="405269" y="28099"/>
                  <a:pt x="455285" y="78115"/>
                </a:cubicBezTo>
                <a:cubicBezTo>
                  <a:pt x="505301" y="128131"/>
                  <a:pt x="533400" y="195967"/>
                  <a:pt x="533400" y="266700"/>
                </a:cubicBezTo>
                <a:lnTo>
                  <a:pt x="533400" y="457200"/>
                </a:lnTo>
                <a:cubicBezTo>
                  <a:pt x="533400" y="604494"/>
                  <a:pt x="413994" y="723900"/>
                  <a:pt x="266700" y="723900"/>
                </a:cubicBezTo>
                <a:lnTo>
                  <a:pt x="57150" y="723900"/>
                </a:lnTo>
                <a:cubicBezTo>
                  <a:pt x="25587" y="723900"/>
                  <a:pt x="0" y="698313"/>
                  <a:pt x="0" y="6667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13318927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3957102" y="2095500"/>
            <a:ext cx="914400" cy="1047750"/>
          </a:xfrm>
          <a:custGeom>
            <a:rect b="b" l="l" r="r" t="t"/>
            <a:pathLst>
              <a:path extrusionOk="0" h="1047750" w="914400">
                <a:moveTo>
                  <a:pt x="133350" y="0"/>
                </a:moveTo>
                <a:lnTo>
                  <a:pt x="781050" y="0"/>
                </a:lnTo>
                <a:cubicBezTo>
                  <a:pt x="816417" y="0"/>
                  <a:pt x="850335" y="14049"/>
                  <a:pt x="875343" y="39057"/>
                </a:cubicBezTo>
                <a:cubicBezTo>
                  <a:pt x="900351" y="64065"/>
                  <a:pt x="914400" y="97983"/>
                  <a:pt x="914400" y="133350"/>
                </a:cubicBezTo>
                <a:lnTo>
                  <a:pt x="914400" y="590550"/>
                </a:lnTo>
                <a:cubicBezTo>
                  <a:pt x="914400" y="843055"/>
                  <a:pt x="709705" y="1047750"/>
                  <a:pt x="457200" y="1047750"/>
                </a:cubicBezTo>
                <a:lnTo>
                  <a:pt x="457200" y="1047750"/>
                </a:lnTo>
                <a:cubicBezTo>
                  <a:pt x="204695" y="1047750"/>
                  <a:pt x="0" y="843055"/>
                  <a:pt x="0" y="5905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13919002" y="2095500"/>
            <a:ext cx="990600" cy="1085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4286250" y="4394200"/>
            <a:ext cx="9715351" cy="57150"/>
          </a:xfrm>
          <a:prstGeom prst="rect">
            <a:avLst/>
          </a:prstGeom>
          <a:solidFill>
            <a:srgbClr val="DBE3E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352097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879142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4061877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1884468" y="5308600"/>
            <a:ext cx="3596866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완전 자동화된 데이터 파이프라인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1810885" y="6743700"/>
            <a:ext cx="3744181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Health Connect 생체신호 무자각 수집 (15분 주기)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1705825" y="7962900"/>
            <a:ext cx="39420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1962637" y="8077200"/>
            <a:ext cx="34281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 5초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721465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2단계 AI 모델의 위험 단계 자동 판정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923249" y="6743700"/>
            <a:ext cx="444120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LSTM Autoencoder (1차 탐지) + LightGBM (2차 분류)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6220425" y="7962900"/>
            <a:ext cx="57687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6576800" y="8055000"/>
            <a:ext cx="5267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F1-score 0.80↑ / 위기 문맥 재현율 90%↑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267560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자동 대응 체계 완성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2776934" y="6743700"/>
            <a:ext cx="365588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맞춤 힐링 콘텐츠 추천부터 긴급 </a:t>
            </a:r>
            <a:r>
              <a:rPr lang="en-US" sz="2550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전화 </a:t>
            </a: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UI까지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12494875" y="7962900"/>
            <a:ext cx="4112100" cy="628800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12753900" y="8077200"/>
            <a:ext cx="35943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임계치 초과~긴급 UI 3초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857250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1276350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800225" y="2806700"/>
            <a:ext cx="114300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2181225" y="3200400"/>
            <a:ext cx="142875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1800225" y="3606800"/>
            <a:ext cx="104775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2276475" y="4013200"/>
            <a:ext cx="133350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4552950" y="2514600"/>
            <a:ext cx="4071300" cy="10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가변형 페르소나 LLM 챗봇</a:t>
            </a:r>
            <a:endParaRPr b="1" i="0" sz="28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(OpenAI, Whisper)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4552950" y="37719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사용자가 F형(공감형) / T형(조언형) 페르소나 선택, 텍스트 및 음성 멀티모달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9363075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9782175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0058400" y="2794000"/>
            <a:ext cx="2305050" cy="1498600"/>
          </a:xfrm>
          <a:prstGeom prst="roundRect">
            <a:avLst>
              <a:gd fmla="val 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10210800" y="2933700"/>
            <a:ext cx="104775" cy="104775"/>
          </a:xfrm>
          <a:prstGeom prst="ellipse">
            <a:avLst/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0382250" y="2933700"/>
            <a:ext cx="104775" cy="104775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10553700" y="2933700"/>
            <a:ext cx="104775" cy="104775"/>
          </a:xfrm>
          <a:prstGeom prst="ellipse">
            <a:avLst/>
          </a:prstGeom>
          <a:solidFill>
            <a:srgbClr val="8FBFB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10839450" y="3136900"/>
            <a:ext cx="742950" cy="742950"/>
          </a:xfrm>
          <a:prstGeom prst="ellipse">
            <a:avLst/>
          </a:prstGeom>
          <a:noFill/>
          <a:ln cap="flat" cmpd="sng" w="66675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0868025" y="3200400"/>
            <a:ext cx="6858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10686157" y="3911600"/>
            <a:ext cx="1049387" cy="295275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0857607" y="3962400"/>
            <a:ext cx="782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40"/>
              <a:buFont typeface="Noto Sans"/>
              <a:buNone/>
            </a:pPr>
            <a:r>
              <a:rPr b="1" i="0" lang="en-US" sz="1041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CONNECT</a:t>
            </a:r>
            <a:endParaRPr b="0" i="0" sz="104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3058775" y="2362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단계별 대응 (FastAPI, Node.js)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3058775" y="3530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감정 상태에 따라 콘텐츠 추천 또는 심각 시 긴급 상담 직통 연결 UI 즉시 팝업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857250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276350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1990725" y="7366000"/>
            <a:ext cx="1428750" cy="1428750"/>
          </a:xfrm>
          <a:prstGeom prst="roundRect">
            <a:avLst>
              <a:gd fmla="val 25333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2124075" y="7480300"/>
            <a:ext cx="1162050" cy="116205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552950" y="6337300"/>
            <a:ext cx="4071461" cy="19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기반 감정 분석 (PyTorch, Scikit-learn)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4552950" y="84582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활동량·수면 단계(15분 주기), 체성분(측정 시)을 분석해 미세한 정서 변화 수치화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9363075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9782175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25842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1126807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1025842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1126807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13058775" y="6807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정서 리포트 대시보드 (React, Chart.js)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13058775" y="7975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기간별 감정 스코어 추이 시각화, 관리자 관제 및 PDF 내보내기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1503926" y="507283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기능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/>
          <p:nvPr/>
        </p:nvSpPr>
        <p:spPr>
          <a:xfrm>
            <a:off x="669131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글로벌 정신건강 앱 연평균 성장률: 18.3%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69131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(2030년 184.5억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1047750" y="4965700"/>
            <a:ext cx="7572375" cy="19050"/>
          </a:xfrm>
          <a:prstGeom prst="rect">
            <a:avLst/>
          </a:prstGeom>
          <a:solidFill>
            <a:srgbClr val="D9E1E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172021" y="42799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7.1%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1047750" y="4648200"/>
            <a:ext cx="889397" cy="323850"/>
          </a:xfrm>
          <a:custGeom>
            <a:rect b="b" l="l" r="r" t="t"/>
            <a:pathLst>
              <a:path extrusionOk="0" h="3238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323850"/>
                </a:lnTo>
                <a:lnTo>
                  <a:pt x="0" y="3238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2271117" y="41783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10.%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2146697" y="4546600"/>
            <a:ext cx="889546" cy="419100"/>
          </a:xfrm>
          <a:custGeom>
            <a:rect b="b" l="l" r="r" t="t"/>
            <a:pathLst>
              <a:path extrusionOk="0" h="4191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419100"/>
                </a:lnTo>
                <a:lnTo>
                  <a:pt x="0" y="419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3370064" y="40513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18.%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3245793" y="4419600"/>
            <a:ext cx="889397" cy="552450"/>
          </a:xfrm>
          <a:custGeom>
            <a:rect b="b" l="l" r="r" t="t"/>
            <a:pathLst>
              <a:path extrusionOk="0" h="5524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552450"/>
                </a:lnTo>
                <a:lnTo>
                  <a:pt x="0" y="5524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4469160" y="38354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30.%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4344739" y="4203700"/>
            <a:ext cx="889546" cy="762000"/>
          </a:xfrm>
          <a:custGeom>
            <a:rect b="b" l="l" r="r" t="t"/>
            <a:pathLst>
              <a:path extrusionOk="0" h="7620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762000"/>
                </a:lnTo>
                <a:lnTo>
                  <a:pt x="0" y="7620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568255" y="34798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56.%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5443835" y="3848100"/>
            <a:ext cx="889546" cy="1123950"/>
          </a:xfrm>
          <a:custGeom>
            <a:rect b="b" l="l" r="r" t="t"/>
            <a:pathLst>
              <a:path extrusionOk="0" h="112395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1123950"/>
                </a:lnTo>
                <a:lnTo>
                  <a:pt x="0" y="1123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6598444" y="2959100"/>
            <a:ext cx="77852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162.%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542931" y="3327400"/>
            <a:ext cx="889546" cy="1638300"/>
          </a:xfrm>
          <a:custGeom>
            <a:rect b="b" l="l" r="r" t="t"/>
            <a:pathLst>
              <a:path extrusionOk="0" h="16383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1638300"/>
                </a:lnTo>
                <a:lnTo>
                  <a:pt x="0" y="16383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7603927" y="2590800"/>
            <a:ext cx="10542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184.5억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7642027" y="3086100"/>
            <a:ext cx="978098" cy="1885950"/>
          </a:xfrm>
          <a:custGeom>
            <a:rect b="b" l="l" r="r" t="t"/>
            <a:pathLst>
              <a:path extrusionOk="0" h="1885950" w="978098">
                <a:moveTo>
                  <a:pt x="76200" y="0"/>
                </a:moveTo>
                <a:lnTo>
                  <a:pt x="901898" y="0"/>
                </a:lnTo>
                <a:cubicBezTo>
                  <a:pt x="922107" y="0"/>
                  <a:pt x="941489" y="8028"/>
                  <a:pt x="955780" y="22318"/>
                </a:cubicBezTo>
                <a:cubicBezTo>
                  <a:pt x="970070" y="36609"/>
                  <a:pt x="978098" y="55991"/>
                  <a:pt x="978098" y="76200"/>
                </a:cubicBezTo>
                <a:lnTo>
                  <a:pt x="978098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9289256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웨어러블 시장 연평균 성장률: 17.2%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9289256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(2033년 67억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9667875" y="4965700"/>
            <a:ext cx="7572375" cy="19050"/>
          </a:xfrm>
          <a:prstGeom prst="rect">
            <a:avLst/>
          </a:prstGeom>
          <a:solidFill>
            <a:srgbClr val="D9E1E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9829056" y="39751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9667875" y="4394200"/>
            <a:ext cx="902047" cy="571500"/>
          </a:xfrm>
          <a:custGeom>
            <a:rect b="b" l="l" r="r" t="t"/>
            <a:pathLst>
              <a:path extrusionOk="0" h="571500" w="902047">
                <a:moveTo>
                  <a:pt x="76200" y="0"/>
                </a:moveTo>
                <a:lnTo>
                  <a:pt x="825847" y="0"/>
                </a:lnTo>
                <a:cubicBezTo>
                  <a:pt x="846056" y="0"/>
                  <a:pt x="865438" y="8028"/>
                  <a:pt x="879729" y="22318"/>
                </a:cubicBezTo>
                <a:cubicBezTo>
                  <a:pt x="894019" y="36609"/>
                  <a:pt x="902047" y="55991"/>
                  <a:pt x="902047" y="76200"/>
                </a:cubicBezTo>
                <a:lnTo>
                  <a:pt x="902047" y="571500"/>
                </a:lnTo>
                <a:lnTo>
                  <a:pt x="0" y="5715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10940802" y="3873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29억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10779472" y="4305300"/>
            <a:ext cx="902196" cy="666750"/>
          </a:xfrm>
          <a:custGeom>
            <a:rect b="b" l="l" r="r" t="t"/>
            <a:pathLst>
              <a:path extrusionOk="0" h="6667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666750"/>
                </a:lnTo>
                <a:lnTo>
                  <a:pt x="0" y="6667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12052399" y="37084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34억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11891218" y="4127500"/>
            <a:ext cx="902047" cy="838200"/>
          </a:xfrm>
          <a:custGeom>
            <a:rect b="b" l="l" r="r" t="t"/>
            <a:pathLst>
              <a:path extrusionOk="0" h="838200" w="902047">
                <a:moveTo>
                  <a:pt x="76200" y="0"/>
                </a:moveTo>
                <a:lnTo>
                  <a:pt x="825847" y="0"/>
                </a:lnTo>
                <a:cubicBezTo>
                  <a:pt x="846056" y="0"/>
                  <a:pt x="865438" y="8028"/>
                  <a:pt x="879729" y="22318"/>
                </a:cubicBezTo>
                <a:cubicBezTo>
                  <a:pt x="894019" y="36609"/>
                  <a:pt x="902047" y="55991"/>
                  <a:pt x="902047" y="76200"/>
                </a:cubicBezTo>
                <a:lnTo>
                  <a:pt x="902047" y="838200"/>
                </a:lnTo>
                <a:lnTo>
                  <a:pt x="0" y="8382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13164145" y="3365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47억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13002816" y="3784600"/>
            <a:ext cx="902196" cy="1181100"/>
          </a:xfrm>
          <a:custGeom>
            <a:rect b="b" l="l" r="r" t="t"/>
            <a:pathLst>
              <a:path extrusionOk="0" h="11811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181100"/>
                </a:lnTo>
                <a:lnTo>
                  <a:pt x="0" y="1181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14275891" y="3111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55억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14114562" y="3543300"/>
            <a:ext cx="902196" cy="1428750"/>
          </a:xfrm>
          <a:custGeom>
            <a:rect b="b" l="l" r="r" t="t"/>
            <a:pathLst>
              <a:path extrusionOk="0" h="14287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428750"/>
                </a:lnTo>
                <a:lnTo>
                  <a:pt x="0" y="14287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15387638" y="28321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67억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15226308" y="3251200"/>
            <a:ext cx="902196" cy="1714500"/>
          </a:xfrm>
          <a:custGeom>
            <a:rect b="b" l="l" r="r" t="t"/>
            <a:pathLst>
              <a:path extrusionOk="0" h="17145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714500"/>
                </a:lnTo>
                <a:lnTo>
                  <a:pt x="0" y="17145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16460539" y="2590800"/>
            <a:ext cx="6570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67억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16338054" y="3086100"/>
            <a:ext cx="902196" cy="1885950"/>
          </a:xfrm>
          <a:custGeom>
            <a:rect b="b" l="l" r="r" t="t"/>
            <a:pathLst>
              <a:path extrusionOk="0" h="18859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1047750" y="5219700"/>
            <a:ext cx="16192500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4451119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마인드카페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7344757" y="5575300"/>
            <a:ext cx="3298448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Wysa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10448297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삼성헬스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13491865" y="5422900"/>
            <a:ext cx="3748385" cy="809625"/>
          </a:xfrm>
          <a:custGeom>
            <a:rect b="b" l="l" r="r" t="t"/>
            <a:pathLst>
              <a:path extrusionOk="0" h="809625" w="3748385">
                <a:moveTo>
                  <a:pt x="152400" y="0"/>
                </a:moveTo>
                <a:lnTo>
                  <a:pt x="3595985" y="0"/>
                </a:lnTo>
                <a:cubicBezTo>
                  <a:pt x="3636404" y="0"/>
                  <a:pt x="3675168" y="16056"/>
                  <a:pt x="3703748" y="44637"/>
                </a:cubicBezTo>
                <a:cubicBezTo>
                  <a:pt x="3732329" y="73217"/>
                  <a:pt x="3748385" y="111981"/>
                  <a:pt x="3748385" y="152400"/>
                </a:cubicBezTo>
                <a:lnTo>
                  <a:pt x="3748385" y="809625"/>
                </a:lnTo>
                <a:lnTo>
                  <a:pt x="0" y="809625"/>
                </a:lnTo>
                <a:lnTo>
                  <a:pt x="0" y="152400"/>
                </a:lnTo>
                <a:cubicBezTo>
                  <a:pt x="0" y="68232"/>
                  <a:pt x="68232" y="0"/>
                  <a:pt x="152400" y="0"/>
                </a:cubicBez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13435639" y="5626100"/>
            <a:ext cx="386083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본 프로젝트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1047750" y="62865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1047750" y="64516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자동 수집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496098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4451119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7494687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7449708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10493276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10448297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13491865" y="6235700"/>
            <a:ext cx="3748385" cy="85725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13435639" y="63881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1047750" y="71628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1047750" y="73279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기반 정서 분석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4496098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4451119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7494687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7449708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10493276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10448297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13491865" y="7112000"/>
            <a:ext cx="3748385" cy="85725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13435639" y="7264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1047750" y="88011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1047750" y="80391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1047750" y="82042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자동 분류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4496098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4496098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4451119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7494687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7494687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7449708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△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10493276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10493276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10448297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3491865" y="8001000"/>
            <a:ext cx="3748385" cy="857250"/>
          </a:xfrm>
          <a:custGeom>
            <a:rect b="b" l="l" r="r" t="t"/>
            <a:pathLst>
              <a:path extrusionOk="0" h="857250" w="3748385">
                <a:moveTo>
                  <a:pt x="0" y="0"/>
                </a:moveTo>
                <a:lnTo>
                  <a:pt x="3748385" y="0"/>
                </a:lnTo>
                <a:lnTo>
                  <a:pt x="3748385" y="704850"/>
                </a:lnTo>
                <a:cubicBezTo>
                  <a:pt x="3748385" y="789018"/>
                  <a:pt x="3680153" y="857250"/>
                  <a:pt x="3595985" y="857250"/>
                </a:cubicBezTo>
                <a:lnTo>
                  <a:pt x="152400" y="857250"/>
                </a:lnTo>
                <a:cubicBezTo>
                  <a:pt x="68232" y="857250"/>
                  <a:pt x="0" y="789018"/>
                  <a:pt x="0" y="704850"/>
                </a:cubicBezTo>
                <a:lnTo>
                  <a:pt x="0" y="0"/>
                </a:ln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13435639" y="8153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2916882" y="9067800"/>
            <a:ext cx="12454086" cy="885825"/>
          </a:xfrm>
          <a:prstGeom prst="roundRect">
            <a:avLst>
              <a:gd fmla="val 23656" name="adj"/>
            </a:avLst>
          </a:prstGeom>
          <a:solidFill>
            <a:srgbClr val="FDF6E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3355032" y="9271000"/>
            <a:ext cx="11951409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생체 데이터 수집, AI 정서 분석, 자동 위험 분류를 단일 서비스로 통합한 유일한 솔루션.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시장 성장성과 경쟁 포지셔닝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"/>
          <p:cNvSpPr/>
          <p:nvPr/>
        </p:nvSpPr>
        <p:spPr>
          <a:xfrm>
            <a:off x="1047750" y="1652588"/>
            <a:ext cx="8412956" cy="6981825"/>
          </a:xfrm>
          <a:prstGeom prst="roundRect">
            <a:avLst>
              <a:gd fmla="val 4638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1428750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5244703" y="2185988"/>
            <a:ext cx="9525" cy="296227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1594187" y="2547938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1705076" y="3405188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수집-분석-대응 통합 파이프라인으로 경쟁 부재 시장 선점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5254228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5419189" y="2547938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5530411" y="3405188"/>
            <a:ext cx="327311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기기 내 마스킹과 암호화 설계로 규제 강화 및 감시 우려 선제 대응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5244703" y="5148263"/>
            <a:ext cx="9525" cy="29527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1594187" y="5510213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WO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1705076" y="6367463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정부 R&amp;D 지원사업 활용으로 데이터셋 및 인프라 확보 비용 절감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5419189" y="5510213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A39C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5FA39C"/>
                </a:solidFill>
                <a:latin typeface="Noto Sans"/>
                <a:ea typeface="Noto Sans"/>
                <a:cs typeface="Noto Sans"/>
                <a:sym typeface="Noto Sans"/>
              </a:rPr>
              <a:t>WT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5530411" y="6367463"/>
            <a:ext cx="327311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IRB 승인 지연 대비, 초기 검증 가능한 소규모 데이터로 MVP 범위 집중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12178903" y="1979265"/>
            <a:ext cx="3200400" cy="3200400"/>
          </a:xfrm>
          <a:prstGeom prst="ellipse">
            <a:avLst/>
          </a:prstGeom>
          <a:noFill/>
          <a:ln cap="flat" cmpd="sng" w="28575">
            <a:solidFill>
              <a:srgbClr val="CFE7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12607528" y="2407890"/>
            <a:ext cx="2343150" cy="2343150"/>
          </a:xfrm>
          <a:prstGeom prst="ellipse">
            <a:avLst/>
          </a:prstGeom>
          <a:noFill/>
          <a:ln cap="flat" cmpd="sng" w="28575">
            <a:solidFill>
              <a:srgbClr val="B8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13036153" y="2836515"/>
            <a:ext cx="1485900" cy="1485900"/>
          </a:xfrm>
          <a:prstGeom prst="ellipse">
            <a:avLst/>
          </a:prstGeom>
          <a:noFill/>
          <a:ln cap="flat" cmpd="sng" w="28575">
            <a:solidFill>
              <a:srgbClr val="9ED6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11969353" y="3560415"/>
            <a:ext cx="3619500" cy="381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13760053" y="1769715"/>
            <a:ext cx="38100" cy="36195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3512403" y="3312765"/>
            <a:ext cx="533400" cy="533400"/>
          </a:xfrm>
          <a:prstGeom prst="ellipse">
            <a:avLst/>
          </a:prstGeom>
          <a:solidFill>
            <a:srgbClr val="4FD0BD"/>
          </a:solidFill>
          <a:ln>
            <a:noFill/>
          </a:ln>
          <a:effectLst>
            <a:outerShdw blurRad="381000" rotWithShape="0" algn="bl" dir="16200000" dist="50800">
              <a:srgbClr val="4FD0BD">
                <a:alpha val="5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0317956" y="5817840"/>
            <a:ext cx="174728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825"/>
              <a:buFont typeface="Noto Sans"/>
              <a:buNone/>
            </a:pPr>
            <a:r>
              <a:rPr b="1" i="0" lang="en-US" sz="3825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Target</a:t>
            </a:r>
            <a:endParaRPr b="0" i="0" sz="3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0317956" y="6684615"/>
            <a:ext cx="7129963" cy="16324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2856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0" i="0" lang="en-US" sz="27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스마트워치를 사용하는 1인가구. 고립감은 있으나 직접적인 감정 기록과 상담에는 부담을 느끼는 니치 마켓.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952500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1129702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계층 (Client)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1438275" y="3162300"/>
            <a:ext cx="1028700" cy="1181100"/>
          </a:xfrm>
          <a:prstGeom prst="roundRect">
            <a:avLst>
              <a:gd fmla="val 24074" name="adj"/>
            </a:avLst>
          </a:prstGeom>
          <a:solidFill>
            <a:srgbClr val="DFE7EC"/>
          </a:solidFill>
          <a:ln cap="flat" cmpd="sng" w="57150">
            <a:solidFill>
              <a:srgbClr val="C3D0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1381125" y="4552950"/>
            <a:ext cx="1143000" cy="800100"/>
          </a:xfrm>
          <a:prstGeom prst="roundRect">
            <a:avLst>
              <a:gd fmla="val 16667" name="adj"/>
            </a:avLst>
          </a:prstGeom>
          <a:solidFill>
            <a:srgbClr val="E7EDF1"/>
          </a:solidFill>
          <a:ln cap="flat" cmpd="sng" w="47625">
            <a:solidFill>
              <a:srgbClr val="CFD9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1466850" y="5562600"/>
            <a:ext cx="971550" cy="1524000"/>
          </a:xfrm>
          <a:prstGeom prst="roundRect">
            <a:avLst>
              <a:gd fmla="val 17647" name="adj"/>
            </a:avLst>
          </a:prstGeom>
          <a:solidFill>
            <a:srgbClr val="E2ECEF"/>
          </a:solidFill>
          <a:ln cap="flat" cmpd="sng" w="47625">
            <a:solidFill>
              <a:srgbClr val="C9D8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2876550" y="3980259"/>
            <a:ext cx="2609106" cy="2326332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33472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스마트워치(Health Connect), 체성분계, 앱 클라이언트(Flutter)</a:t>
            </a:r>
            <a:r>
              <a:rPr lang="ko-KR" alt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· 관리자 웹</a:t>
            </a:r>
            <a:r>
              <a:rPr lang="en-US" altLang="ko-KR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</a:t>
            </a:r>
            <a:r>
              <a:rPr 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React</a:t>
            </a:r>
            <a:r>
              <a:rPr lang="en-US" altLang="ko-KR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lang="en-US" sz="2325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5752356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6361956" y="1593056"/>
            <a:ext cx="5563939" cy="4281488"/>
          </a:xfrm>
          <a:prstGeom prst="roundRect">
            <a:avLst>
              <a:gd fmla="val 578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6670927" y="1974056"/>
            <a:ext cx="4945998" cy="1019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메인 백엔드 (Business Server)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6742956" y="35480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6742956" y="39862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6742956" y="44243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6742956" y="48625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8457456" y="3278981"/>
            <a:ext cx="3180063" cy="2252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FastAPI/Node.js. 15분 주기 배치 스케줄러 (UPSERT 적재). 인증 세션 (JWT+ AES-256 저장 암호화).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6361956" y="6160294"/>
            <a:ext cx="5563939" cy="2533650"/>
          </a:xfrm>
          <a:prstGeom prst="roundRect">
            <a:avLst>
              <a:gd fmla="val 977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6895356" y="690324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6895356" y="7274719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6895356" y="764619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8457456" y="6541294"/>
            <a:ext cx="3180063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단일 DB: PostgreSQL (USERS, LIFELOG_METRICS, CHAT_SESSIONS 등).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11887795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12497395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12674598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추론 서버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137256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14563874" y="3162300"/>
            <a:ext cx="704850" cy="1981200"/>
          </a:xfrm>
          <a:prstGeom prst="roundRect">
            <a:avLst>
              <a:gd fmla="val 13514" name="adj"/>
            </a:avLst>
          </a:prstGeom>
          <a:solidFill>
            <a:srgbClr val="CFE6E2"/>
          </a:solidFill>
          <a:ln cap="flat" cmpd="sng" w="38100">
            <a:solidFill>
              <a:srgbClr val="9DC9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154020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12976503" y="5562600"/>
            <a:ext cx="4054048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(이상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(감정·위험도 분류)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OpenAI LLM (페르소나 대화, 위기 문맥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"/>
          <p:cNvSpPr/>
          <p:nvPr/>
        </p:nvSpPr>
        <p:spPr>
          <a:xfrm>
            <a:off x="857250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3367683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3786783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6297364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6716464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9226897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9645997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12156579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12575679" y="2500313"/>
            <a:ext cx="2510582" cy="209550"/>
          </a:xfrm>
          <a:prstGeom prst="rect">
            <a:avLst/>
          </a:prstGeom>
          <a:gradFill>
            <a:gsLst>
              <a:gs pos="0">
                <a:srgbClr val="3E9089"/>
              </a:gs>
              <a:gs pos="100000">
                <a:srgbClr val="E4574C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15086261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15505361" y="2500313"/>
            <a:ext cx="1506289" cy="2095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17011650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7067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01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8121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걸음 수, 수면, 심박 등 7개 지표 및 체성분 15분 주기 수집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40976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02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4203001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이상치 제거, 최근 2주의 패턴에 맞춰 보정한 뒤 7일 단위로 묶기 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74885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03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탐지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75939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재구성 오차로 anomaly_score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108794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04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분류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10984802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활용, anomaly_score와 대화 결합해 9종 감정 및 risk_score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142703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05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액션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143757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CHAT / CONTENT / EMERGENCY 자동 트리거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857250" y="6729413"/>
            <a:ext cx="16573500" cy="1285875"/>
          </a:xfrm>
          <a:prstGeom prst="roundRect">
            <a:avLst>
              <a:gd fmla="val 14815" name="adj"/>
            </a:avLst>
          </a:prstGeom>
          <a:noFill/>
          <a:ln cap="flat" cmpd="sng" w="19050">
            <a:solidFill>
              <a:srgbClr val="D7E0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8184431" y="6538913"/>
            <a:ext cx="1919139" cy="438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8393981" y="6538913"/>
            <a:ext cx="1691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Metric Box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1736973" y="7110413"/>
            <a:ext cx="27169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주기 [15분]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626025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139184" y="7110413"/>
            <a:ext cx="382690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전처리~산출 [5초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9037290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9550450" y="7110413"/>
            <a:ext cx="367072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추론 [1.5초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13306574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13819733" y="7110413"/>
            <a:ext cx="3004259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긴급 UI [3초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처리 파이프라인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9"/>
          <p:cNvSpPr txBox="1"/>
          <p:nvPr/>
        </p:nvSpPr>
        <p:spPr>
          <a:xfrm>
            <a:off x="9519000" y="6819900"/>
            <a:ext cx="774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대화 위기탐지 모듈 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4F9FA"/>
              </a:gs>
              <a:gs pos="100000">
                <a:srgbClr val="FFFF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/>
          <p:nvPr/>
        </p:nvSpPr>
        <p:spPr>
          <a:xfrm>
            <a:off x="1047750" y="1524000"/>
            <a:ext cx="1781175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5400"/>
              <a:buFont typeface="Noto Sans"/>
              <a:buNone/>
            </a:pPr>
            <a:r>
              <a:rPr b="1" i="0" lang="en-US" sz="54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Tech Specs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1047750" y="2755900"/>
            <a:ext cx="5016401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1190388" y="3213100"/>
            <a:ext cx="4873763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감지 및 정서 위험도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1485900" y="4083050"/>
            <a:ext cx="4140101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1485905" y="4432300"/>
            <a:ext cx="4264304" cy="1010871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ct val="25000"/>
              <a:buFont typeface="Noto Sans"/>
              <a:buNone/>
              <a:defRPr/>
            </a:pPr>
            <a:r>
              <a:rPr lang="en-US" sz="2400" b="1" i="0" u="none" strike="noStrike" cap="non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+ LightGBM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1485900" y="5588489"/>
            <a:ext cx="4264304" cy="2691911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ct val="25000"/>
              <a:buFont typeface="Noto Sans"/>
              <a:buNone/>
              <a:defRPr/>
            </a:pPr>
            <a:r>
              <a:rPr lang="en-US" sz="2400" b="1" i="0" u="none" strike="noStrike" cap="non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lang="en-US" sz="2400" b="1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PMData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비지도 이상탐지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+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altLang="ko-KR" sz="2400" b="1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GLOBEM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(BDI-II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라벨 지도학습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),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소수 클래스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SMOTE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보정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Group K-Fold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검증</a:t>
            </a:r>
            <a:endParaRPr lang="ko-KR" altLang="en-US" sz="2400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1485900" y="8661400"/>
            <a:ext cx="4140101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1652398" y="8826500"/>
            <a:ext cx="38071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[Accuracy 85%↑ | F1-Score 0.80↑]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6635651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686678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실시간 위기 문맥 탐지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7073801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7073801" y="4381500"/>
            <a:ext cx="4264457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키워드 필터링 + OpenAI 프롬프트 기반 문맥 분석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7073800" y="5575300"/>
            <a:ext cx="42645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키워드 사전 구축(1차), GPT 프롬프트로 문맥·심각도 판단(2차), PII [MASK] 처리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7073801" y="8661400"/>
            <a:ext cx="4140250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7240297" y="8826500"/>
            <a:ext cx="3807257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프롬프트 검증 기준 목표</a:t>
            </a:r>
            <a:endParaRPr b="1" i="0" sz="2250" u="none" cap="none" strike="noStrike">
              <a:solidFill>
                <a:srgbClr val="FFFFFF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재현율 90%↑ 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12223700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1245483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힐링 콘텐츠 추천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12661850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12661850" y="4381500"/>
            <a:ext cx="4264457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Matrix Factorization + Content-based Filtering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12661850" y="5994400"/>
            <a:ext cx="4264457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클릭/재생/완독 기준 암묵적 점수화, 오프라인 배치 학습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12661850" y="8496300"/>
            <a:ext cx="4140250" cy="1181100"/>
          </a:xfrm>
          <a:prstGeom prst="roundRect">
            <a:avLst>
              <a:gd fmla="val 9677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12828347" y="8648700"/>
            <a:ext cx="3807257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[정서 개선율 20%↑ | 지연 0.5초↓]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모델 설계 (Tech Specs)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1"/>
          <p:cNvSpPr/>
          <p:nvPr/>
        </p:nvSpPr>
        <p:spPr>
          <a:xfrm>
            <a:off x="1238250" y="15240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DCD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704850" y="2159000"/>
            <a:ext cx="1428750" cy="1428750"/>
          </a:xfrm>
          <a:prstGeom prst="ellipse">
            <a:avLst/>
          </a:prstGeom>
          <a:solidFill>
            <a:srgbClr val="F04438"/>
          </a:solidFill>
          <a:ln>
            <a:noFill/>
          </a:ln>
          <a:effectLst>
            <a:outerShdw blurRad="400050" rotWithShape="0" algn="bl" dir="16200000" dist="50800">
              <a:srgbClr val="F0443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1"/>
          <p:cNvSpPr/>
          <p:nvPr/>
        </p:nvSpPr>
        <p:spPr>
          <a:xfrm>
            <a:off x="1171575" y="25781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2667000" y="2133600"/>
            <a:ext cx="419100" cy="419100"/>
          </a:xfrm>
          <a:prstGeom prst="ellipse">
            <a:avLst/>
          </a:prstGeom>
          <a:solidFill>
            <a:srgbClr val="F0443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1"/>
          <p:cNvSpPr/>
          <p:nvPr/>
        </p:nvSpPr>
        <p:spPr>
          <a:xfrm>
            <a:off x="3276600" y="2095500"/>
            <a:ext cx="42402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(심각)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2667000" y="28194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DESPAIR, CRISIS  / ANGER (score ≥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1"/>
          <p:cNvSpPr/>
          <p:nvPr/>
        </p:nvSpPr>
        <p:spPr>
          <a:xfrm>
            <a:off x="11506200" y="19050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11830050" y="21844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[EMERGENCY]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1"/>
          <p:cNvSpPr/>
          <p:nvPr/>
        </p:nvSpPr>
        <p:spPr>
          <a:xfrm>
            <a:off x="11830050" y="26289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즉시 위기 개입 알림 및 상담사 연결 안내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1238250" y="44831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EEC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704850" y="5118100"/>
            <a:ext cx="1428750" cy="1428750"/>
          </a:xfrm>
          <a:prstGeom prst="ellipse">
            <a:avLst/>
          </a:prstGeom>
          <a:solidFill>
            <a:srgbClr val="F5C118"/>
          </a:solidFill>
          <a:ln>
            <a:noFill/>
          </a:ln>
          <a:effectLst>
            <a:outerShdw blurRad="400050" rotWithShape="0" algn="bl" dir="16200000" dist="50800">
              <a:srgbClr val="F5C11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1171575" y="55499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1"/>
          <p:cNvSpPr/>
          <p:nvPr/>
        </p:nvSpPr>
        <p:spPr>
          <a:xfrm>
            <a:off x="2667000" y="5092700"/>
            <a:ext cx="419100" cy="419100"/>
          </a:xfrm>
          <a:prstGeom prst="ellipse">
            <a:avLst/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76600" y="5054600"/>
            <a:ext cx="4001866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CAUTION (주의)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/>
          <p:nvPr/>
        </p:nvSpPr>
        <p:spPr>
          <a:xfrm>
            <a:off x="2667000" y="57785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SADNESS, ANXIETY, LONELINESS / ANGER (score &lt;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1506200" y="48641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/>
          <p:nvPr/>
        </p:nvSpPr>
        <p:spPr>
          <a:xfrm>
            <a:off x="11830050" y="51435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[CONTENT]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11830050" y="55880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맞춤형 힐링 콘텐츠 제공 및 정서 상태 재확인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/>
          <p:nvPr/>
        </p:nvSpPr>
        <p:spPr>
          <a:xfrm>
            <a:off x="1238250" y="74422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CFE7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704850" y="8077200"/>
            <a:ext cx="1428750" cy="1428750"/>
          </a:xfrm>
          <a:prstGeom prst="ellipse">
            <a:avLst/>
          </a:prstGeom>
          <a:solidFill>
            <a:srgbClr val="22A06B"/>
          </a:solidFill>
          <a:ln>
            <a:noFill/>
          </a:ln>
          <a:effectLst>
            <a:outerShdw blurRad="400050" rotWithShape="0" algn="bl" dir="16200000" dist="50800">
              <a:srgbClr val="22A06B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/>
          <p:nvPr/>
        </p:nvSpPr>
        <p:spPr>
          <a:xfrm>
            <a:off x="1171575" y="85090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2667000" y="8267700"/>
            <a:ext cx="419100" cy="419100"/>
          </a:xfrm>
          <a:prstGeom prst="ellipse">
            <a:avLst/>
          </a:prstGeom>
          <a:solidFill>
            <a:srgbClr val="22A0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1"/>
          <p:cNvSpPr/>
          <p:nvPr/>
        </p:nvSpPr>
        <p:spPr>
          <a:xfrm>
            <a:off x="3276600" y="8229600"/>
            <a:ext cx="385961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NORMAL (안정)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2667000" y="8953500"/>
            <a:ext cx="9262110" cy="4938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HAPPINESS, JOY, DELIGHT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/>
          <p:nvPr/>
        </p:nvSpPr>
        <p:spPr>
          <a:xfrm>
            <a:off x="11506200" y="78359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11830050" y="81153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[CHAT]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/>
          <p:nvPr/>
        </p:nvSpPr>
        <p:spPr>
          <a:xfrm>
            <a:off x="11830050" y="85598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일상 공감 대화 유지 및 라이프로그 상시 모니터링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1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"/>
          <p:cNvSpPr/>
          <p:nvPr/>
        </p:nvSpPr>
        <p:spPr>
          <a:xfrm>
            <a:off x="3184769" y="1858962"/>
            <a:ext cx="4978301" cy="7162800"/>
          </a:xfrm>
          <a:prstGeom prst="roundRect">
            <a:avLst>
              <a:gd name="adj" fmla="val 8419"/>
            </a:avLst>
          </a:prstGeom>
          <a:noFill/>
          <a:ln w="47625" cap="flat" cmpd="sng">
            <a:solidFill>
              <a:srgbClr val="8ec3c4"/>
            </a:solidFill>
            <a:prstDash val="solid"/>
            <a:round/>
            <a:headEnd w="sm" len="sm"/>
            <a:tailEnd w="sm" len="sm"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2"/>
          <p:cNvSpPr/>
          <p:nvPr/>
        </p:nvSpPr>
        <p:spPr>
          <a:xfrm>
            <a:off x="5226244" y="1414462"/>
            <a:ext cx="914400" cy="914400"/>
          </a:xfrm>
          <a:prstGeom prst="roundRect">
            <a:avLst>
              <a:gd name="adj" fmla="val 18750"/>
            </a:avLst>
          </a:prstGeom>
          <a:solidFill>
            <a:srgbClr val="9ed3d0"/>
          </a:solidFill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/>
          <p:nvPr/>
        </p:nvSpPr>
        <p:spPr>
          <a:xfrm>
            <a:off x="5550094" y="1706562"/>
            <a:ext cx="247650" cy="32385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2"/>
          <p:cNvSpPr/>
          <p:nvPr/>
        </p:nvSpPr>
        <p:spPr>
          <a:xfrm>
            <a:off x="3651494" y="2570162"/>
            <a:ext cx="4044851" cy="1421011"/>
          </a:xfrm>
          <a:prstGeom prst="roundRect">
            <a:avLst>
              <a:gd name="adj" fmla="val 50000"/>
            </a:avLst>
          </a:prstGeom>
          <a:solidFill>
            <a:srgbClr val="dcecec"/>
          </a:solidFill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2"/>
          <p:cNvSpPr/>
          <p:nvPr/>
        </p:nvSpPr>
        <p:spPr>
          <a:xfrm>
            <a:off x="3793631" y="2952089"/>
            <a:ext cx="3785100" cy="849046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ctr" rtl="0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altLang="ko-KR" sz="2700" b="1" i="0" u="none" strike="noStrike" cap="non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PMData</a:t>
            </a:r>
            <a:endParaRPr lang="en-US" altLang="ko-KR" sz="2700" b="1" i="0" u="none" strike="noStrike" cap="non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rtl="0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altLang="ko-KR" sz="2700" b="1" i="0" u="none" strike="noStrike" cap="non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(SimulaMet)</a:t>
            </a:r>
            <a:endParaRPr lang="en-US" altLang="ko-KR" sz="2700" b="1" i="0" u="none" strike="noStrike" cap="non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2" name="Google Shape;412;p12"/>
          <p:cNvSpPr/>
          <p:nvPr/>
        </p:nvSpPr>
        <p:spPr>
          <a:xfrm>
            <a:off x="3651494" y="4424362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ct val="25000"/>
              <a:buFont typeface="Noto Sans"/>
              <a:buNone/>
              <a:defRPr/>
            </a:pPr>
            <a:r>
              <a:rPr lang="en-US" sz="2400" b="1" i="0" u="none" strike="noStrike" cap="non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Fitbit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기반 일상 라이프로그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-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수면 단계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분 단위 심박수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걸음 수</a:t>
            </a:r>
            <a:endParaRPr lang="ko-KR" altLang="en-US" sz="2400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3651494" y="6138862"/>
            <a:ext cx="4166196" cy="2464044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ct val="25000"/>
              <a:buFont typeface="Noto Sans"/>
              <a:buNone/>
              <a:defRPr/>
            </a:pPr>
            <a:r>
              <a:rPr lang="en-US" sz="2400" b="1" i="0" u="none" strike="noStrike" cap="non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라벨 없는 정상 패턴 시계열로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 Autoencoder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비지도 학습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재구성 오차 기반 이상 탐지</a:t>
            </a:r>
            <a:endParaRPr lang="ko-KR" altLang="en-US" sz="2400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8" name="Google Shape;428;p1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2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en-US" sz="3000" b="1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학습 데이터셋 확보 계획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07;p12"/>
          <p:cNvSpPr/>
          <p:nvPr/>
        </p:nvSpPr>
        <p:spPr>
          <a:xfrm>
            <a:off x="9632461" y="1858962"/>
            <a:ext cx="4978301" cy="7162800"/>
          </a:xfrm>
          <a:prstGeom prst="roundRect">
            <a:avLst>
              <a:gd name="adj" fmla="val 8419"/>
            </a:avLst>
          </a:prstGeom>
          <a:noFill/>
          <a:ln w="47625" cap="flat" cmpd="sng">
            <a:solidFill>
              <a:srgbClr val="8ec3c4"/>
            </a:solidFill>
            <a:prstDash val="solid"/>
            <a:round/>
            <a:headEnd w="sm" len="sm"/>
            <a:tailEnd w="sm" len="sm"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08;p12"/>
          <p:cNvSpPr/>
          <p:nvPr/>
        </p:nvSpPr>
        <p:spPr>
          <a:xfrm>
            <a:off x="11667097" y="1424781"/>
            <a:ext cx="914400" cy="914400"/>
          </a:xfrm>
          <a:prstGeom prst="roundRect">
            <a:avLst>
              <a:gd name="adj" fmla="val 18750"/>
            </a:avLst>
          </a:prstGeom>
          <a:solidFill>
            <a:srgbClr val="9ed3d0"/>
          </a:solidFill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09;p12"/>
          <p:cNvSpPr/>
          <p:nvPr/>
        </p:nvSpPr>
        <p:spPr>
          <a:xfrm>
            <a:off x="11997787" y="1706562"/>
            <a:ext cx="247650" cy="32385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10;p12"/>
          <p:cNvSpPr/>
          <p:nvPr/>
        </p:nvSpPr>
        <p:spPr>
          <a:xfrm>
            <a:off x="10099187" y="2570162"/>
            <a:ext cx="4044851" cy="1421011"/>
          </a:xfrm>
          <a:prstGeom prst="roundRect">
            <a:avLst>
              <a:gd name="adj" fmla="val 50000"/>
            </a:avLst>
          </a:prstGeom>
          <a:solidFill>
            <a:srgbClr val="dcecec"/>
          </a:solidFill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11;p12"/>
          <p:cNvSpPr/>
          <p:nvPr/>
        </p:nvSpPr>
        <p:spPr>
          <a:xfrm>
            <a:off x="10229111" y="2931362"/>
            <a:ext cx="3785100" cy="910103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ctr" rtl="0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altLang="ko-KR" sz="2700" b="1" i="0" u="none" strike="noStrike" cap="non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GLOBEM</a:t>
            </a:r>
            <a:endParaRPr lang="en-US" altLang="ko-KR" sz="2700" b="1" i="0" u="none" strike="noStrike" cap="non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rtl="0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altLang="ko-KR" sz="2700" b="1" i="0" u="none" strike="noStrike" cap="non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(Microsoft Research)</a:t>
            </a:r>
            <a:endParaRPr lang="en-US" altLang="ko-KR" sz="2700" b="1" i="0" u="none" strike="noStrike" cap="non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5" name="Google Shape;412;p12"/>
          <p:cNvSpPr/>
          <p:nvPr/>
        </p:nvSpPr>
        <p:spPr>
          <a:xfrm>
            <a:off x="10099187" y="4424362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ct val="25000"/>
              <a:buFont typeface="Noto Sans"/>
              <a:buNone/>
              <a:defRPr/>
            </a:pPr>
            <a:r>
              <a:rPr lang="en-US" sz="2400" b="1" i="0" u="none" strike="noStrike" cap="non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손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14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일 집계 수면·걸음 피처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+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altLang="ko-KR" sz="2400" b="1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BDI-II </a:t>
            </a:r>
            <a:r>
              <a:rPr lang="ko-KR" altLang="en-US" sz="2400" b="1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우울 척도 점수·우울 라벨</a:t>
            </a:r>
            <a:endParaRPr lang="ko-KR" altLang="en-US" sz="2400" b="1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36" name="Google Shape;413;p12"/>
          <p:cNvSpPr/>
          <p:nvPr/>
        </p:nvSpPr>
        <p:spPr>
          <a:xfrm>
            <a:off x="10099187" y="6138862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ct val="25000"/>
              <a:buFont typeface="Noto Sans"/>
              <a:buNone/>
              <a:defRPr/>
            </a:pPr>
            <a:r>
              <a:rPr lang="en-US" sz="2400" b="1" i="0" u="none" strike="noStrike" cap="non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차 이상 점수와 결합하여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altLang="ko-KR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  <a:r>
              <a:rPr lang="ko-KR" altLang="en-US" sz="2400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차 위험도 분류 지도학습</a:t>
            </a:r>
            <a:endParaRPr lang="ko-KR" altLang="en-US" sz="2400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3"/>
          <p:cNvSpPr/>
          <p:nvPr/>
        </p:nvSpPr>
        <p:spPr>
          <a:xfrm>
            <a:off x="952500" y="1727200"/>
            <a:ext cx="5578822" cy="1742480"/>
          </a:xfrm>
          <a:prstGeom prst="roundRect">
            <a:avLst>
              <a:gd fmla="val 12026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3"/>
          <p:cNvSpPr/>
          <p:nvPr/>
        </p:nvSpPr>
        <p:spPr>
          <a:xfrm>
            <a:off x="851818" y="2057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식별자 표준화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3"/>
          <p:cNvSpPr/>
          <p:nvPr/>
        </p:nvSpPr>
        <p:spPr>
          <a:xfrm>
            <a:off x="851818" y="2717800"/>
            <a:ext cx="5298504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2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(모든 PK는 UUID v4 적용)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3"/>
          <p:cNvSpPr/>
          <p:nvPr/>
        </p:nvSpPr>
        <p:spPr>
          <a:xfrm>
            <a:off x="952500" y="38989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3"/>
          <p:cNvSpPr/>
          <p:nvPr/>
        </p:nvSpPr>
        <p:spPr>
          <a:xfrm>
            <a:off x="851818" y="4216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철저한 마스킹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3"/>
          <p:cNvSpPr/>
          <p:nvPr/>
        </p:nvSpPr>
        <p:spPr>
          <a:xfrm>
            <a:off x="1188995" y="48895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(대화 내 PII 성명, 번호 정규식 탐지 후 [MASK]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3"/>
          <p:cNvSpPr/>
          <p:nvPr/>
        </p:nvSpPr>
        <p:spPr>
          <a:xfrm>
            <a:off x="952500" y="64770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3"/>
          <p:cNvSpPr/>
          <p:nvPr/>
        </p:nvSpPr>
        <p:spPr>
          <a:xfrm>
            <a:off x="851818" y="68072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시계열 최적화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3"/>
          <p:cNvSpPr/>
          <p:nvPr/>
        </p:nvSpPr>
        <p:spPr>
          <a:xfrm>
            <a:off x="1188995" y="74676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(복합 인덱스 및 중복 수집 방지용 UPSERT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3"/>
          <p:cNvSpPr/>
          <p:nvPr/>
        </p:nvSpPr>
        <p:spPr>
          <a:xfrm>
            <a:off x="8238976" y="33655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3"/>
          <p:cNvSpPr/>
          <p:nvPr/>
        </p:nvSpPr>
        <p:spPr>
          <a:xfrm>
            <a:off x="8238976" y="39624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3"/>
          <p:cNvSpPr/>
          <p:nvPr/>
        </p:nvSpPr>
        <p:spPr>
          <a:xfrm>
            <a:off x="8238976" y="45466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3"/>
          <p:cNvSpPr/>
          <p:nvPr/>
        </p:nvSpPr>
        <p:spPr>
          <a:xfrm>
            <a:off x="7667027" y="5308600"/>
            <a:ext cx="2953649" cy="17467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PostgreSQL 단일 DB </a:t>
            </a:r>
            <a:endParaRPr b="1" i="0" sz="345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무결성 관리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3"/>
          <p:cNvSpPr/>
          <p:nvPr/>
        </p:nvSpPr>
        <p:spPr>
          <a:xfrm>
            <a:off x="11756529" y="15240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3"/>
          <p:cNvSpPr/>
          <p:nvPr/>
        </p:nvSpPr>
        <p:spPr>
          <a:xfrm>
            <a:off x="12137529" y="18415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인증 외부화 배제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3"/>
          <p:cNvSpPr/>
          <p:nvPr/>
        </p:nvSpPr>
        <p:spPr>
          <a:xfrm>
            <a:off x="12137529" y="25146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(자체 Bcrypt/Argon2 단방향 해시, 비밀번호 미저장)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3"/>
          <p:cNvSpPr/>
          <p:nvPr/>
        </p:nvSpPr>
        <p:spPr>
          <a:xfrm>
            <a:off x="11756529" y="41021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12137529" y="44323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ct val="25000"/>
              <a:buFont typeface="Noto Sans"/>
              <a:buNone/>
              <a:defRPr/>
            </a:pPr>
            <a:r>
              <a:rPr lang="ko-KR" altLang="en-US" sz="3000" b="1" i="0" u="none" strike="noStrike" cap="non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계층적</a:t>
            </a:r>
            <a:r>
              <a:rPr lang="en-US" sz="3000" b="1" i="0" u="none" strike="noStrike" cap="non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 암호화</a:t>
            </a:r>
            <a:endParaRPr lang="en-US" sz="3000" b="1" i="0" u="none" strike="noStrike" cap="none">
              <a:solidFill>
                <a:srgbClr val="2f6e88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12137529" y="50927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l" rtl="0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ct val="25000"/>
              <a:buFont typeface="Noto Sans"/>
              <a:buNone/>
              <a:defRPr/>
            </a:pPr>
            <a:r>
              <a:rPr 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</a:t>
            </a:r>
            <a:r>
              <a:rPr lang="ko-KR" alt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전송 </a:t>
            </a:r>
            <a:r>
              <a:rPr lang="en-US" altLang="ko-KR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HTTPS/TLS </a:t>
            </a:r>
            <a:r>
              <a:rPr lang="ko-KR" alt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· 매체 암호화 · 민감 컬럼</a:t>
            </a:r>
            <a:r>
              <a:rPr lang="en-US" altLang="ko-KR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 AES-256</a:t>
            </a:r>
            <a:r>
              <a:rPr lang="en-US" sz="2325" b="0" i="0" u="none" strike="noStrike" cap="non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lang="en-US" sz="2325" b="0" i="0" u="none" strike="noStrike" cap="non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54" name="Google Shape;454;p13"/>
          <p:cNvSpPr/>
          <p:nvPr/>
        </p:nvSpPr>
        <p:spPr>
          <a:xfrm>
            <a:off x="11756529" y="66929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3"/>
          <p:cNvSpPr/>
          <p:nvPr/>
        </p:nvSpPr>
        <p:spPr>
          <a:xfrm>
            <a:off x="12137529" y="70231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안전 삭제 정책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12137529" y="76835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(사용자 탈퇴 시 연관 테이블 CASCADE 자동 삭제)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4"/>
          <p:cNvSpPr/>
          <p:nvPr/>
        </p:nvSpPr>
        <p:spPr>
          <a:xfrm>
            <a:off x="1047750" y="2222500"/>
            <a:ext cx="8172450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기능 요구사항 (FR)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4"/>
          <p:cNvSpPr/>
          <p:nvPr/>
        </p:nvSpPr>
        <p:spPr>
          <a:xfrm>
            <a:off x="1428750" y="3543300"/>
            <a:ext cx="775335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[자동 수집]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4"/>
          <p:cNvSpPr/>
          <p:nvPr/>
        </p:nvSpPr>
        <p:spPr>
          <a:xfrm>
            <a:off x="1428750" y="4025900"/>
            <a:ext cx="7259955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15분 주기 스케줄러 자동화 (FR-DP-001)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4"/>
          <p:cNvSpPr/>
          <p:nvPr/>
        </p:nvSpPr>
        <p:spPr>
          <a:xfrm>
            <a:off x="1428750" y="5564050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[LLM 안전망]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4"/>
          <p:cNvSpPr/>
          <p:nvPr/>
        </p:nvSpPr>
        <p:spPr>
          <a:xfrm>
            <a:off x="1428750" y="6059350"/>
            <a:ext cx="7260000" cy="9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진단, 자해, 약물 정보 제공 금지 시스템 프롬프트 고정 (FR-AI-002)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4"/>
          <p:cNvSpPr/>
          <p:nvPr/>
        </p:nvSpPr>
        <p:spPr>
          <a:xfrm>
            <a:off x="1428750" y="7883525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[안전 검수]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4"/>
          <p:cNvSpPr/>
          <p:nvPr/>
        </p:nvSpPr>
        <p:spPr>
          <a:xfrm>
            <a:off x="1428750" y="8378825"/>
            <a:ext cx="72600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자극적인 콘텐츠 배제, 사전 검수된 중립적 콘텐츠만 추천 (FR-CS-001)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4"/>
          <p:cNvSpPr/>
          <p:nvPr/>
        </p:nvSpPr>
        <p:spPr>
          <a:xfrm>
            <a:off x="9144000" y="1524000"/>
            <a:ext cx="9144000" cy="8509000"/>
          </a:xfrm>
          <a:prstGeom prst="rect">
            <a:avLst/>
          </a:prstGeom>
          <a:solidFill>
            <a:srgbClr val="EEF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4"/>
          <p:cNvSpPr/>
          <p:nvPr/>
        </p:nvSpPr>
        <p:spPr>
          <a:xfrm>
            <a:off x="9810750" y="2222500"/>
            <a:ext cx="79935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비기능 요구사항 및 한계치 (NFR)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4"/>
          <p:cNvSpPr/>
          <p:nvPr/>
        </p:nvSpPr>
        <p:spPr>
          <a:xfrm>
            <a:off x="9810750" y="3733788"/>
            <a:ext cx="1409700" cy="1409700"/>
          </a:xfrm>
          <a:prstGeom prst="ellipse">
            <a:avLst/>
          </a:prstGeom>
          <a:solidFill>
            <a:srgbClr val="D7ECEA"/>
          </a:solidFill>
          <a:ln cap="flat" cmpd="sng" w="85725">
            <a:solidFill>
              <a:srgbClr val="3E90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4"/>
          <p:cNvSpPr/>
          <p:nvPr/>
        </p:nvSpPr>
        <p:spPr>
          <a:xfrm rot="-1927500">
            <a:off x="10356379" y="4152786"/>
            <a:ext cx="76161" cy="457156"/>
          </a:xfrm>
          <a:prstGeom prst="rect">
            <a:avLst/>
          </a:prstGeom>
          <a:solidFill>
            <a:srgbClr val="2F4E5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4"/>
          <p:cNvSpPr/>
          <p:nvPr/>
        </p:nvSpPr>
        <p:spPr>
          <a:xfrm>
            <a:off x="11601450" y="3543288"/>
            <a:ext cx="62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[응답 지연]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4"/>
          <p:cNvSpPr/>
          <p:nvPr/>
        </p:nvSpPr>
        <p:spPr>
          <a:xfrm>
            <a:off x="11601450" y="3987788"/>
            <a:ext cx="58080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암복호화 지연 200ms 이내 / 전체 대화 응답 3초 이내 (NFR-DE-002, DV-001)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9710325" y="5911588"/>
            <a:ext cx="1581300" cy="781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76200">
            <a:solidFill>
              <a:srgbClr val="2F4E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988185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4"/>
          <p:cNvSpPr/>
          <p:nvPr/>
        </p:nvSpPr>
        <p:spPr>
          <a:xfrm>
            <a:off x="10310475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4"/>
          <p:cNvSpPr/>
          <p:nvPr/>
        </p:nvSpPr>
        <p:spPr>
          <a:xfrm>
            <a:off x="1073910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11586750" y="5473363"/>
            <a:ext cx="60141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[장애 대응]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4"/>
          <p:cNvSpPr/>
          <p:nvPr/>
        </p:nvSpPr>
        <p:spPr>
          <a:xfrm>
            <a:off x="11586750" y="5911588"/>
            <a:ext cx="56313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외부 API 장애 시 30초 간격 3회 재시도 후 자체 대체 응답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(NFR-DV-002, NFR-DV-003)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4"/>
          <p:cNvSpPr/>
          <p:nvPr/>
        </p:nvSpPr>
        <p:spPr>
          <a:xfrm>
            <a:off x="10063784" y="8151475"/>
            <a:ext cx="1143000" cy="990600"/>
          </a:xfrm>
          <a:custGeom>
            <a:rect b="b" l="l" r="r" t="t"/>
            <a:pathLst>
              <a:path extrusionOk="0" h="990600" w="1143000">
                <a:moveTo>
                  <a:pt x="495300" y="0"/>
                </a:moveTo>
                <a:lnTo>
                  <a:pt x="647700" y="0"/>
                </a:lnTo>
                <a:cubicBezTo>
                  <a:pt x="779062" y="0"/>
                  <a:pt x="905043" y="52183"/>
                  <a:pt x="997930" y="145070"/>
                </a:cubicBezTo>
                <a:cubicBezTo>
                  <a:pt x="1090817" y="237957"/>
                  <a:pt x="1143000" y="363938"/>
                  <a:pt x="1143000" y="495300"/>
                </a:cubicBezTo>
                <a:lnTo>
                  <a:pt x="1143000" y="876300"/>
                </a:lnTo>
                <a:cubicBezTo>
                  <a:pt x="1143000" y="939426"/>
                  <a:pt x="1091826" y="990600"/>
                  <a:pt x="1028700" y="990600"/>
                </a:cubicBezTo>
                <a:lnTo>
                  <a:pt x="114300" y="990600"/>
                </a:lnTo>
                <a:cubicBezTo>
                  <a:pt x="51174" y="990600"/>
                  <a:pt x="0" y="939426"/>
                  <a:pt x="0" y="876300"/>
                </a:cubicBezTo>
                <a:lnTo>
                  <a:pt x="0" y="495300"/>
                </a:lnTo>
                <a:cubicBezTo>
                  <a:pt x="0" y="221753"/>
                  <a:pt x="221753" y="0"/>
                  <a:pt x="495300" y="0"/>
                </a:cubicBezTo>
                <a:close/>
              </a:path>
            </a:pathLst>
          </a:custGeom>
          <a:solidFill>
            <a:srgbClr val="EF8579"/>
          </a:solidFill>
          <a:ln cap="flat" cmpd="sng" w="76200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4"/>
          <p:cNvSpPr/>
          <p:nvPr/>
        </p:nvSpPr>
        <p:spPr>
          <a:xfrm>
            <a:off x="10101884" y="8214975"/>
            <a:ext cx="10668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4"/>
          <p:cNvSpPr/>
          <p:nvPr/>
        </p:nvSpPr>
        <p:spPr>
          <a:xfrm>
            <a:off x="11635400" y="7835400"/>
            <a:ext cx="6391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[긴급 UI]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4"/>
          <p:cNvSpPr/>
          <p:nvPr/>
        </p:nvSpPr>
        <p:spPr>
          <a:xfrm>
            <a:off x="11650100" y="8340300"/>
            <a:ext cx="59847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판정 시 3초 이내 직통 연결 UI 렌더링 (NFR-TS-001)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5"/>
          <p:cNvSpPr/>
          <p:nvPr/>
        </p:nvSpPr>
        <p:spPr>
          <a:xfrm>
            <a:off x="9128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1주차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36115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2주차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631020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3주차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5"/>
          <p:cNvSpPr/>
          <p:nvPr/>
        </p:nvSpPr>
        <p:spPr>
          <a:xfrm>
            <a:off x="90090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4주차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5"/>
          <p:cNvSpPr/>
          <p:nvPr/>
        </p:nvSpPr>
        <p:spPr>
          <a:xfrm>
            <a:off x="117077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5주차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1440645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6주차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1047750" y="2260600"/>
            <a:ext cx="16192500" cy="19050"/>
          </a:xfrm>
          <a:prstGeom prst="rect">
            <a:avLst/>
          </a:prstGeom>
          <a:solidFill>
            <a:srgbClr val="D7E0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5"/>
          <p:cNvSpPr/>
          <p:nvPr/>
        </p:nvSpPr>
        <p:spPr>
          <a:xfrm>
            <a:off x="16983075" y="2273300"/>
            <a:ext cx="47625" cy="6908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5"/>
          <p:cNvSpPr/>
          <p:nvPr/>
        </p:nvSpPr>
        <p:spPr>
          <a:xfrm>
            <a:off x="1047750" y="2679700"/>
            <a:ext cx="4722763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1333500" y="2882900"/>
            <a:ext cx="429294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기획안 작성 및 약식 UI/UX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3746450" y="37465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5"/>
          <p:cNvSpPr/>
          <p:nvPr/>
        </p:nvSpPr>
        <p:spPr>
          <a:xfrm>
            <a:off x="3951237" y="39497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정식 UI/UX 설계 및 DB 구조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5"/>
          <p:cNvSpPr/>
          <p:nvPr/>
        </p:nvSpPr>
        <p:spPr>
          <a:xfrm>
            <a:off x="6445151" y="48133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6609457" y="50165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UI/UX 디자인 및 백엔드 개발 시작, AI 모델링(LSTM) 착수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6445151" y="5880100"/>
            <a:ext cx="8771037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6599335" y="6083300"/>
            <a:ext cx="846266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백엔드 고도화, AI 모델링(LightGBM), 프론트엔드 개발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9144000" y="69342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5"/>
          <p:cNvSpPr/>
          <p:nvPr/>
        </p:nvSpPr>
        <p:spPr>
          <a:xfrm>
            <a:off x="9308306" y="71374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프론트엔드/백엔드 통합 및 전체 시스템 통합 테스트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5"/>
          <p:cNvSpPr/>
          <p:nvPr/>
        </p:nvSpPr>
        <p:spPr>
          <a:xfrm>
            <a:off x="11842700" y="80010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5"/>
          <p:cNvSpPr/>
          <p:nvPr/>
        </p:nvSpPr>
        <p:spPr>
          <a:xfrm>
            <a:off x="12047487" y="82042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최종 테스트 및 발표 준비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5"/>
          <p:cNvSpPr/>
          <p:nvPr/>
        </p:nvSpPr>
        <p:spPr>
          <a:xfrm>
            <a:off x="9599231" y="9474847"/>
            <a:ext cx="69819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13716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C0392B"/>
                </a:solidFill>
                <a:latin typeface="Noto Sans"/>
                <a:ea typeface="Noto Sans"/>
                <a:cs typeface="Noto Sans"/>
                <a:sym typeface="Noto Sans"/>
              </a:rPr>
              <a:t>8월 28일 시스템 최종 발표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5"/>
          <p:cNvSpPr/>
          <p:nvPr/>
        </p:nvSpPr>
        <p:spPr>
          <a:xfrm>
            <a:off x="16654388" y="9340850"/>
            <a:ext cx="705000" cy="70500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5"/>
          <p:cNvSpPr/>
          <p:nvPr/>
        </p:nvSpPr>
        <p:spPr>
          <a:xfrm>
            <a:off x="16911563" y="9582150"/>
            <a:ext cx="190500" cy="1905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5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6주 개발 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16"/>
          <p:cNvSpPr/>
          <p:nvPr/>
        </p:nvSpPr>
        <p:spPr>
          <a:xfrm>
            <a:off x="123825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1384302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15분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6"/>
          <p:cNvSpPr/>
          <p:nvPr/>
        </p:nvSpPr>
        <p:spPr>
          <a:xfrm>
            <a:off x="1384302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라이프로그 수집 주기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6"/>
          <p:cNvSpPr/>
          <p:nvPr/>
        </p:nvSpPr>
        <p:spPr>
          <a:xfrm>
            <a:off x="662300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76905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676905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12007751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6"/>
          <p:cNvSpPr/>
          <p:nvPr/>
        </p:nvSpPr>
        <p:spPr>
          <a:xfrm>
            <a:off x="1215380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3초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1215380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긴급 상담 UI 노출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6"/>
          <p:cNvSpPr/>
          <p:nvPr/>
        </p:nvSpPr>
        <p:spPr>
          <a:xfrm>
            <a:off x="123825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1384302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85%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6"/>
          <p:cNvSpPr/>
          <p:nvPr/>
        </p:nvSpPr>
        <p:spPr>
          <a:xfrm>
            <a:off x="1384302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위험도 분류 정확도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62300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6"/>
          <p:cNvSpPr/>
          <p:nvPr/>
        </p:nvSpPr>
        <p:spPr>
          <a:xfrm>
            <a:off x="676905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0.80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676905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 단계 F1-Score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6"/>
          <p:cNvSpPr/>
          <p:nvPr/>
        </p:nvSpPr>
        <p:spPr>
          <a:xfrm>
            <a:off x="12007751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1215380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ct val="25000"/>
              <a:buFont typeface="Noto Sans"/>
              <a:buNone/>
              <a:defRPr/>
            </a:pPr>
            <a:r>
              <a:rPr lang="en-US" sz="6300" b="1" i="0" u="none" strike="noStrike" cap="non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</a:t>
            </a:r>
            <a:r>
              <a:rPr lang="en-US" altLang="ko-KR" sz="6300" b="1" i="0" u="none" strike="noStrike" cap="non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</a:t>
            </a:r>
            <a:endParaRPr lang="en-US" altLang="ko-KR" sz="6300" b="1" i="0" u="none" strike="noStrike" cap="none">
              <a:solidFill>
                <a:srgbClr val="1a6b6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1215380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위기 문맥 F1-Score (재현율 90%)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6"/>
          <p:cNvSpPr/>
          <p:nvPr/>
        </p:nvSpPr>
        <p:spPr>
          <a:xfrm>
            <a:off x="123825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6"/>
          <p:cNvSpPr/>
          <p:nvPr/>
        </p:nvSpPr>
        <p:spPr>
          <a:xfrm>
            <a:off x="1384302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1.5초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6"/>
          <p:cNvSpPr/>
          <p:nvPr/>
        </p:nvSpPr>
        <p:spPr>
          <a:xfrm>
            <a:off x="1384302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단일 대화 위기 추론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6"/>
          <p:cNvSpPr/>
          <p:nvPr/>
        </p:nvSpPr>
        <p:spPr>
          <a:xfrm>
            <a:off x="662300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6"/>
          <p:cNvSpPr/>
          <p:nvPr/>
        </p:nvSpPr>
        <p:spPr>
          <a:xfrm>
            <a:off x="6769053" y="64643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200ms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6"/>
          <p:cNvSpPr/>
          <p:nvPr/>
        </p:nvSpPr>
        <p:spPr>
          <a:xfrm>
            <a:off x="6769053" y="73660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암복호화 허용 지연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6"/>
          <p:cNvSpPr/>
          <p:nvPr/>
        </p:nvSpPr>
        <p:spPr>
          <a:xfrm>
            <a:off x="12007751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6"/>
          <p:cNvSpPr/>
          <p:nvPr/>
        </p:nvSpPr>
        <p:spPr>
          <a:xfrm>
            <a:off x="12153803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3회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6"/>
          <p:cNvSpPr/>
          <p:nvPr/>
        </p:nvSpPr>
        <p:spPr>
          <a:xfrm>
            <a:off x="12153803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수집 실패 재시도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6"/>
          <p:cNvSpPr/>
          <p:nvPr/>
        </p:nvSpPr>
        <p:spPr>
          <a:xfrm>
            <a:off x="1001078" y="8795365"/>
            <a:ext cx="16285845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1인가구의 고립을 막는 기술적 보완책을 넘어,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향후 EAP(근로자 지원 프로그램) 및 지자체 연계 웰니스 플랫폼으로 확장합니다.</a:t>
            </a:r>
            <a:endParaRPr b="0" i="0" sz="3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f96eaffb38_0_0"/>
          <p:cNvSpPr/>
          <p:nvPr/>
        </p:nvSpPr>
        <p:spPr>
          <a:xfrm>
            <a:off x="9144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f96eaffb38_0_0"/>
          <p:cNvSpPr/>
          <p:nvPr/>
        </p:nvSpPr>
        <p:spPr>
          <a:xfrm>
            <a:off x="14192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PM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f96eaffb38_0_0"/>
          <p:cNvSpPr/>
          <p:nvPr/>
        </p:nvSpPr>
        <p:spPr>
          <a:xfrm>
            <a:off x="14192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이응균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f96eaffb38_0_0"/>
          <p:cNvSpPr/>
          <p:nvPr/>
        </p:nvSpPr>
        <p:spPr>
          <a:xfrm>
            <a:off x="14192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일정·산출물 총괄, 기획서 및 DB 명세 작성, 최종 발표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96eaffb38_0_0"/>
          <p:cNvSpPr/>
          <p:nvPr/>
        </p:nvSpPr>
        <p:spPr>
          <a:xfrm>
            <a:off x="13716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팀장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64" name="Google Shape;564;g3f96eaffb38_0_0"/>
          <p:cNvSpPr/>
          <p:nvPr/>
        </p:nvSpPr>
        <p:spPr>
          <a:xfrm>
            <a:off x="50292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g3f96eaffb38_0_0"/>
          <p:cNvSpPr/>
          <p:nvPr/>
        </p:nvSpPr>
        <p:spPr>
          <a:xfrm>
            <a:off x="55340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DATA / AI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g3f96eaffb38_0_0"/>
          <p:cNvSpPr/>
          <p:nvPr/>
        </p:nvSpPr>
        <p:spPr>
          <a:xfrm>
            <a:off x="55340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김건영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f96eaffb38_0_0"/>
          <p:cNvSpPr/>
          <p:nvPr/>
        </p:nvSpPr>
        <p:spPr>
          <a:xfrm>
            <a:off x="55340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LSTM Autoencoder · LightGBM 2단계 모델,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위기 대화 탐지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g3f96eaffb38_0_0"/>
          <p:cNvSpPr/>
          <p:nvPr/>
        </p:nvSpPr>
        <p:spPr>
          <a:xfrm>
            <a:off x="55245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Python · PyTorch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69" name="Google Shape;569;g3f96eaffb38_0_0"/>
          <p:cNvSpPr/>
          <p:nvPr/>
        </p:nvSpPr>
        <p:spPr>
          <a:xfrm>
            <a:off x="9144000" y="1924050"/>
            <a:ext cx="39816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g3f96eaffb38_0_0"/>
          <p:cNvSpPr/>
          <p:nvPr/>
        </p:nvSpPr>
        <p:spPr>
          <a:xfrm>
            <a:off x="96488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BACKEND / DB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g3f96eaffb38_0_0"/>
          <p:cNvSpPr/>
          <p:nvPr/>
        </p:nvSpPr>
        <p:spPr>
          <a:xfrm>
            <a:off x="96488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윤일준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f96eaffb38_0_0"/>
          <p:cNvSpPr/>
          <p:nvPr/>
        </p:nvSpPr>
        <p:spPr>
          <a:xfrm>
            <a:off x="9648825" y="3819525"/>
            <a:ext cx="3198300" cy="23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API 서버, PostgreSQL 설계, Health Connect · Apple Health 연동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g3f96eaffb38_0_0"/>
          <p:cNvSpPr/>
          <p:nvPr/>
        </p:nvSpPr>
        <p:spPr>
          <a:xfrm>
            <a:off x="9655492" y="7008392"/>
            <a:ext cx="3415800" cy="10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FastAPI · </a:t>
            </a:r>
            <a:endParaRPr b="1" i="0" sz="2500" u="none" cap="none" strike="noStrike">
              <a:solidFill>
                <a:srgbClr val="6F8393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PostgreSQL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74" name="Google Shape;574;g3f96eaffb38_0_0"/>
          <p:cNvSpPr/>
          <p:nvPr/>
        </p:nvSpPr>
        <p:spPr>
          <a:xfrm>
            <a:off x="13258801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g3f96eaffb38_0_0"/>
          <p:cNvSpPr/>
          <p:nvPr/>
        </p:nvSpPr>
        <p:spPr>
          <a:xfrm>
            <a:off x="137636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g3f96eaffb38_0_0"/>
          <p:cNvSpPr/>
          <p:nvPr/>
        </p:nvSpPr>
        <p:spPr>
          <a:xfrm>
            <a:off x="137636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함은선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g3f96eaffb38_0_0"/>
          <p:cNvSpPr/>
          <p:nvPr/>
        </p:nvSpPr>
        <p:spPr>
          <a:xfrm>
            <a:off x="13763626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앱 UI/UX 설계·디자인,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감정 추이 대시보드 시각화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g3f96eaffb38_0_0"/>
          <p:cNvSpPr/>
          <p:nvPr/>
        </p:nvSpPr>
        <p:spPr>
          <a:xfrm>
            <a:off x="137160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React · Flutter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79" name="Google Shape;579;g3f96eaffb38_0_0"/>
          <p:cNvSpPr/>
          <p:nvPr/>
        </p:nvSpPr>
        <p:spPr>
          <a:xfrm>
            <a:off x="1054100" y="635000"/>
            <a:ext cx="76200" cy="4827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g3f96eaffb38_0_0"/>
          <p:cNvSpPr txBox="1"/>
          <p:nvPr/>
        </p:nvSpPr>
        <p:spPr>
          <a:xfrm>
            <a:off x="1282700" y="565150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귀기울임 팀원 소개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1" name="Google Shape;581;g3f96eaffb38_0_0"/>
          <p:cNvSpPr txBox="1"/>
          <p:nvPr/>
        </p:nvSpPr>
        <p:spPr>
          <a:xfrm>
            <a:off x="1054100" y="8915254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경청해주셔서 감사합니다.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 [1785141252792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1061</ep:Words>
  <ep:PresentationFormat/>
  <ep:Paragraphs>491</ep:Paragraphs>
  <ep:Slides>17</ep:Slides>
  <ep:Notes>17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ep:HeadingPairs>
  <ep:TitlesOfParts>
    <vt:vector size="19" baseType="lpstr">
      <vt:lpstr>Office Theme [1785141252792]</vt:lpstr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2026-07-27T07:50:52.000</dcterms:created>
  <dc:creator>PptxGenJS</dc:creator>
  <cp:lastModifiedBy>smhrd1</cp:lastModifiedBy>
  <dcterms:modified xsi:type="dcterms:W3CDTF">2026-07-29T06:52:52.052</dcterms:modified>
  <cp:revision>7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