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10287000" cy="18288000"/>
  <p:embeddedFontLst>
    <p:embeddedFont>
      <p:font typeface="Noto Sans KR"/>
      <p:regular r:id="rId24"/>
      <p:bold r:id="rId25"/>
    </p:embeddedFont>
    <p:embeddedFont>
      <p:font typeface="Noto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39">
          <p15:clr>
            <a:srgbClr val="000000"/>
          </p15:clr>
        </p15:guide>
        <p15:guide id="2" pos="5755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hq08nVCMjVr6nVpMBGhmCUNmwm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39" orient="horz"/>
        <p:guide pos="57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otoSansKR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otoSans-regular.fntdata"/><Relationship Id="rId25" Type="http://schemas.openxmlformats.org/officeDocument/2006/relationships/font" Target="fonts/NotoSansKR-bold.fntdata"/><Relationship Id="rId28" Type="http://schemas.openxmlformats.org/officeDocument/2006/relationships/font" Target="fonts/NotoSans-italic.fntdata"/><Relationship Id="rId27" Type="http://schemas.openxmlformats.org/officeDocument/2006/relationships/font" Target="fonts/Noto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Noto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:notes"/>
          <p:cNvSpPr/>
          <p:nvPr>
            <p:ph idx="2" type="sldImg"/>
          </p:nvPr>
        </p:nvSpPr>
        <p:spPr>
          <a:xfrm>
            <a:off x="1714825" y="1371600"/>
            <a:ext cx="68583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" name="Google Shape;12;p1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귀기울임의 기업주제 프로젝트 발표입니다. 생체신호 기반 감정 분석과 위기 대응을 하나로 묶은 시스템입니다.</a:t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 격차, 고독사 증가, 스트레스 지표 — 세 가지 숫자가 프로젝트의 출발점입니다.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수집–판정–대응 세 단계를 완전 자동화한 것이 핵심입니다.</a:t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 가지 핵심 기능과 사용 기술 스택입니다.</a:t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시장은 두 자릿수로 성장 중이고, 세 기능을 모두 갖춘 서비스는 아직 없습니다.</a:t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SWOT 전략과 초기 타깃 정의입니다.</a:t>
            </a:r>
            <a:endParaRPr/>
          </a:p>
        </p:txBody>
      </p:sp>
      <p:sp>
        <p:nvSpPr>
          <p:cNvPr id="214" name="Google Shape;21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계층, 비즈니스 서버, AI 추론 서버로 구성된 3계층 구조입니다.</a:t>
            </a:r>
            <a:endParaRPr/>
          </a:p>
        </p:txBody>
      </p:sp>
      <p:sp>
        <p:nvSpPr>
          <p:cNvPr id="242" name="Google Shape;24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수집부터 액션까지 5단계, 각 구간의 성능 목표는 하단 Metric Box에 정리했습니다.</a:t>
            </a:r>
            <a:endParaRPr/>
          </a:p>
        </p:txBody>
      </p:sp>
      <p:sp>
        <p:nvSpPr>
          <p:cNvPr id="276" name="Google Shape;27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 개의 모델 트랙과 각각의 목표 지표입니다.</a:t>
            </a:r>
            <a:endParaRPr/>
          </a:p>
        </p:txBody>
      </p:sp>
      <p:sp>
        <p:nvSpPr>
          <p:cNvPr id="316" name="Google Shape;31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ALERT, CAUTION, NORMAL 세 단계와 자동 트리거되는 액션입니다.</a:t>
            </a:r>
            <a:endParaRPr/>
          </a:p>
        </p:txBody>
      </p:sp>
      <p:sp>
        <p:nvSpPr>
          <p:cNvPr id="347" name="Google Shape;34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오픈 데이터 두 종과 민감 보건의료 데이터 한 종의 확보·활용 전략입니다.</a:t>
            </a:r>
            <a:endParaRPr/>
          </a:p>
        </p:txBody>
      </p:sp>
      <p:sp>
        <p:nvSpPr>
          <p:cNvPr id="381" name="Google Shape;38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 단일 DB 기준의 무결성·보안 원칙 여섯 가지입니다.</a:t>
            </a:r>
            <a:endParaRPr/>
          </a:p>
        </p:txBody>
      </p:sp>
      <p:sp>
        <p:nvSpPr>
          <p:cNvPr id="402" name="Google Shape;40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요구사항과 비기능 요구사항 및 한계치입니다.</a:t>
            </a:r>
            <a:endParaRPr/>
          </a:p>
        </p:txBody>
      </p:sp>
      <p:sp>
        <p:nvSpPr>
          <p:cNvPr id="431" name="Google Shape;43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6주 일정, 8월 28일 최종 발표가 마일스톤입니다.</a:t>
            </a:r>
            <a:endParaRPr/>
          </a:p>
        </p:txBody>
      </p:sp>
      <p:sp>
        <p:nvSpPr>
          <p:cNvPr id="461" name="Google Shape;461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" name="Google Shape;49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아홉 개의 핵심 목표 수치와 확장 비전으로 마무리합니다.</a:t>
            </a:r>
            <a:endParaRPr/>
          </a:p>
        </p:txBody>
      </p:sp>
      <p:sp>
        <p:nvSpPr>
          <p:cNvPr id="491" name="Google Shape;49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7:notes"/>
          <p:cNvSpPr/>
          <p:nvPr>
            <p:ph idx="2" type="sldImg"/>
          </p:nvPr>
        </p:nvSpPr>
        <p:spPr>
          <a:xfrm>
            <a:off x="1714825" y="1371600"/>
            <a:ext cx="68583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17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4인 팀이며 PM, 데이터 모델링, 백엔드/DB, 프론트엔드로 역할을 완전히 분리해 병렬로 진행하고 있습니다.</a:t>
            </a:r>
            <a:endParaRPr/>
          </a:p>
        </p:txBody>
      </p:sp>
      <p:sp>
        <p:nvSpPr>
          <p:cNvPr id="526" name="Google Shape;526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제목 폰트 사이즈를 두 줄로 보여지게 줄여줘" id="14" name="Google Shape;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712350" y="9137225"/>
            <a:ext cx="2323175" cy="534325"/>
          </a:xfrm>
          <a:custGeom>
            <a:rect b="b" l="l" r="r" t="t"/>
            <a:pathLst>
              <a:path extrusionOk="0" h="21373" w="92927">
                <a:moveTo>
                  <a:pt x="3717" y="929"/>
                </a:moveTo>
                <a:lnTo>
                  <a:pt x="92927" y="0"/>
                </a:lnTo>
                <a:lnTo>
                  <a:pt x="92927" y="21373"/>
                </a:lnTo>
                <a:lnTo>
                  <a:pt x="0" y="21373"/>
                </a:lnTo>
                <a:close/>
              </a:path>
            </a:pathLst>
          </a:custGeom>
          <a:solidFill>
            <a:srgbClr val="F7FBFE"/>
          </a:solidFill>
          <a:ln cap="flat" cmpd="sng" w="9525">
            <a:solidFill>
              <a:srgbClr val="F7FBFD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"/>
          <p:cNvSpPr txBox="1"/>
          <p:nvPr/>
        </p:nvSpPr>
        <p:spPr>
          <a:xfrm>
            <a:off x="863450" y="9112397"/>
            <a:ext cx="54624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400" u="none" cap="none" strike="noStrike">
                <a:solidFill>
                  <a:srgbClr val="4A5A5C"/>
                </a:solidFill>
                <a:latin typeface="Noto Sans"/>
                <a:ea typeface="Noto Sans"/>
                <a:cs typeface="Noto Sans"/>
                <a:sym typeface="Noto Sans"/>
              </a:rPr>
              <a:t>2026.7.28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1282700" y="555625"/>
            <a:ext cx="508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목차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1054100" y="2133600"/>
            <a:ext cx="88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1" i="0" sz="3400" u="none" cap="none" strike="noStrike">
              <a:solidFill>
                <a:srgbClr val="2C7A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2057400" y="22352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배경과 목표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5842000" y="2311400"/>
            <a:ext cx="113919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4A5A5C"/>
                </a:solidFill>
                <a:latin typeface="Noto Sans"/>
                <a:ea typeface="Noto Sans"/>
                <a:cs typeface="Noto Sans"/>
                <a:sym typeface="Noto Sans"/>
              </a:rPr>
              <a:t>추진 배경  ·  프로젝트 목표와 기대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054100" y="3505200"/>
            <a:ext cx="16179800" cy="1270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1054100" y="3733800"/>
            <a:ext cx="88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1" i="0" sz="3400" u="none" cap="none" strike="noStrike">
              <a:solidFill>
                <a:srgbClr val="2C7A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2057400" y="38354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기능과 시장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5842000" y="3911600"/>
            <a:ext cx="113919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4A5A5C"/>
                </a:solidFill>
                <a:latin typeface="Noto Sans"/>
                <a:ea typeface="Noto Sans"/>
                <a:cs typeface="Noto Sans"/>
                <a:sym typeface="Noto Sans"/>
              </a:rPr>
              <a:t>핵심 기능  ·  시장 성장성과 경쟁 포지셔닝  ·  SWOT 전략과 타깃 고객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054100" y="5105400"/>
            <a:ext cx="16179800" cy="1270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054100" y="5334000"/>
            <a:ext cx="88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1" i="0" sz="3400" u="none" cap="none" strike="noStrike">
              <a:solidFill>
                <a:srgbClr val="2C7A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2057400" y="54356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기술 구조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5842000" y="5511800"/>
            <a:ext cx="113919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4A5A5C"/>
                </a:solidFill>
                <a:latin typeface="Noto Sans"/>
                <a:ea typeface="Noto Sans"/>
                <a:cs typeface="Noto Sans"/>
                <a:sym typeface="Noto Sans"/>
              </a:rPr>
              <a:t>시스템 아키텍처  ·  데이터 처리 파이프라인  ·  AI 모델 설계(Tech Specs)</a:t>
            </a:r>
            <a:endParaRPr b="0" i="0" sz="1900" u="none" cap="none" strike="noStrike">
              <a:solidFill>
                <a:srgbClr val="4A5A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54100" y="6705600"/>
            <a:ext cx="16179800" cy="1270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1054100" y="6934200"/>
            <a:ext cx="88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1" i="0" sz="3400" u="none" cap="none" strike="noStrike">
              <a:solidFill>
                <a:srgbClr val="2C7A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2057400" y="70358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데이터와 보안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5842000" y="7112000"/>
            <a:ext cx="113919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4A5A5C"/>
                </a:solidFill>
                <a:latin typeface="Noto Sans"/>
                <a:ea typeface="Noto Sans"/>
                <a:cs typeface="Noto Sans"/>
                <a:sym typeface="Noto Sans"/>
              </a:rPr>
              <a:t>위험 단계별 대응 시나리오  ·  학습 데이터셋 확보 계획  ·  데이터 보안·개인정보 보호 설계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54100" y="8305800"/>
            <a:ext cx="16179800" cy="1270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1054100" y="8534400"/>
            <a:ext cx="88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b="1" i="0" sz="3400" u="none" cap="none" strike="noStrike">
              <a:solidFill>
                <a:srgbClr val="2C7A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2057400" y="8636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실행 계획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5842000" y="8712200"/>
            <a:ext cx="113919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4A5A5C"/>
                </a:solidFill>
                <a:latin typeface="Noto Sans"/>
                <a:ea typeface="Noto Sans"/>
                <a:cs typeface="Noto Sans"/>
                <a:sym typeface="Noto Sans"/>
              </a:rPr>
              <a:t>기능·비기능 요구사항  ·  6주 개발 일정  ·  핵심 성과 지표와 확장 계획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FF4F5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238250" y="1524000"/>
            <a:ext cx="4889450" cy="7810500"/>
          </a:xfrm>
          <a:prstGeom prst="roundRect">
            <a:avLst>
              <a:gd fmla="val 6234" name="adj"/>
            </a:avLst>
          </a:prstGeom>
          <a:solidFill>
            <a:srgbClr val="FFFFFF"/>
          </a:solidFill>
          <a:ln>
            <a:noFill/>
          </a:ln>
          <a:effectLst>
            <a:outerShdw blurRad="438150" rotWithShape="0" algn="bl" dir="5400000" dist="171450">
              <a:srgbClr val="1E3C4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657350" y="2590800"/>
            <a:ext cx="809625" cy="85725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657350" y="2057400"/>
            <a:ext cx="85725" cy="619125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276475" y="2171700"/>
            <a:ext cx="190500" cy="32385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028825" y="2273300"/>
            <a:ext cx="190500" cy="228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424284" y="3124200"/>
            <a:ext cx="251738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71233"/>
              </a:lnSpc>
              <a:spcBef>
                <a:spcPts val="0"/>
              </a:spcBef>
              <a:spcAft>
                <a:spcPts val="0"/>
              </a:spcAft>
              <a:buClr>
                <a:srgbClr val="2C7A73"/>
              </a:buClr>
              <a:buSzPts val="7800"/>
              <a:buFont typeface="Noto Sans"/>
              <a:buNone/>
            </a:pPr>
            <a:r>
              <a:rPr b="1" i="0" lang="en-US" sz="78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2.2년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831306" y="4445000"/>
            <a:ext cx="1703338" cy="609600"/>
          </a:xfrm>
          <a:prstGeom prst="roundRect">
            <a:avLst>
              <a:gd fmla="val 50000" name="adj"/>
            </a:avLst>
          </a:prstGeom>
          <a:solidFill>
            <a:srgbClr val="5FA3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117056" y="4559300"/>
            <a:ext cx="113183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기술 격차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343274" y="5549900"/>
            <a:ext cx="2679255" cy="21484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9487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550"/>
              <a:buFont typeface="Noto Sans"/>
              <a:buNone/>
            </a:pPr>
            <a:r>
              <a:rPr b="0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국내 보건의료 질환 분야 미국 대비  </a:t>
            </a:r>
            <a:r>
              <a:rPr b="1" i="0" lang="en-US" sz="255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기술수준 80.3%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699200" y="1524000"/>
            <a:ext cx="4889450" cy="7810500"/>
          </a:xfrm>
          <a:prstGeom prst="roundRect">
            <a:avLst>
              <a:gd fmla="val 6234" name="adj"/>
            </a:avLst>
          </a:prstGeom>
          <a:solidFill>
            <a:srgbClr val="FFFFFF"/>
          </a:solidFill>
          <a:ln>
            <a:noFill/>
          </a:ln>
          <a:effectLst>
            <a:outerShdw blurRad="438150" rotWithShape="0" algn="bl" dir="5400000" dist="171450">
              <a:srgbClr val="1E3C4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118300" y="2057400"/>
            <a:ext cx="628650" cy="628650"/>
          </a:xfrm>
          <a:prstGeom prst="roundRect">
            <a:avLst>
              <a:gd fmla="val 15152" name="adj"/>
            </a:avLst>
          </a:prstGeom>
          <a:solidFill>
            <a:srgbClr val="E8E4D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251650" y="2260600"/>
            <a:ext cx="304800" cy="47625"/>
          </a:xfrm>
          <a:prstGeom prst="rect">
            <a:avLst/>
          </a:prstGeom>
          <a:solidFill>
            <a:srgbClr val="B9B2A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251650" y="2400300"/>
            <a:ext cx="304800" cy="47625"/>
          </a:xfrm>
          <a:prstGeom prst="rect">
            <a:avLst/>
          </a:prstGeom>
          <a:solidFill>
            <a:srgbClr val="B9B2A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556450" y="2413000"/>
            <a:ext cx="323850" cy="323850"/>
          </a:xfrm>
          <a:prstGeom prst="ellipse">
            <a:avLst/>
          </a:prstGeom>
          <a:solidFill>
            <a:srgbClr val="F5C5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583850" y="3136900"/>
            <a:ext cx="312000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71233"/>
              </a:lnSpc>
              <a:spcBef>
                <a:spcPts val="0"/>
              </a:spcBef>
              <a:spcAft>
                <a:spcPts val="0"/>
              </a:spcAft>
              <a:buClr>
                <a:srgbClr val="E4574C"/>
              </a:buClr>
              <a:buSzPts val="7800"/>
              <a:buFont typeface="Noto Sans"/>
              <a:buNone/>
            </a:pPr>
            <a:r>
              <a:rPr b="1" i="0" lang="en-US" sz="7800" u="none" cap="none" strike="noStrike">
                <a:solidFill>
                  <a:srgbClr val="E4574C"/>
                </a:solidFill>
                <a:latin typeface="Noto Sans"/>
                <a:ea typeface="Noto Sans"/>
                <a:cs typeface="Noto Sans"/>
                <a:sym typeface="Noto Sans"/>
              </a:rPr>
              <a:t>+7.2%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169473" y="4457700"/>
            <a:ext cx="1948755" cy="609600"/>
          </a:xfrm>
          <a:prstGeom prst="roundRect">
            <a:avLst>
              <a:gd fmla="val 50000" name="adj"/>
            </a:avLst>
          </a:prstGeom>
          <a:solidFill>
            <a:srgbClr val="EF857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8455223" y="4572000"/>
            <a:ext cx="137725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고독사 증가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093404" y="5562600"/>
            <a:ext cx="4100894" cy="21675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39487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550"/>
              <a:buFont typeface="Noto Sans"/>
              <a:buNone/>
            </a:pPr>
            <a:r>
              <a:rPr b="0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2024년 </a:t>
            </a:r>
            <a:r>
              <a:rPr b="1" i="0" lang="en-US" sz="2550" u="none" cap="none" strike="noStrike">
                <a:solidFill>
                  <a:srgbClr val="E4574C"/>
                </a:solidFill>
                <a:latin typeface="Noto Sans"/>
                <a:ea typeface="Noto Sans"/>
                <a:cs typeface="Noto Sans"/>
                <a:sym typeface="Noto Sans"/>
              </a:rPr>
              <a:t>고독사 사망자 3,924명 </a:t>
            </a:r>
            <a:r>
              <a:rPr b="0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(2027년까지 20% 감축 목표, R&amp;D 예산 </a:t>
            </a:r>
            <a:r>
              <a:rPr b="1" i="0" lang="en-US" sz="2550" u="none" cap="none" strike="noStrike">
                <a:solidFill>
                  <a:srgbClr val="E4574C"/>
                </a:solidFill>
                <a:latin typeface="Noto Sans"/>
                <a:ea typeface="Noto Sans"/>
                <a:cs typeface="Noto Sans"/>
                <a:sym typeface="Noto Sans"/>
              </a:rPr>
              <a:t>1조 652억 원</a:t>
            </a:r>
            <a:r>
              <a:rPr b="0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2160151" y="1524000"/>
            <a:ext cx="4889450" cy="7810500"/>
          </a:xfrm>
          <a:prstGeom prst="roundRect">
            <a:avLst>
              <a:gd fmla="val 6234" name="adj"/>
            </a:avLst>
          </a:prstGeom>
          <a:solidFill>
            <a:srgbClr val="FFFFFF"/>
          </a:solidFill>
          <a:ln>
            <a:noFill/>
          </a:ln>
          <a:effectLst>
            <a:outerShdw blurRad="438150" rotWithShape="0" algn="bl" dir="5400000" dist="171450">
              <a:srgbClr val="1E3C4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2579251" y="2171700"/>
            <a:ext cx="209550" cy="361950"/>
          </a:xfrm>
          <a:custGeom>
            <a:rect b="b" l="l" r="r" t="t"/>
            <a:pathLst>
              <a:path extrusionOk="0" h="361950" w="209550">
                <a:moveTo>
                  <a:pt x="104775" y="0"/>
                </a:moveTo>
                <a:lnTo>
                  <a:pt x="104775" y="0"/>
                </a:lnTo>
                <a:cubicBezTo>
                  <a:pt x="132563" y="0"/>
                  <a:pt x="159213" y="11039"/>
                  <a:pt x="178862" y="30688"/>
                </a:cubicBezTo>
                <a:cubicBezTo>
                  <a:pt x="198511" y="50337"/>
                  <a:pt x="209550" y="76987"/>
                  <a:pt x="209550" y="104775"/>
                </a:cubicBezTo>
                <a:lnTo>
                  <a:pt x="209550" y="323850"/>
                </a:lnTo>
                <a:cubicBezTo>
                  <a:pt x="209550" y="344892"/>
                  <a:pt x="192492" y="361950"/>
                  <a:pt x="17145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5FA3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2845951" y="2057400"/>
            <a:ext cx="266700" cy="476250"/>
          </a:xfrm>
          <a:custGeom>
            <a:rect b="b" l="l" r="r" t="t"/>
            <a:pathLst>
              <a:path extrusionOk="0" h="476250" w="266700">
                <a:moveTo>
                  <a:pt x="133350" y="0"/>
                </a:moveTo>
                <a:lnTo>
                  <a:pt x="133350" y="0"/>
                </a:lnTo>
                <a:cubicBezTo>
                  <a:pt x="168717" y="0"/>
                  <a:pt x="202635" y="14049"/>
                  <a:pt x="227643" y="39057"/>
                </a:cubicBezTo>
                <a:cubicBezTo>
                  <a:pt x="252651" y="64065"/>
                  <a:pt x="266700" y="97983"/>
                  <a:pt x="266700" y="133350"/>
                </a:cubicBezTo>
                <a:lnTo>
                  <a:pt x="266700" y="438150"/>
                </a:lnTo>
                <a:cubicBezTo>
                  <a:pt x="266700" y="459192"/>
                  <a:pt x="249642" y="476250"/>
                  <a:pt x="2286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3169801" y="2171700"/>
            <a:ext cx="209550" cy="361950"/>
          </a:xfrm>
          <a:custGeom>
            <a:rect b="b" l="l" r="r" t="t"/>
            <a:pathLst>
              <a:path extrusionOk="0" h="361950" w="209550">
                <a:moveTo>
                  <a:pt x="104775" y="0"/>
                </a:moveTo>
                <a:lnTo>
                  <a:pt x="104775" y="0"/>
                </a:lnTo>
                <a:cubicBezTo>
                  <a:pt x="132563" y="0"/>
                  <a:pt x="159213" y="11039"/>
                  <a:pt x="178862" y="30688"/>
                </a:cubicBezTo>
                <a:cubicBezTo>
                  <a:pt x="198511" y="50337"/>
                  <a:pt x="209550" y="76987"/>
                  <a:pt x="209550" y="104775"/>
                </a:cubicBezTo>
                <a:lnTo>
                  <a:pt x="209550" y="323850"/>
                </a:lnTo>
                <a:cubicBezTo>
                  <a:pt x="209550" y="344892"/>
                  <a:pt x="192492" y="361950"/>
                  <a:pt x="17145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5FA3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3060018" y="2984500"/>
            <a:ext cx="308971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71233"/>
              </a:lnSpc>
              <a:spcBef>
                <a:spcPts val="0"/>
              </a:spcBef>
              <a:spcAft>
                <a:spcPts val="0"/>
              </a:spcAft>
              <a:buClr>
                <a:srgbClr val="2C7A73"/>
              </a:buClr>
              <a:buSzPts val="7800"/>
              <a:buFont typeface="Noto Sans"/>
              <a:buNone/>
            </a:pPr>
            <a:r>
              <a:rPr b="1" i="0" lang="en-US" sz="78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46.3%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3790265" y="4305300"/>
            <a:ext cx="1629221" cy="609600"/>
          </a:xfrm>
          <a:prstGeom prst="roundRect">
            <a:avLst>
              <a:gd fmla="val 50000" name="adj"/>
            </a:avLst>
          </a:prstGeom>
          <a:solidFill>
            <a:srgbClr val="5FA3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4076015" y="4419600"/>
            <a:ext cx="105772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스트레스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3271610" y="5410200"/>
            <a:ext cx="2666531" cy="21675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39487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550"/>
              <a:buFont typeface="Noto Sans"/>
              <a:buNone/>
            </a:pPr>
            <a:r>
              <a:rPr b="0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1인가구 </a:t>
            </a:r>
            <a:r>
              <a:rPr b="1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804만 </a:t>
            </a:r>
            <a:r>
              <a:rPr b="0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시대(36.1%), </a:t>
            </a:r>
            <a:r>
              <a:rPr b="1" i="0" lang="en-US" sz="255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스트레스 46.3% </a:t>
            </a:r>
            <a:r>
              <a:rPr b="0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및 </a:t>
            </a:r>
            <a:r>
              <a:rPr b="1" i="0" lang="en-US" sz="255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우울감 40.2% </a:t>
            </a:r>
            <a:r>
              <a:rPr b="0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응답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1282700" y="508000"/>
            <a:ext cx="146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추진 배경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2778026" y="1524000"/>
            <a:ext cx="2190750" cy="2190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81000" rotWithShape="0" algn="bl" dir="5400000" dist="152400">
              <a:srgbClr val="1E3C42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 rot="-2700000">
            <a:off x="3630968" y="2971800"/>
            <a:ext cx="1333500" cy="13335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 rot="-2700000">
            <a:off x="2782333" y="2120900"/>
            <a:ext cx="1333500" cy="13335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 rot="-2700000">
            <a:off x="3382409" y="2374900"/>
            <a:ext cx="133350" cy="13335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048476" y="1524000"/>
            <a:ext cx="2190750" cy="2190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81000" rotWithShape="0" algn="bl" dir="5400000" dist="152400">
              <a:srgbClr val="1E3C42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562826" y="2247900"/>
            <a:ext cx="533400" cy="723900"/>
          </a:xfrm>
          <a:custGeom>
            <a:rect b="b" l="l" r="r" t="t"/>
            <a:pathLst>
              <a:path extrusionOk="0" h="723900" w="533400">
                <a:moveTo>
                  <a:pt x="266700" y="0"/>
                </a:moveTo>
                <a:lnTo>
                  <a:pt x="476250" y="0"/>
                </a:lnTo>
                <a:cubicBezTo>
                  <a:pt x="491407" y="0"/>
                  <a:pt x="505943" y="6021"/>
                  <a:pt x="516661" y="16739"/>
                </a:cubicBezTo>
                <a:cubicBezTo>
                  <a:pt x="527379" y="27457"/>
                  <a:pt x="533400" y="41993"/>
                  <a:pt x="533400" y="57150"/>
                </a:cubicBezTo>
                <a:lnTo>
                  <a:pt x="533400" y="666750"/>
                </a:lnTo>
                <a:cubicBezTo>
                  <a:pt x="533400" y="698313"/>
                  <a:pt x="507813" y="723900"/>
                  <a:pt x="476250" y="723900"/>
                </a:cubicBezTo>
                <a:lnTo>
                  <a:pt x="266700" y="723900"/>
                </a:lnTo>
                <a:cubicBezTo>
                  <a:pt x="119406" y="723900"/>
                  <a:pt x="0" y="604494"/>
                  <a:pt x="0" y="4572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9191476" y="2247900"/>
            <a:ext cx="533400" cy="723900"/>
          </a:xfrm>
          <a:custGeom>
            <a:rect b="b" l="l" r="r" t="t"/>
            <a:pathLst>
              <a:path extrusionOk="0" h="723900" w="533400">
                <a:moveTo>
                  <a:pt x="57150" y="0"/>
                </a:moveTo>
                <a:lnTo>
                  <a:pt x="266700" y="0"/>
                </a:lnTo>
                <a:cubicBezTo>
                  <a:pt x="337433" y="0"/>
                  <a:pt x="405269" y="28099"/>
                  <a:pt x="455285" y="78115"/>
                </a:cubicBezTo>
                <a:cubicBezTo>
                  <a:pt x="505301" y="128131"/>
                  <a:pt x="533400" y="195967"/>
                  <a:pt x="533400" y="266700"/>
                </a:cubicBezTo>
                <a:lnTo>
                  <a:pt x="533400" y="457200"/>
                </a:lnTo>
                <a:cubicBezTo>
                  <a:pt x="533400" y="604494"/>
                  <a:pt x="413994" y="723900"/>
                  <a:pt x="266700" y="723900"/>
                </a:cubicBezTo>
                <a:lnTo>
                  <a:pt x="57150" y="723900"/>
                </a:lnTo>
                <a:cubicBezTo>
                  <a:pt x="25587" y="723900"/>
                  <a:pt x="0" y="698313"/>
                  <a:pt x="0" y="666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5FA3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3318927" y="1524000"/>
            <a:ext cx="2190750" cy="2190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81000" rotWithShape="0" algn="bl" dir="5400000" dist="152400">
              <a:srgbClr val="1E3C42">
                <a:alpha val="1294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3957102" y="2095500"/>
            <a:ext cx="914400" cy="1047750"/>
          </a:xfrm>
          <a:custGeom>
            <a:rect b="b" l="l" r="r" t="t"/>
            <a:pathLst>
              <a:path extrusionOk="0" h="1047750" w="914400">
                <a:moveTo>
                  <a:pt x="133350" y="0"/>
                </a:moveTo>
                <a:lnTo>
                  <a:pt x="781050" y="0"/>
                </a:lnTo>
                <a:cubicBezTo>
                  <a:pt x="816417" y="0"/>
                  <a:pt x="850335" y="14049"/>
                  <a:pt x="875343" y="39057"/>
                </a:cubicBezTo>
                <a:cubicBezTo>
                  <a:pt x="900351" y="64065"/>
                  <a:pt x="914400" y="97983"/>
                  <a:pt x="914400" y="133350"/>
                </a:cubicBezTo>
                <a:lnTo>
                  <a:pt x="914400" y="590550"/>
                </a:lnTo>
                <a:cubicBezTo>
                  <a:pt x="914400" y="843055"/>
                  <a:pt x="709705" y="1047750"/>
                  <a:pt x="457200" y="1047750"/>
                </a:cubicBezTo>
                <a:lnTo>
                  <a:pt x="457200" y="1047750"/>
                </a:lnTo>
                <a:cubicBezTo>
                  <a:pt x="204695" y="1047750"/>
                  <a:pt x="0" y="843055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3919002" y="2095500"/>
            <a:ext cx="9906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Noto San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+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286250" y="4394200"/>
            <a:ext cx="9715351" cy="57150"/>
          </a:xfrm>
          <a:prstGeom prst="rect">
            <a:avLst/>
          </a:prstGeom>
          <a:solidFill>
            <a:srgbClr val="DBE3E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520976" y="4076700"/>
            <a:ext cx="704850" cy="704850"/>
          </a:xfrm>
          <a:prstGeom prst="ellipse">
            <a:avLst/>
          </a:prstGeom>
          <a:solidFill>
            <a:srgbClr val="FFFFFF"/>
          </a:solidFill>
          <a:ln cap="flat" cmpd="sng" w="57150">
            <a:solidFill>
              <a:srgbClr val="C8D3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8791426" y="4076700"/>
            <a:ext cx="704850" cy="704850"/>
          </a:xfrm>
          <a:prstGeom prst="ellipse">
            <a:avLst/>
          </a:prstGeom>
          <a:solidFill>
            <a:srgbClr val="FFFFFF"/>
          </a:solidFill>
          <a:ln cap="flat" cmpd="sng" w="57150">
            <a:solidFill>
              <a:srgbClr val="C8D3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4061877" y="4076700"/>
            <a:ext cx="704850" cy="704850"/>
          </a:xfrm>
          <a:prstGeom prst="ellipse">
            <a:avLst/>
          </a:prstGeom>
          <a:solidFill>
            <a:srgbClr val="FFFFFF"/>
          </a:solidFill>
          <a:ln cap="flat" cmpd="sng" w="57150">
            <a:solidFill>
              <a:srgbClr val="C8D3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884468" y="5308600"/>
            <a:ext cx="3596866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1765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600"/>
              <a:buFont typeface="Noto Sans"/>
              <a:buNone/>
            </a:pPr>
            <a:r>
              <a:rPr b="1" i="0" lang="en-US" sz="36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완전 자동화된 데이터 파이프라인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810885" y="6743700"/>
            <a:ext cx="3744181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0769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550"/>
              <a:buFont typeface="Noto Sans"/>
              <a:buNone/>
            </a:pPr>
            <a:r>
              <a:rPr b="0" i="0" lang="en-US" sz="255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Health Connect 생체신호 무자각 수집 (15분 주기)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705825" y="7962900"/>
            <a:ext cx="3942000" cy="628800"/>
          </a:xfrm>
          <a:prstGeom prst="roundRect">
            <a:avLst>
              <a:gd fmla="val 50000" name="adj"/>
            </a:avLst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962637" y="8077200"/>
            <a:ext cx="34281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Noto Sans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전처리~위험도 산출 5초 이내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214657" y="5308600"/>
            <a:ext cx="3858537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1765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600"/>
              <a:buFont typeface="Noto Sans"/>
              <a:buNone/>
            </a:pPr>
            <a:r>
              <a:rPr b="1" i="0" lang="en-US" sz="36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2단계 AI 모델의 위험 단계 자동 판정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923249" y="6743700"/>
            <a:ext cx="4441204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0769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550"/>
              <a:buFont typeface="Noto Sans"/>
              <a:buNone/>
            </a:pPr>
            <a:r>
              <a:rPr b="0" i="0" lang="en-US" sz="255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LSTM Autoencoder (1차 탐지) + LightGBM (2차 분류)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220425" y="7962900"/>
            <a:ext cx="5768700" cy="628800"/>
          </a:xfrm>
          <a:prstGeom prst="roundRect">
            <a:avLst>
              <a:gd fmla="val 50000" name="adj"/>
            </a:avLst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576800" y="8055000"/>
            <a:ext cx="5267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Noto Sans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F1-score 0.80↑ / 위기 문맥 재현율 90%↑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2675607" y="5308600"/>
            <a:ext cx="3858537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1765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600"/>
              <a:buFont typeface="Noto Sans"/>
              <a:buNone/>
            </a:pPr>
            <a:r>
              <a:rPr b="1" i="0" lang="en-US" sz="36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위험 단계별 자동 대응 체계 완성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2776934" y="6743700"/>
            <a:ext cx="3655884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0769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550"/>
              <a:buFont typeface="Noto Sans"/>
              <a:buNone/>
            </a:pPr>
            <a:r>
              <a:rPr b="0" i="0" lang="en-US" sz="255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맞춤 힐링 콘텐츠 추천부터 긴급 전화 UI까지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2494875" y="7962900"/>
            <a:ext cx="4112100" cy="628800"/>
          </a:xfrm>
          <a:prstGeom prst="roundRect">
            <a:avLst>
              <a:gd fmla="val 50000" name="adj"/>
            </a:avLst>
          </a:prstGeom>
          <a:solidFill>
            <a:srgbClr val="E457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2753900" y="8077200"/>
            <a:ext cx="3594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Noto Sans"/>
              <a:buNone/>
            </a:pPr>
            <a:r>
              <a:rPr b="1" i="0" lang="en-US" sz="217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임계치 초과~긴급 UI 3초 이내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1282700" y="508000"/>
            <a:ext cx="146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프로젝트 목표와 기대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EF4F5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857250" y="1524000"/>
            <a:ext cx="8067675" cy="4051300"/>
          </a:xfrm>
          <a:prstGeom prst="roundRect">
            <a:avLst>
              <a:gd fmla="val 5752" name="adj"/>
            </a:avLst>
          </a:prstGeom>
          <a:solidFill>
            <a:srgbClr val="FFFFFF"/>
          </a:solidFill>
          <a:ln>
            <a:noFill/>
          </a:ln>
          <a:effectLst>
            <a:outerShdw blurRad="381000" rotWithShape="0" algn="bl" dir="5400000" dist="152400">
              <a:srgbClr val="1E3C42">
                <a:alpha val="90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276350" y="1879600"/>
            <a:ext cx="2857500" cy="3327400"/>
          </a:xfrm>
          <a:prstGeom prst="roundRect">
            <a:avLst>
              <a:gd fmla="val 6000" name="adj"/>
            </a:avLst>
          </a:prstGeom>
          <a:solidFill>
            <a:srgbClr val="EAF1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800225" y="2806700"/>
            <a:ext cx="1143000" cy="323850"/>
          </a:xfrm>
          <a:prstGeom prst="roundRect">
            <a:avLst>
              <a:gd fmla="val 47059" name="adj"/>
            </a:avLst>
          </a:prstGeom>
          <a:solidFill>
            <a:srgbClr val="5FA3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2181225" y="3200400"/>
            <a:ext cx="1428750" cy="323850"/>
          </a:xfrm>
          <a:prstGeom prst="roundRect">
            <a:avLst>
              <a:gd fmla="val 47059" name="adj"/>
            </a:avLst>
          </a:prstGeom>
          <a:solidFill>
            <a:srgbClr val="AAB8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800225" y="3606800"/>
            <a:ext cx="1047750" cy="323850"/>
          </a:xfrm>
          <a:prstGeom prst="roundRect">
            <a:avLst>
              <a:gd fmla="val 47059" name="adj"/>
            </a:avLst>
          </a:prstGeom>
          <a:solidFill>
            <a:srgbClr val="5FA3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276475" y="4013200"/>
            <a:ext cx="1333500" cy="323850"/>
          </a:xfrm>
          <a:prstGeom prst="roundRect">
            <a:avLst>
              <a:gd fmla="val 47059" name="adj"/>
            </a:avLst>
          </a:prstGeom>
          <a:solidFill>
            <a:srgbClr val="AAB8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552950" y="2514600"/>
            <a:ext cx="4071300" cy="10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258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300"/>
              <a:buFont typeface="Noto Sans"/>
              <a:buNone/>
            </a:pPr>
            <a:r>
              <a:rPr b="1" i="0" lang="en-US" sz="28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가변형 페르소나 LLM 챗봇</a:t>
            </a:r>
            <a:endParaRPr b="1" i="0" sz="2800" u="none" cap="none" strike="noStrike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92258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300"/>
              <a:buFont typeface="Noto Sans"/>
              <a:buNone/>
            </a:pPr>
            <a:r>
              <a:rPr b="1" i="0" lang="en-US" sz="28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(OpenAI, Whisper)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552950" y="3771900"/>
            <a:ext cx="4071461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사용자가 F형(공감형) / T형(조언형) 페르소나 선택, 텍스트 및 음성 멀티모달 지원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363075" y="1524000"/>
            <a:ext cx="8067675" cy="4051300"/>
          </a:xfrm>
          <a:prstGeom prst="roundRect">
            <a:avLst>
              <a:gd fmla="val 5752" name="adj"/>
            </a:avLst>
          </a:prstGeom>
          <a:solidFill>
            <a:srgbClr val="FFFFFF"/>
          </a:solidFill>
          <a:ln>
            <a:noFill/>
          </a:ln>
          <a:effectLst>
            <a:outerShdw blurRad="381000" rotWithShape="0" algn="bl" dir="5400000" dist="152400">
              <a:srgbClr val="1E3C42">
                <a:alpha val="90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782175" y="1879600"/>
            <a:ext cx="2857500" cy="3327400"/>
          </a:xfrm>
          <a:prstGeom prst="roundRect">
            <a:avLst>
              <a:gd fmla="val 6000" name="adj"/>
            </a:avLst>
          </a:prstGeom>
          <a:solidFill>
            <a:srgbClr val="EAF1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0058400" y="2794000"/>
            <a:ext cx="2305050" cy="1498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0210800" y="2933700"/>
            <a:ext cx="104775" cy="104775"/>
          </a:xfrm>
          <a:prstGeom prst="ellipse">
            <a:avLst/>
          </a:prstGeom>
          <a:solidFill>
            <a:srgbClr val="EF857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0382250" y="2933700"/>
            <a:ext cx="104775" cy="104775"/>
          </a:xfrm>
          <a:prstGeom prst="ellipse">
            <a:avLst/>
          </a:prstGeom>
          <a:solidFill>
            <a:srgbClr val="F5C5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0553700" y="2933700"/>
            <a:ext cx="104775" cy="104775"/>
          </a:xfrm>
          <a:prstGeom prst="ellipse">
            <a:avLst/>
          </a:prstGeom>
          <a:solidFill>
            <a:srgbClr val="8FBFB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0839450" y="3136900"/>
            <a:ext cx="742950" cy="742950"/>
          </a:xfrm>
          <a:prstGeom prst="ellipse">
            <a:avLst/>
          </a:prstGeom>
          <a:noFill/>
          <a:ln cap="flat" cmpd="sng" w="66675">
            <a:solidFill>
              <a:srgbClr val="E45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0868025" y="3200400"/>
            <a:ext cx="68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74C"/>
              </a:buClr>
              <a:buSzPts val="2550"/>
              <a:buFont typeface="Noto Sans"/>
              <a:buNone/>
            </a:pPr>
            <a:r>
              <a:rPr b="1" i="0" lang="en-US" sz="2550" u="none" cap="none" strike="noStrike">
                <a:solidFill>
                  <a:srgbClr val="E4574C"/>
                </a:solidFill>
                <a:latin typeface="Noto Sans"/>
                <a:ea typeface="Noto Sans"/>
                <a:cs typeface="Noto Sans"/>
                <a:sym typeface="Noto Sans"/>
              </a:rPr>
              <a:t>!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0686157" y="3911600"/>
            <a:ext cx="1049387" cy="295275"/>
          </a:xfrm>
          <a:prstGeom prst="roundRect">
            <a:avLst>
              <a:gd fmla="val 50000" name="adj"/>
            </a:avLst>
          </a:prstGeom>
          <a:solidFill>
            <a:srgbClr val="E457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0857607" y="3962400"/>
            <a:ext cx="782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Noto Sans"/>
              <a:buNone/>
            </a:pPr>
            <a:r>
              <a:rPr b="1" i="0" lang="en-US" sz="1041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CONNECT</a:t>
            </a:r>
            <a:endParaRPr b="0" i="0" sz="10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3058775" y="2362200"/>
            <a:ext cx="4071461" cy="11275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258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300"/>
              <a:buFont typeface="Noto Sans"/>
              <a:buNone/>
            </a:pPr>
            <a:r>
              <a:rPr b="1" i="0" lang="en-US" sz="33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위험도 단계별 대응 (FastAPI)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3058775" y="3530600"/>
            <a:ext cx="4071461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감정 상태에 따라 콘텐츠 추천 또는 심각 시 긴급 상담 직통 연결 UI 즉시 팝업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857250" y="5969000"/>
            <a:ext cx="8067675" cy="4051300"/>
          </a:xfrm>
          <a:prstGeom prst="roundRect">
            <a:avLst>
              <a:gd fmla="val 5752" name="adj"/>
            </a:avLst>
          </a:prstGeom>
          <a:solidFill>
            <a:srgbClr val="FFFFFF"/>
          </a:solidFill>
          <a:ln>
            <a:noFill/>
          </a:ln>
          <a:effectLst>
            <a:outerShdw blurRad="381000" rotWithShape="0" algn="bl" dir="5400000" dist="152400">
              <a:srgbClr val="1E3C42">
                <a:alpha val="90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276350" y="6337300"/>
            <a:ext cx="2857500" cy="3327400"/>
          </a:xfrm>
          <a:prstGeom prst="roundRect">
            <a:avLst>
              <a:gd fmla="val 6000" name="adj"/>
            </a:avLst>
          </a:prstGeom>
          <a:solidFill>
            <a:srgbClr val="EAF1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990725" y="7366000"/>
            <a:ext cx="1428750" cy="1428750"/>
          </a:xfrm>
          <a:prstGeom prst="roundRect">
            <a:avLst>
              <a:gd fmla="val 25333" name="adj"/>
            </a:avLst>
          </a:prstGeom>
          <a:solidFill>
            <a:srgbClr val="AAB8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2124075" y="7480300"/>
            <a:ext cx="1162050" cy="1162050"/>
          </a:xfrm>
          <a:prstGeom prst="ellipse">
            <a:avLst/>
          </a:prstGeom>
          <a:solidFill>
            <a:srgbClr val="FFFFFF"/>
          </a:solidFill>
          <a:ln cap="flat" cmpd="sng" w="85725">
            <a:solidFill>
              <a:srgbClr val="2C7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552950" y="6337300"/>
            <a:ext cx="4071461" cy="19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258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300"/>
              <a:buFont typeface="Noto Sans"/>
              <a:buNone/>
            </a:pPr>
            <a:r>
              <a:rPr b="1" i="0" lang="en-US" sz="33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라이프로그 기반 감정 분석 (PyTorch, Scikit-learn)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552950" y="8458200"/>
            <a:ext cx="4071461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활동량·수면 단계(15분 주기), 체성분(측정 시)을 분석해 미세한 정서 변화 수치화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9363075" y="5969000"/>
            <a:ext cx="8067675" cy="4051300"/>
          </a:xfrm>
          <a:prstGeom prst="roundRect">
            <a:avLst>
              <a:gd fmla="val 5752" name="adj"/>
            </a:avLst>
          </a:prstGeom>
          <a:solidFill>
            <a:srgbClr val="FFFFFF"/>
          </a:solidFill>
          <a:ln>
            <a:noFill/>
          </a:ln>
          <a:effectLst>
            <a:outerShdw blurRad="381000" rotWithShape="0" algn="bl" dir="5400000" dist="152400">
              <a:srgbClr val="1E3C42">
                <a:alpha val="90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9782175" y="6337300"/>
            <a:ext cx="2857500" cy="3327400"/>
          </a:xfrm>
          <a:prstGeom prst="roundRect">
            <a:avLst>
              <a:gd fmla="val 6000" name="adj"/>
            </a:avLst>
          </a:prstGeom>
          <a:solidFill>
            <a:srgbClr val="EAF1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258425" y="7416800"/>
            <a:ext cx="895350" cy="609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9050">
            <a:solidFill>
              <a:srgbClr val="CDDA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1268075" y="7416800"/>
            <a:ext cx="895350" cy="609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9050">
            <a:solidFill>
              <a:srgbClr val="CDDA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0258425" y="8051800"/>
            <a:ext cx="895350" cy="609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9050">
            <a:solidFill>
              <a:srgbClr val="CDDA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1268075" y="8051800"/>
            <a:ext cx="895350" cy="609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9050">
            <a:solidFill>
              <a:srgbClr val="CDDA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3058775" y="6807200"/>
            <a:ext cx="4071461" cy="11275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258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300"/>
              <a:buFont typeface="Noto Sans"/>
              <a:buNone/>
            </a:pPr>
            <a:r>
              <a:rPr b="1" i="0" lang="en-US" sz="33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정서 리포트 대시보드 (React, Chart.js)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3058775" y="7975600"/>
            <a:ext cx="4071461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기간별 감정 스코어 추이 시각화, 관리자 관제 및 PDF 내보내기 지원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1503926" y="507283"/>
            <a:ext cx="146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핵심 기능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669131" y="1524000"/>
            <a:ext cx="8329613" cy="5085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1481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850"/>
              <a:buFont typeface="Noto Sans"/>
              <a:buNone/>
            </a:pPr>
            <a:r>
              <a:rPr b="1" i="0" lang="en-US" sz="28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글로벌 정신건강 앱 연평균 성장률: 18.3%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69131" y="2044700"/>
            <a:ext cx="832961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550"/>
              <a:buFont typeface="Noto Sans"/>
              <a:buNone/>
            </a:pPr>
            <a:r>
              <a:rPr b="0" i="0" lang="en-US" sz="255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(2030년 184.5억 달러)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588125" y="3700189"/>
            <a:ext cx="778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7F82"/>
              </a:buClr>
              <a:buSzPts val="1950"/>
              <a:buFont typeface="Noto Sans"/>
              <a:buNone/>
            </a:pPr>
            <a:r>
              <a:rPr b="1" lang="en-US" sz="1950">
                <a:solidFill>
                  <a:srgbClr val="6B7F82"/>
                </a:solidFill>
                <a:latin typeface="Noto Sans"/>
                <a:ea typeface="Noto Sans"/>
                <a:cs typeface="Noto Sans"/>
                <a:sym typeface="Noto Sans"/>
              </a:rPr>
              <a:t>79.8억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063525" y="3983338"/>
            <a:ext cx="1827711" cy="685752"/>
          </a:xfrm>
          <a:custGeom>
            <a:rect b="b" l="l" r="r" t="t"/>
            <a:pathLst>
              <a:path extrusionOk="0" h="323850" w="889397">
                <a:moveTo>
                  <a:pt x="76200" y="0"/>
                </a:moveTo>
                <a:lnTo>
                  <a:pt x="813197" y="0"/>
                </a:lnTo>
                <a:cubicBezTo>
                  <a:pt x="833406" y="0"/>
                  <a:pt x="852788" y="8028"/>
                  <a:pt x="867079" y="22318"/>
                </a:cubicBezTo>
                <a:cubicBezTo>
                  <a:pt x="881369" y="36609"/>
                  <a:pt x="889397" y="55991"/>
                  <a:pt x="889397" y="76200"/>
                </a:cubicBezTo>
                <a:lnTo>
                  <a:pt x="889397" y="323850"/>
                </a:lnTo>
                <a:lnTo>
                  <a:pt x="0" y="323850"/>
                </a:ln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EF3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514602" y="2430112"/>
            <a:ext cx="105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250"/>
              <a:buFont typeface="Noto Sans"/>
              <a:buNone/>
            </a:pPr>
            <a:r>
              <a:rPr b="1" i="0" lang="en-US" sz="22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184.5억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127190" y="2785800"/>
            <a:ext cx="1829043" cy="1885950"/>
          </a:xfrm>
          <a:custGeom>
            <a:rect b="b" l="l" r="r" t="t"/>
            <a:pathLst>
              <a:path extrusionOk="0" h="1885950" w="978098">
                <a:moveTo>
                  <a:pt x="76200" y="0"/>
                </a:moveTo>
                <a:lnTo>
                  <a:pt x="901898" y="0"/>
                </a:lnTo>
                <a:cubicBezTo>
                  <a:pt x="922107" y="0"/>
                  <a:pt x="941489" y="8028"/>
                  <a:pt x="955780" y="22318"/>
                </a:cubicBezTo>
                <a:cubicBezTo>
                  <a:pt x="970070" y="36609"/>
                  <a:pt x="978098" y="55991"/>
                  <a:pt x="978098" y="76200"/>
                </a:cubicBezTo>
                <a:lnTo>
                  <a:pt x="978098" y="1885950"/>
                </a:lnTo>
                <a:lnTo>
                  <a:pt x="0" y="1885950"/>
                </a:ln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9289256" y="1524000"/>
            <a:ext cx="83295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1481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850"/>
              <a:buFont typeface="Noto Sans"/>
              <a:buNone/>
            </a:pPr>
            <a:r>
              <a:rPr b="1" lang="en-US" sz="285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국내 스마트워치 보유율</a:t>
            </a:r>
            <a:r>
              <a:rPr b="1" i="0" lang="en-US" sz="28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: </a:t>
            </a:r>
            <a:r>
              <a:rPr b="1" lang="en-US" sz="285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31.3% → 55.7%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9289256" y="2044700"/>
            <a:ext cx="8329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550"/>
              <a:buFont typeface="Noto Sans"/>
              <a:buNone/>
            </a:pPr>
            <a:r>
              <a:rPr lang="en-US" sz="2550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(2021→2023, KISDI)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1249788" y="3598200"/>
            <a:ext cx="2287067" cy="1074801"/>
          </a:xfrm>
          <a:custGeom>
            <a:rect b="b" l="l" r="r" t="t"/>
            <a:pathLst>
              <a:path extrusionOk="0" h="1181100" w="902196">
                <a:moveTo>
                  <a:pt x="76200" y="0"/>
                </a:moveTo>
                <a:lnTo>
                  <a:pt x="825996" y="0"/>
                </a:lnTo>
                <a:cubicBezTo>
                  <a:pt x="846205" y="0"/>
                  <a:pt x="865587" y="8028"/>
                  <a:pt x="879878" y="22318"/>
                </a:cubicBezTo>
                <a:cubicBezTo>
                  <a:pt x="894168" y="36609"/>
                  <a:pt x="902196" y="55991"/>
                  <a:pt x="902196" y="76200"/>
                </a:cubicBezTo>
                <a:lnTo>
                  <a:pt x="902196" y="1181100"/>
                </a:lnTo>
                <a:lnTo>
                  <a:pt x="0" y="1181100"/>
                </a:ln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EF3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4976749" y="2719351"/>
            <a:ext cx="778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82"/>
              </a:buClr>
              <a:buSzPts val="1950"/>
              <a:buFont typeface="Noto Sans"/>
              <a:buNone/>
            </a:pPr>
            <a:r>
              <a:rPr b="1" lang="en-US" sz="1950">
                <a:solidFill>
                  <a:srgbClr val="6B7F82"/>
                </a:solidFill>
                <a:latin typeface="Noto Sans"/>
                <a:ea typeface="Noto Sans"/>
                <a:cs typeface="Noto Sans"/>
                <a:sym typeface="Noto Sans"/>
              </a:rPr>
              <a:t>55.7%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451119" y="5524500"/>
            <a:ext cx="30885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550"/>
              <a:buFont typeface="Noto Sans"/>
              <a:buNone/>
            </a:pPr>
            <a:r>
              <a:rPr b="1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마인드카페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7344757" y="5575300"/>
            <a:ext cx="329844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550"/>
              <a:buFont typeface="Noto Sans"/>
              <a:buNone/>
            </a:pPr>
            <a:r>
              <a:rPr b="1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Wysa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448297" y="5524500"/>
            <a:ext cx="30885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550"/>
              <a:buFont typeface="Noto Sans"/>
              <a:buNone/>
            </a:pPr>
            <a:r>
              <a:rPr b="1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삼성헬스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3491875" y="5346700"/>
            <a:ext cx="3748385" cy="835938"/>
          </a:xfrm>
          <a:custGeom>
            <a:rect b="b" l="l" r="r" t="t"/>
            <a:pathLst>
              <a:path extrusionOk="0" h="809625" w="3748385">
                <a:moveTo>
                  <a:pt x="152400" y="0"/>
                </a:moveTo>
                <a:lnTo>
                  <a:pt x="3595985" y="0"/>
                </a:lnTo>
                <a:cubicBezTo>
                  <a:pt x="3636404" y="0"/>
                  <a:pt x="3675168" y="16056"/>
                  <a:pt x="3703748" y="44637"/>
                </a:cubicBezTo>
                <a:cubicBezTo>
                  <a:pt x="3732329" y="73217"/>
                  <a:pt x="3748385" y="111981"/>
                  <a:pt x="3748385" y="152400"/>
                </a:cubicBezTo>
                <a:lnTo>
                  <a:pt x="3748385" y="809625"/>
                </a:lnTo>
                <a:lnTo>
                  <a:pt x="0" y="809625"/>
                </a:ln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E6F1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3435639" y="5626100"/>
            <a:ext cx="386083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550"/>
              <a:buFont typeface="Noto Sans"/>
              <a:buNone/>
            </a:pPr>
            <a:r>
              <a:rPr b="1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본 프로젝트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047750" y="6451600"/>
            <a:ext cx="355179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라이프로그 자동 수집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451119" y="6400800"/>
            <a:ext cx="30885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74C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E4574C"/>
                </a:solidFill>
                <a:latin typeface="Noto Sans"/>
                <a:ea typeface="Noto Sans"/>
                <a:cs typeface="Noto Sans"/>
                <a:sym typeface="Noto Sans"/>
              </a:rPr>
              <a:t>✕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7449708" y="6400800"/>
            <a:ext cx="3088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74C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E4574C"/>
                </a:solidFill>
                <a:latin typeface="Noto Sans"/>
                <a:ea typeface="Noto Sans"/>
                <a:cs typeface="Noto Sans"/>
                <a:sym typeface="Noto Sans"/>
              </a:rPr>
              <a:t>✕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0448297" y="6400800"/>
            <a:ext cx="30885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9FD0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7F9FD0"/>
                </a:solidFill>
                <a:latin typeface="Noto Sans"/>
                <a:ea typeface="Noto Sans"/>
                <a:cs typeface="Noto Sans"/>
                <a:sym typeface="Noto Sans"/>
              </a:rPr>
              <a:t>○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13491875" y="6207125"/>
            <a:ext cx="3748500" cy="885900"/>
          </a:xfrm>
          <a:prstGeom prst="rect">
            <a:avLst/>
          </a:prstGeom>
          <a:solidFill>
            <a:srgbClr val="E6F1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3435639" y="6388100"/>
            <a:ext cx="386083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7A73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○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047750" y="7327900"/>
            <a:ext cx="355179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AI 기반 정서 분석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451119" y="7277100"/>
            <a:ext cx="30885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74C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E4574C"/>
                </a:solidFill>
                <a:latin typeface="Noto Sans"/>
                <a:ea typeface="Noto Sans"/>
                <a:cs typeface="Noto Sans"/>
                <a:sym typeface="Noto Sans"/>
              </a:rPr>
              <a:t>✕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7449708" y="7277100"/>
            <a:ext cx="30885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74C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E4574C"/>
                </a:solidFill>
                <a:latin typeface="Noto Sans"/>
                <a:ea typeface="Noto Sans"/>
                <a:cs typeface="Noto Sans"/>
                <a:sym typeface="Noto Sans"/>
              </a:rPr>
              <a:t>✕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0448297" y="7277100"/>
            <a:ext cx="30885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74C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E4574C"/>
                </a:solidFill>
                <a:latin typeface="Noto Sans"/>
                <a:ea typeface="Noto Sans"/>
                <a:cs typeface="Noto Sans"/>
                <a:sym typeface="Noto Sans"/>
              </a:rPr>
              <a:t>✕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3491875" y="7112000"/>
            <a:ext cx="3748500" cy="885900"/>
          </a:xfrm>
          <a:prstGeom prst="rect">
            <a:avLst/>
          </a:prstGeom>
          <a:solidFill>
            <a:srgbClr val="E6F1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3435639" y="7264400"/>
            <a:ext cx="386083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7A73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○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047750" y="8204200"/>
            <a:ext cx="355179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위험도 자동 분류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451119" y="8153400"/>
            <a:ext cx="30885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74C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E4574C"/>
                </a:solidFill>
                <a:latin typeface="Noto Sans"/>
                <a:ea typeface="Noto Sans"/>
                <a:cs typeface="Noto Sans"/>
                <a:sym typeface="Noto Sans"/>
              </a:rPr>
              <a:t>✕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7449708" y="8153400"/>
            <a:ext cx="30885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9FD0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7F9FD0"/>
                </a:solidFill>
                <a:latin typeface="Noto Sans"/>
                <a:ea typeface="Noto Sans"/>
                <a:cs typeface="Noto Sans"/>
                <a:sym typeface="Noto Sans"/>
              </a:rPr>
              <a:t>△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0448297" y="8153400"/>
            <a:ext cx="30885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74C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E4574C"/>
                </a:solidFill>
                <a:latin typeface="Noto Sans"/>
                <a:ea typeface="Noto Sans"/>
                <a:cs typeface="Noto Sans"/>
                <a:sym typeface="Noto Sans"/>
              </a:rPr>
              <a:t>✕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3491875" y="8022300"/>
            <a:ext cx="3748385" cy="835819"/>
          </a:xfrm>
          <a:custGeom>
            <a:rect b="b" l="l" r="r" t="t"/>
            <a:pathLst>
              <a:path extrusionOk="0" h="857250" w="3748385">
                <a:moveTo>
                  <a:pt x="0" y="0"/>
                </a:moveTo>
                <a:lnTo>
                  <a:pt x="3748385" y="0"/>
                </a:lnTo>
                <a:lnTo>
                  <a:pt x="3748385" y="704850"/>
                </a:lnTo>
                <a:cubicBezTo>
                  <a:pt x="3748385" y="789018"/>
                  <a:pt x="3680153" y="857250"/>
                  <a:pt x="3595985" y="857250"/>
                </a:cubicBezTo>
                <a:lnTo>
                  <a:pt x="152400" y="857250"/>
                </a:lnTo>
                <a:cubicBezTo>
                  <a:pt x="68232" y="857250"/>
                  <a:pt x="0" y="789018"/>
                  <a:pt x="0" y="704850"/>
                </a:cubicBezTo>
                <a:lnTo>
                  <a:pt x="0" y="0"/>
                </a:lnTo>
                <a:close/>
              </a:path>
            </a:pathLst>
          </a:custGeom>
          <a:solidFill>
            <a:srgbClr val="E6F1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13435639" y="8153400"/>
            <a:ext cx="3860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7A73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○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916882" y="9067800"/>
            <a:ext cx="12454086" cy="885825"/>
          </a:xfrm>
          <a:prstGeom prst="roundRect">
            <a:avLst>
              <a:gd fmla="val 23656" name="adj"/>
            </a:avLst>
          </a:prstGeom>
          <a:solidFill>
            <a:srgbClr val="FDF6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355032" y="9271000"/>
            <a:ext cx="11951409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550"/>
              <a:buFont typeface="Noto Sans"/>
              <a:buNone/>
            </a:pPr>
            <a:r>
              <a:rPr b="1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생체 데이터 수집, AI 정서 분석, 자동 위험 분류를 단일 서비스로 통합한 유일한 솔루션.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1282700" y="508000"/>
            <a:ext cx="146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시장 성장성과 경쟁 포지셔닝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2004074" y="3207600"/>
            <a:ext cx="778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82"/>
              </a:buClr>
              <a:buSzPts val="1950"/>
              <a:buFont typeface="Noto Sans"/>
              <a:buNone/>
            </a:pPr>
            <a:r>
              <a:rPr b="1" lang="en-US" sz="1950">
                <a:solidFill>
                  <a:srgbClr val="6B7F82"/>
                </a:solidFill>
                <a:latin typeface="Noto Sans"/>
                <a:ea typeface="Noto Sans"/>
                <a:cs typeface="Noto Sans"/>
                <a:sym typeface="Noto Sans"/>
              </a:rPr>
              <a:t>31.3%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4222594" y="3115975"/>
            <a:ext cx="2287067" cy="1555909"/>
          </a:xfrm>
          <a:custGeom>
            <a:rect b="b" l="l" r="r" t="t"/>
            <a:pathLst>
              <a:path extrusionOk="0" h="1885950" w="902196">
                <a:moveTo>
                  <a:pt x="76200" y="0"/>
                </a:moveTo>
                <a:lnTo>
                  <a:pt x="825996" y="0"/>
                </a:lnTo>
                <a:cubicBezTo>
                  <a:pt x="846205" y="0"/>
                  <a:pt x="865587" y="8028"/>
                  <a:pt x="879878" y="22318"/>
                </a:cubicBezTo>
                <a:cubicBezTo>
                  <a:pt x="894168" y="36609"/>
                  <a:pt x="902196" y="55991"/>
                  <a:pt x="902196" y="76200"/>
                </a:cubicBezTo>
                <a:lnTo>
                  <a:pt x="902196" y="1885950"/>
                </a:lnTo>
                <a:lnTo>
                  <a:pt x="0" y="1885950"/>
                </a:ln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2004074" y="4649313"/>
            <a:ext cx="778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82"/>
              </a:buClr>
              <a:buSzPts val="1950"/>
              <a:buFont typeface="Noto Sans"/>
              <a:buNone/>
            </a:pPr>
            <a:r>
              <a:rPr b="1" lang="en-US" sz="1950">
                <a:solidFill>
                  <a:srgbClr val="6B7F82"/>
                </a:solidFill>
                <a:latin typeface="Noto Sans"/>
                <a:ea typeface="Noto Sans"/>
                <a:cs typeface="Noto Sans"/>
                <a:sym typeface="Noto Sans"/>
              </a:rPr>
              <a:t>2021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4945287" y="4635488"/>
            <a:ext cx="778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82"/>
              </a:buClr>
              <a:buSzPts val="1950"/>
              <a:buFont typeface="Noto Sans"/>
              <a:buNone/>
            </a:pPr>
            <a:r>
              <a:rPr b="1" lang="en-US" sz="1950">
                <a:solidFill>
                  <a:srgbClr val="6B7F82"/>
                </a:solidFill>
                <a:latin typeface="Noto Sans"/>
                <a:ea typeface="Noto Sans"/>
                <a:cs typeface="Noto Sans"/>
                <a:sym typeface="Noto Sans"/>
              </a:rPr>
              <a:t>2023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6"/>
          <p:cNvCxnSpPr/>
          <p:nvPr/>
        </p:nvCxnSpPr>
        <p:spPr>
          <a:xfrm>
            <a:off x="1028525" y="7994725"/>
            <a:ext cx="124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6"/>
          <p:cNvSpPr/>
          <p:nvPr/>
        </p:nvSpPr>
        <p:spPr>
          <a:xfrm>
            <a:off x="4621925" y="3432112"/>
            <a:ext cx="778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7F82"/>
              </a:buClr>
              <a:buSzPts val="1950"/>
              <a:buFont typeface="Noto Sans"/>
              <a:buNone/>
            </a:pPr>
            <a:r>
              <a:rPr b="1" lang="en-US" sz="1950">
                <a:solidFill>
                  <a:srgbClr val="6B7F82"/>
                </a:solidFill>
                <a:latin typeface="Noto Sans"/>
                <a:ea typeface="Noto Sans"/>
                <a:cs typeface="Noto Sans"/>
                <a:sym typeface="Noto Sans"/>
              </a:rPr>
              <a:t>94.4</a:t>
            </a:r>
            <a:r>
              <a:rPr b="1" lang="en-US" sz="1950">
                <a:solidFill>
                  <a:srgbClr val="6B7F82"/>
                </a:solidFill>
                <a:latin typeface="Noto Sans"/>
                <a:ea typeface="Noto Sans"/>
                <a:cs typeface="Noto Sans"/>
                <a:sym typeface="Noto Sans"/>
              </a:rPr>
              <a:t>억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6"/>
          <p:cNvCxnSpPr/>
          <p:nvPr/>
        </p:nvCxnSpPr>
        <p:spPr>
          <a:xfrm>
            <a:off x="1028525" y="7100291"/>
            <a:ext cx="124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6"/>
          <p:cNvCxnSpPr/>
          <p:nvPr/>
        </p:nvCxnSpPr>
        <p:spPr>
          <a:xfrm>
            <a:off x="1028525" y="8858250"/>
            <a:ext cx="124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6"/>
          <p:cNvCxnSpPr/>
          <p:nvPr/>
        </p:nvCxnSpPr>
        <p:spPr>
          <a:xfrm>
            <a:off x="1028525" y="6182641"/>
            <a:ext cx="1246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6"/>
          <p:cNvCxnSpPr/>
          <p:nvPr/>
        </p:nvCxnSpPr>
        <p:spPr>
          <a:xfrm>
            <a:off x="1028525" y="5329666"/>
            <a:ext cx="1250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6"/>
          <p:cNvSpPr/>
          <p:nvPr/>
        </p:nvSpPr>
        <p:spPr>
          <a:xfrm>
            <a:off x="4097318" y="3731404"/>
            <a:ext cx="1827711" cy="941594"/>
          </a:xfrm>
          <a:custGeom>
            <a:rect b="b" l="l" r="r" t="t"/>
            <a:pathLst>
              <a:path extrusionOk="0" h="323850" w="889397">
                <a:moveTo>
                  <a:pt x="76200" y="0"/>
                </a:moveTo>
                <a:lnTo>
                  <a:pt x="813197" y="0"/>
                </a:lnTo>
                <a:cubicBezTo>
                  <a:pt x="833406" y="0"/>
                  <a:pt x="852788" y="8028"/>
                  <a:pt x="867079" y="22318"/>
                </a:cubicBezTo>
                <a:cubicBezTo>
                  <a:pt x="881369" y="36609"/>
                  <a:pt x="889397" y="55991"/>
                  <a:pt x="889397" y="76200"/>
                </a:cubicBezTo>
                <a:lnTo>
                  <a:pt x="889397" y="323850"/>
                </a:lnTo>
                <a:lnTo>
                  <a:pt x="0" y="323850"/>
                </a:ln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EF3F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6"/>
          <p:cNvCxnSpPr/>
          <p:nvPr/>
        </p:nvCxnSpPr>
        <p:spPr>
          <a:xfrm>
            <a:off x="11246825" y="4673000"/>
            <a:ext cx="526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6"/>
          <p:cNvCxnSpPr/>
          <p:nvPr/>
        </p:nvCxnSpPr>
        <p:spPr>
          <a:xfrm>
            <a:off x="1061700" y="4673012"/>
            <a:ext cx="78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6"/>
          <p:cNvSpPr/>
          <p:nvPr/>
        </p:nvSpPr>
        <p:spPr>
          <a:xfrm>
            <a:off x="7652449" y="4657209"/>
            <a:ext cx="778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82"/>
              </a:buClr>
              <a:buSzPts val="1950"/>
              <a:buFont typeface="Noto Sans"/>
              <a:buNone/>
            </a:pPr>
            <a:r>
              <a:rPr b="1" lang="en-US" sz="1950">
                <a:solidFill>
                  <a:srgbClr val="6B7F82"/>
                </a:solidFill>
                <a:latin typeface="Noto Sans"/>
                <a:ea typeface="Noto Sans"/>
                <a:cs typeface="Noto Sans"/>
                <a:sym typeface="Noto Sans"/>
              </a:rPr>
              <a:t>2030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621924" y="4660876"/>
            <a:ext cx="778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82"/>
              </a:buClr>
              <a:buSzPts val="1950"/>
              <a:buFont typeface="Noto Sans"/>
              <a:buNone/>
            </a:pPr>
            <a:r>
              <a:rPr b="1" lang="en-US" sz="1950">
                <a:solidFill>
                  <a:srgbClr val="6B7F82"/>
                </a:solidFill>
                <a:latin typeface="Noto Sans"/>
                <a:ea typeface="Noto Sans"/>
                <a:cs typeface="Noto Sans"/>
                <a:sym typeface="Noto Sans"/>
              </a:rPr>
              <a:t>202</a:t>
            </a:r>
            <a:r>
              <a:rPr b="1" lang="en-US" sz="1950">
                <a:solidFill>
                  <a:srgbClr val="6B7F82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588137" y="4660876"/>
            <a:ext cx="778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82"/>
              </a:buClr>
              <a:buSzPts val="1950"/>
              <a:buFont typeface="Noto Sans"/>
              <a:buNone/>
            </a:pPr>
            <a:r>
              <a:rPr b="1" lang="en-US" sz="1950">
                <a:solidFill>
                  <a:srgbClr val="6B7F82"/>
                </a:solidFill>
                <a:latin typeface="Noto Sans"/>
                <a:ea typeface="Noto Sans"/>
                <a:cs typeface="Noto Sans"/>
                <a:sym typeface="Noto Sans"/>
              </a:rPr>
              <a:t>2025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1047750" y="1652588"/>
            <a:ext cx="8412956" cy="6981825"/>
          </a:xfrm>
          <a:prstGeom prst="roundRect">
            <a:avLst>
              <a:gd fmla="val 4638" name="adj"/>
            </a:avLst>
          </a:prstGeom>
          <a:solidFill>
            <a:srgbClr val="FFFFFF"/>
          </a:solidFill>
          <a:ln>
            <a:noFill/>
          </a:ln>
          <a:effectLst>
            <a:outerShdw blurRad="438150" rotWithShape="0" algn="bl" dir="5400000" dist="171450">
              <a:srgbClr val="1E3C4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428750" y="5138738"/>
            <a:ext cx="3825478" cy="9525"/>
          </a:xfrm>
          <a:prstGeom prst="rect">
            <a:avLst/>
          </a:prstGeom>
          <a:solidFill>
            <a:srgbClr val="DDE4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244703" y="2185988"/>
            <a:ext cx="9525" cy="2962275"/>
          </a:xfrm>
          <a:prstGeom prst="rect">
            <a:avLst/>
          </a:prstGeom>
          <a:solidFill>
            <a:srgbClr val="DDE4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594187" y="2547938"/>
            <a:ext cx="348507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7A73"/>
              </a:buClr>
              <a:buSzPts val="3300"/>
              <a:buFont typeface="Noto Sans"/>
              <a:buNone/>
            </a:pPr>
            <a:r>
              <a:rPr b="1" i="0" lang="en-US" sz="33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SO </a:t>
            </a:r>
            <a:r>
              <a:rPr b="1" i="0" lang="en-US" sz="33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(강점+기회)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705076" y="3405188"/>
            <a:ext cx="3263301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수집-분석-대응 통합 파이프라인으로 경쟁 부재 시장 선점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254228" y="5138738"/>
            <a:ext cx="3825478" cy="9525"/>
          </a:xfrm>
          <a:prstGeom prst="rect">
            <a:avLst/>
          </a:prstGeom>
          <a:solidFill>
            <a:srgbClr val="DDE4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419189" y="2547938"/>
            <a:ext cx="3495556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7A73"/>
              </a:buClr>
              <a:buSzPts val="3300"/>
              <a:buFont typeface="Noto Sans"/>
              <a:buNone/>
            </a:pPr>
            <a:r>
              <a:rPr b="1" i="0" lang="en-US" sz="33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ST </a:t>
            </a:r>
            <a:r>
              <a:rPr b="1" i="0" lang="en-US" sz="33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(강점+위협)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530400" y="3405200"/>
            <a:ext cx="33843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00"/>
              <a:buFont typeface="Noto Sans"/>
              <a:buNone/>
            </a:pPr>
            <a:r>
              <a:rPr lang="en-US" sz="24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위험도 기반 계층적 데이터 보호 설계로 규제 강화 및 감시 우려 선제 대응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244703" y="5148263"/>
            <a:ext cx="9525" cy="2952750"/>
          </a:xfrm>
          <a:prstGeom prst="rect">
            <a:avLst/>
          </a:prstGeom>
          <a:solidFill>
            <a:srgbClr val="DDE4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1594187" y="5510213"/>
            <a:ext cx="348507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7A73"/>
              </a:buClr>
              <a:buSzPts val="3300"/>
              <a:buFont typeface="Noto Sans"/>
              <a:buNone/>
            </a:pPr>
            <a:r>
              <a:rPr b="1" i="0" lang="en-US" sz="33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WO </a:t>
            </a:r>
            <a:r>
              <a:rPr b="1" i="0" lang="en-US" sz="33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(약점+기회)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1705075" y="6367475"/>
            <a:ext cx="33843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00"/>
              <a:buFont typeface="Noto Sans"/>
              <a:buNone/>
            </a:pPr>
            <a:r>
              <a:rPr lang="en-US" sz="24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무료 공개 데이터셋과 교내 공용 PostgreSQL 로 데이터·인프라 비용 절감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419189" y="5510213"/>
            <a:ext cx="3495556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A39C"/>
              </a:buClr>
              <a:buSzPts val="3300"/>
              <a:buFont typeface="Noto Sans"/>
              <a:buNone/>
            </a:pPr>
            <a:r>
              <a:rPr b="1" i="0" lang="en-US" sz="3300" u="none" cap="none" strike="noStrike">
                <a:solidFill>
                  <a:srgbClr val="5FA39C"/>
                </a:solidFill>
                <a:latin typeface="Noto Sans"/>
                <a:ea typeface="Noto Sans"/>
                <a:cs typeface="Noto Sans"/>
                <a:sym typeface="Noto Sans"/>
              </a:rPr>
              <a:t>WT </a:t>
            </a:r>
            <a:r>
              <a:rPr b="1" i="0" lang="en-US" sz="33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(약점+위협)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406500" y="6367475"/>
            <a:ext cx="36195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ctr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승인 절차 없는 공개 데이터셋으로 학습 범위 한정, 공개 데이터 기반 검증</a:t>
            </a:r>
            <a:endParaRPr sz="2400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00"/>
              <a:buFont typeface="Noto Sans"/>
              <a:buNone/>
            </a:pPr>
            <a:r>
              <a:t/>
            </a:r>
            <a:endParaRPr sz="2400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12178903" y="1979265"/>
            <a:ext cx="3200400" cy="3200400"/>
          </a:xfrm>
          <a:prstGeom prst="ellipse">
            <a:avLst/>
          </a:prstGeom>
          <a:noFill/>
          <a:ln cap="flat" cmpd="sng" w="28575">
            <a:solidFill>
              <a:srgbClr val="CFE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12607528" y="2407890"/>
            <a:ext cx="2343150" cy="2343150"/>
          </a:xfrm>
          <a:prstGeom prst="ellipse">
            <a:avLst/>
          </a:prstGeom>
          <a:noFill/>
          <a:ln cap="flat" cmpd="sng" w="28575">
            <a:solidFill>
              <a:srgbClr val="B8D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3036153" y="2836515"/>
            <a:ext cx="1485900" cy="1485900"/>
          </a:xfrm>
          <a:prstGeom prst="ellipse">
            <a:avLst/>
          </a:prstGeom>
          <a:noFill/>
          <a:ln cap="flat" cmpd="sng" w="28575">
            <a:solidFill>
              <a:srgbClr val="9ED6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11969353" y="3560415"/>
            <a:ext cx="3619500" cy="38100"/>
          </a:xfrm>
          <a:prstGeom prst="rect">
            <a:avLst/>
          </a:prstGeom>
          <a:solidFill>
            <a:srgbClr val="7FCD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13760053" y="1769715"/>
            <a:ext cx="38100" cy="3619500"/>
          </a:xfrm>
          <a:prstGeom prst="rect">
            <a:avLst/>
          </a:prstGeom>
          <a:solidFill>
            <a:srgbClr val="7FCD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3512403" y="3312765"/>
            <a:ext cx="533400" cy="533400"/>
          </a:xfrm>
          <a:prstGeom prst="ellipse">
            <a:avLst/>
          </a:prstGeom>
          <a:solidFill>
            <a:srgbClr val="4FD0BD"/>
          </a:solidFill>
          <a:ln>
            <a:noFill/>
          </a:ln>
          <a:effectLst>
            <a:outerShdw blurRad="381000" rotWithShape="0" algn="bl" dir="16200000" dist="50800">
              <a:srgbClr val="4FD0BD">
                <a:alpha val="5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10317956" y="5817840"/>
            <a:ext cx="174728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7A73"/>
              </a:buClr>
              <a:buSzPts val="3825"/>
              <a:buFont typeface="Noto Sans"/>
              <a:buNone/>
            </a:pPr>
            <a:r>
              <a:rPr b="1" i="0" lang="en-US" sz="3825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Target</a:t>
            </a:r>
            <a:endParaRPr b="0" i="0" sz="3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10317956" y="6684615"/>
            <a:ext cx="7129963" cy="1632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856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700"/>
              <a:buFont typeface="Noto Sans"/>
              <a:buNone/>
            </a:pPr>
            <a:r>
              <a:rPr b="0" i="0" lang="en-US" sz="27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스마트워치를 사용하는 1인가구. 고립감은 있으나 직접적인 감정 기록과 상담에는 부담을 느끼는 니치 마켓.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1282700" y="508000"/>
            <a:ext cx="146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SWOT 전략과 타깃 고객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EF4F5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952500" y="1771650"/>
            <a:ext cx="4837956" cy="6743700"/>
          </a:xfrm>
          <a:prstGeom prst="roundRect">
            <a:avLst>
              <a:gd fmla="val 5119" name="adj"/>
            </a:avLst>
          </a:prstGeom>
          <a:solidFill>
            <a:srgbClr val="FFFFFF"/>
          </a:solidFill>
          <a:ln>
            <a:noFill/>
          </a:ln>
          <a:effectLst>
            <a:outerShdw blurRad="381000" rotWithShape="0" algn="bl" dir="5400000" dist="152400">
              <a:srgbClr val="1E3C42">
                <a:alpha val="90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1129702" y="2190750"/>
            <a:ext cx="4483551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수집 계층 (Client)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1438275" y="3162300"/>
            <a:ext cx="1028700" cy="1181100"/>
          </a:xfrm>
          <a:prstGeom prst="roundRect">
            <a:avLst>
              <a:gd fmla="val 24074" name="adj"/>
            </a:avLst>
          </a:prstGeom>
          <a:solidFill>
            <a:srgbClr val="DFE7EC"/>
          </a:solidFill>
          <a:ln cap="flat" cmpd="sng" w="57150">
            <a:solidFill>
              <a:srgbClr val="C3D0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1381125" y="4552950"/>
            <a:ext cx="1143000" cy="800100"/>
          </a:xfrm>
          <a:prstGeom prst="roundRect">
            <a:avLst>
              <a:gd fmla="val 16667" name="adj"/>
            </a:avLst>
          </a:prstGeom>
          <a:solidFill>
            <a:srgbClr val="E7EDF1"/>
          </a:solidFill>
          <a:ln cap="flat" cmpd="sng" w="47625">
            <a:solidFill>
              <a:srgbClr val="CFD9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1466850" y="5562600"/>
            <a:ext cx="971550" cy="1524000"/>
          </a:xfrm>
          <a:prstGeom prst="roundRect">
            <a:avLst>
              <a:gd fmla="val 17647" name="adj"/>
            </a:avLst>
          </a:prstGeom>
          <a:solidFill>
            <a:srgbClr val="E2ECEF"/>
          </a:solidFill>
          <a:ln cap="flat" cmpd="sng" w="47625">
            <a:solidFill>
              <a:srgbClr val="C9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2876550" y="3980259"/>
            <a:ext cx="2609106" cy="23263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472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581"/>
              <a:buFont typeface="Noto Sans"/>
              <a:buNone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스마트워치(Health Connect), 체성분계, 앱 클라이언트(Flutter) · 관리자 웹(React)</a:t>
            </a:r>
            <a:endParaRPr b="0" i="0" sz="2325" u="none" cap="none" strike="noStrike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5752356" y="4838700"/>
            <a:ext cx="647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BA"/>
              </a:buClr>
              <a:buSzPts val="3300"/>
              <a:buFont typeface="Noto Sans"/>
              <a:buNone/>
            </a:pPr>
            <a:r>
              <a:rPr b="0" i="0" lang="en-US" sz="3300" u="none" cap="none" strike="noStrike">
                <a:solidFill>
                  <a:srgbClr val="A9B8BA"/>
                </a:solidFill>
                <a:latin typeface="Noto Sans"/>
                <a:ea typeface="Noto Sans"/>
                <a:cs typeface="Noto Sans"/>
                <a:sym typeface="Noto Sans"/>
              </a:rPr>
              <a:t>›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361956" y="1593056"/>
            <a:ext cx="5563939" cy="4281488"/>
          </a:xfrm>
          <a:prstGeom prst="roundRect">
            <a:avLst>
              <a:gd fmla="val 5784" name="adj"/>
            </a:avLst>
          </a:prstGeom>
          <a:solidFill>
            <a:srgbClr val="FFFFFF"/>
          </a:solidFill>
          <a:ln>
            <a:noFill/>
          </a:ln>
          <a:effectLst>
            <a:outerShdw blurRad="381000" rotWithShape="0" algn="bl" dir="5400000" dist="152400">
              <a:srgbClr val="1E3C42">
                <a:alpha val="90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6670927" y="1974056"/>
            <a:ext cx="4945998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메인 백엔드 (Business Server)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6742956" y="3548063"/>
            <a:ext cx="1428750" cy="361950"/>
          </a:xfrm>
          <a:prstGeom prst="roundRect">
            <a:avLst>
              <a:gd fmla="val 15789" name="adj"/>
            </a:avLst>
          </a:prstGeom>
          <a:solidFill>
            <a:srgbClr val="CFDAE2"/>
          </a:solidFill>
          <a:ln cap="flat" cmpd="sng" w="28575">
            <a:solidFill>
              <a:srgbClr val="A9B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742956" y="3986213"/>
            <a:ext cx="1428750" cy="361950"/>
          </a:xfrm>
          <a:prstGeom prst="roundRect">
            <a:avLst>
              <a:gd fmla="val 15789" name="adj"/>
            </a:avLst>
          </a:prstGeom>
          <a:solidFill>
            <a:srgbClr val="CFDAE2"/>
          </a:solidFill>
          <a:ln cap="flat" cmpd="sng" w="28575">
            <a:solidFill>
              <a:srgbClr val="A9B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742956" y="4424363"/>
            <a:ext cx="1428750" cy="361950"/>
          </a:xfrm>
          <a:prstGeom prst="roundRect">
            <a:avLst>
              <a:gd fmla="val 15789" name="adj"/>
            </a:avLst>
          </a:prstGeom>
          <a:solidFill>
            <a:srgbClr val="CFDAE2"/>
          </a:solidFill>
          <a:ln cap="flat" cmpd="sng" w="28575">
            <a:solidFill>
              <a:srgbClr val="A9B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6742956" y="4862513"/>
            <a:ext cx="1428750" cy="361950"/>
          </a:xfrm>
          <a:prstGeom prst="roundRect">
            <a:avLst>
              <a:gd fmla="val 15789" name="adj"/>
            </a:avLst>
          </a:prstGeom>
          <a:solidFill>
            <a:srgbClr val="CFDAE2"/>
          </a:solidFill>
          <a:ln cap="flat" cmpd="sng" w="28575">
            <a:solidFill>
              <a:srgbClr val="A9B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8457456" y="3278981"/>
            <a:ext cx="3180063" cy="2252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167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None/>
            </a:pPr>
            <a:r>
              <a:rPr lang="en-US" sz="2325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FastAPI. 앱 push 수신 → UPSERT 적재 (최소 15분 간격). 인증 세션 (JWT+ AES-256 저장 암호화).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6361956" y="6160294"/>
            <a:ext cx="5563939" cy="2533650"/>
          </a:xfrm>
          <a:prstGeom prst="roundRect">
            <a:avLst>
              <a:gd fmla="val 9774" name="adj"/>
            </a:avLst>
          </a:prstGeom>
          <a:solidFill>
            <a:srgbClr val="FFFFFF"/>
          </a:solidFill>
          <a:ln>
            <a:noFill/>
          </a:ln>
          <a:effectLst>
            <a:outerShdw blurRad="381000" rotWithShape="0" algn="bl" dir="5400000" dist="152400">
              <a:srgbClr val="1E3C42">
                <a:alpha val="90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6895356" y="6903244"/>
            <a:ext cx="1123950" cy="304800"/>
          </a:xfrm>
          <a:prstGeom prst="roundRect">
            <a:avLst>
              <a:gd fmla="val 50000" name="adj"/>
            </a:avLst>
          </a:prstGeom>
          <a:solidFill>
            <a:srgbClr val="DBE6EA"/>
          </a:solidFill>
          <a:ln cap="flat" cmpd="sng" w="28575">
            <a:solidFill>
              <a:srgbClr val="B6C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6895356" y="7274719"/>
            <a:ext cx="1123950" cy="304800"/>
          </a:xfrm>
          <a:prstGeom prst="roundRect">
            <a:avLst>
              <a:gd fmla="val 50000" name="adj"/>
            </a:avLst>
          </a:prstGeom>
          <a:solidFill>
            <a:srgbClr val="DBE6EA"/>
          </a:solidFill>
          <a:ln cap="flat" cmpd="sng" w="28575">
            <a:solidFill>
              <a:srgbClr val="B6C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895356" y="7646194"/>
            <a:ext cx="1123950" cy="304800"/>
          </a:xfrm>
          <a:prstGeom prst="roundRect">
            <a:avLst>
              <a:gd fmla="val 50000" name="adj"/>
            </a:avLst>
          </a:prstGeom>
          <a:solidFill>
            <a:srgbClr val="DBE6EA"/>
          </a:solidFill>
          <a:ln cap="flat" cmpd="sng" w="28575">
            <a:solidFill>
              <a:srgbClr val="B6C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8457456" y="6541294"/>
            <a:ext cx="3180063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167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단일 DB: PostgreSQL (USERS, LIFELOG_METRICS, CHAT_SESSIONS 등).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11887795" y="4838700"/>
            <a:ext cx="647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8BA"/>
              </a:buClr>
              <a:buSzPts val="3300"/>
              <a:buFont typeface="Noto Sans"/>
              <a:buNone/>
            </a:pPr>
            <a:r>
              <a:rPr b="0" i="0" lang="en-US" sz="3300" u="none" cap="none" strike="noStrike">
                <a:solidFill>
                  <a:srgbClr val="A9B8BA"/>
                </a:solidFill>
                <a:latin typeface="Noto Sans"/>
                <a:ea typeface="Noto Sans"/>
                <a:cs typeface="Noto Sans"/>
                <a:sym typeface="Noto Sans"/>
              </a:rPr>
              <a:t>›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2497395" y="1771650"/>
            <a:ext cx="4837956" cy="6743700"/>
          </a:xfrm>
          <a:prstGeom prst="roundRect">
            <a:avLst>
              <a:gd fmla="val 5119" name="adj"/>
            </a:avLst>
          </a:prstGeom>
          <a:solidFill>
            <a:srgbClr val="FFFFFF"/>
          </a:solidFill>
          <a:ln>
            <a:noFill/>
          </a:ln>
          <a:effectLst>
            <a:outerShdw blurRad="381000" rotWithShape="0" algn="bl" dir="5400000" dist="152400">
              <a:srgbClr val="1E3C42">
                <a:alpha val="90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12674598" y="2190750"/>
            <a:ext cx="4483551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AI 추론 서버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13725674" y="3162300"/>
            <a:ext cx="704850" cy="1695450"/>
          </a:xfrm>
          <a:prstGeom prst="roundRect">
            <a:avLst>
              <a:gd fmla="val 13514" name="adj"/>
            </a:avLst>
          </a:prstGeom>
          <a:solidFill>
            <a:srgbClr val="DBE7EE"/>
          </a:solidFill>
          <a:ln cap="flat" cmpd="sng" w="38100">
            <a:solidFill>
              <a:srgbClr val="B9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14563874" y="3162300"/>
            <a:ext cx="704850" cy="1981200"/>
          </a:xfrm>
          <a:prstGeom prst="roundRect">
            <a:avLst>
              <a:gd fmla="val 13514" name="adj"/>
            </a:avLst>
          </a:prstGeom>
          <a:solidFill>
            <a:srgbClr val="CFE6E2"/>
          </a:solidFill>
          <a:ln cap="flat" cmpd="sng" w="38100">
            <a:solidFill>
              <a:srgbClr val="9DC9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15402074" y="3162300"/>
            <a:ext cx="704850" cy="1695450"/>
          </a:xfrm>
          <a:prstGeom prst="roundRect">
            <a:avLst>
              <a:gd fmla="val 13514" name="adj"/>
            </a:avLst>
          </a:prstGeom>
          <a:solidFill>
            <a:srgbClr val="DBE7EE"/>
          </a:solidFill>
          <a:ln cap="flat" cmpd="sng" w="38100">
            <a:solidFill>
              <a:srgbClr val="B9CB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12976503" y="5562600"/>
            <a:ext cx="4054048" cy="24000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206692" lvl="0" marL="206692" marR="0" rtl="0" algn="l">
              <a:lnSpc>
                <a:spcPct val="127778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Char char="•"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LSTM Autoencoder (이상 탐지)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692" lvl="0" marL="206692" marR="0" rtl="0" algn="l">
              <a:lnSpc>
                <a:spcPct val="127778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Char char="•"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LightGBM (감정·위험도 분류)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692" lvl="0" marL="206692" marR="0" rtl="0" algn="l">
              <a:lnSpc>
                <a:spcPct val="127778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Char char="•"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OpenAI LLM (페르소나 대화, 위기 문맥 탐지)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1282700" y="508000"/>
            <a:ext cx="146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시스템 아키텍처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/>
          <p:nvPr/>
        </p:nvSpPr>
        <p:spPr>
          <a:xfrm>
            <a:off x="857250" y="2500313"/>
            <a:ext cx="2510433" cy="209550"/>
          </a:xfrm>
          <a:prstGeom prst="rect">
            <a:avLst/>
          </a:pr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3367683" y="2271713"/>
            <a:ext cx="419100" cy="666750"/>
          </a:xfrm>
          <a:prstGeom prst="rect">
            <a:avLst/>
          </a:pr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786783" y="2500313"/>
            <a:ext cx="2510582" cy="209550"/>
          </a:xfrm>
          <a:prstGeom prst="rect">
            <a:avLst/>
          </a:pr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6297364" y="2271713"/>
            <a:ext cx="419100" cy="666750"/>
          </a:xfrm>
          <a:prstGeom prst="rect">
            <a:avLst/>
          </a:pr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716464" y="2500313"/>
            <a:ext cx="2510433" cy="209550"/>
          </a:xfrm>
          <a:prstGeom prst="rect">
            <a:avLst/>
          </a:pr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9226897" y="2271713"/>
            <a:ext cx="419100" cy="666750"/>
          </a:xfrm>
          <a:prstGeom prst="rect">
            <a:avLst/>
          </a:pr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9645997" y="2500313"/>
            <a:ext cx="2510582" cy="209550"/>
          </a:xfrm>
          <a:prstGeom prst="rect">
            <a:avLst/>
          </a:pr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12156579" y="2271713"/>
            <a:ext cx="419100" cy="666750"/>
          </a:xfrm>
          <a:prstGeom prst="rect">
            <a:avLst/>
          </a:pr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12575679" y="2500313"/>
            <a:ext cx="2510582" cy="209550"/>
          </a:xfrm>
          <a:prstGeom prst="rect">
            <a:avLst/>
          </a:prstGeom>
          <a:gradFill>
            <a:gsLst>
              <a:gs pos="0">
                <a:srgbClr val="3E9089"/>
              </a:gs>
              <a:gs pos="100000">
                <a:srgbClr val="E4574C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15086261" y="2271713"/>
            <a:ext cx="419100" cy="666750"/>
          </a:xfrm>
          <a:prstGeom prst="rect">
            <a:avLst/>
          </a:prstGeom>
          <a:solidFill>
            <a:srgbClr val="E457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15505361" y="2500313"/>
            <a:ext cx="1506289" cy="209550"/>
          </a:xfrm>
          <a:prstGeom prst="rect">
            <a:avLst/>
          </a:prstGeom>
          <a:solidFill>
            <a:srgbClr val="E457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17011650" y="2271713"/>
            <a:ext cx="419100" cy="666750"/>
          </a:xfrm>
          <a:prstGeom prst="rect">
            <a:avLst/>
          </a:prstGeom>
          <a:solidFill>
            <a:srgbClr val="E457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706755" y="3357563"/>
            <a:ext cx="331089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9089"/>
              </a:buClr>
              <a:buSzPts val="3450"/>
              <a:buFont typeface="Noto Sans"/>
              <a:buNone/>
            </a:pPr>
            <a:r>
              <a:rPr b="1" i="0" lang="en-US" sz="3450" u="none" cap="none" strike="noStrike">
                <a:solidFill>
                  <a:srgbClr val="3E9089"/>
                </a:solidFill>
                <a:latin typeface="Noto Sans"/>
                <a:ea typeface="Noto Sans"/>
                <a:cs typeface="Noto Sans"/>
                <a:sym typeface="Noto Sans"/>
              </a:rPr>
              <a:t>01 </a:t>
            </a:r>
            <a:r>
              <a:rPr b="1" i="0" lang="en-US" sz="34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수집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812102" y="4195763"/>
            <a:ext cx="3100197" cy="13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9167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걸음 수, 수면, 심박 등 7개 지표 및 체성분 15분 주기 수집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4097655" y="3357563"/>
            <a:ext cx="331089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9089"/>
              </a:buClr>
              <a:buSzPts val="3450"/>
              <a:buFont typeface="Noto Sans"/>
              <a:buNone/>
            </a:pPr>
            <a:r>
              <a:rPr b="1" i="0" lang="en-US" sz="3450" u="none" cap="none" strike="noStrike">
                <a:solidFill>
                  <a:srgbClr val="3E9089"/>
                </a:solidFill>
                <a:latin typeface="Noto Sans"/>
                <a:ea typeface="Noto Sans"/>
                <a:cs typeface="Noto Sans"/>
                <a:sym typeface="Noto Sans"/>
              </a:rPr>
              <a:t>02 </a:t>
            </a:r>
            <a:r>
              <a:rPr b="1" i="0" lang="en-US" sz="34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전처리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4203001" y="4195763"/>
            <a:ext cx="3100197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이상치 제거, 최근 2주의 패턴에 맞춰 보정한 뒤 7일 단위로 묶기 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7488555" y="3357563"/>
            <a:ext cx="331089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9089"/>
              </a:buClr>
              <a:buSzPts val="3450"/>
              <a:buFont typeface="Noto Sans"/>
              <a:buNone/>
            </a:pPr>
            <a:r>
              <a:rPr b="1" i="0" lang="en-US" sz="3450" u="none" cap="none" strike="noStrike">
                <a:solidFill>
                  <a:srgbClr val="3E9089"/>
                </a:solidFill>
                <a:latin typeface="Noto Sans"/>
                <a:ea typeface="Noto Sans"/>
                <a:cs typeface="Noto Sans"/>
                <a:sym typeface="Noto Sans"/>
              </a:rPr>
              <a:t>03 </a:t>
            </a:r>
            <a:r>
              <a:rPr b="1" i="0" lang="en-US" sz="34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이상 탐지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7593902" y="4195763"/>
            <a:ext cx="3100197" cy="13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9167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LSTM Autoencoder 재구성 오차로 anomaly_score 산출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10879455" y="3357563"/>
            <a:ext cx="331089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9089"/>
              </a:buClr>
              <a:buSzPts val="3450"/>
              <a:buFont typeface="Noto Sans"/>
              <a:buNone/>
            </a:pPr>
            <a:r>
              <a:rPr b="1" i="0" lang="en-US" sz="3450" u="none" cap="none" strike="noStrike">
                <a:solidFill>
                  <a:srgbClr val="3E9089"/>
                </a:solidFill>
                <a:latin typeface="Noto Sans"/>
                <a:ea typeface="Noto Sans"/>
                <a:cs typeface="Noto Sans"/>
                <a:sym typeface="Noto Sans"/>
              </a:rPr>
              <a:t>04 </a:t>
            </a:r>
            <a:r>
              <a:rPr b="1" i="0" lang="en-US" sz="34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분류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10984802" y="4195763"/>
            <a:ext cx="3100197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9167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LightGBM 활용, anomaly_score와 대화 결합해 9종 감정 및 risk_score 산출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14270355" y="3357563"/>
            <a:ext cx="331089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74C"/>
              </a:buClr>
              <a:buSzPts val="3450"/>
              <a:buFont typeface="Noto Sans"/>
              <a:buNone/>
            </a:pPr>
            <a:r>
              <a:rPr b="1" i="0" lang="en-US" sz="3450" u="none" cap="none" strike="noStrike">
                <a:solidFill>
                  <a:srgbClr val="E4574C"/>
                </a:solidFill>
                <a:latin typeface="Noto Sans"/>
                <a:ea typeface="Noto Sans"/>
                <a:cs typeface="Noto Sans"/>
                <a:sym typeface="Noto Sans"/>
              </a:rPr>
              <a:t>05 </a:t>
            </a:r>
            <a:r>
              <a:rPr b="1" i="0" lang="en-US" sz="34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액션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14375702" y="4195763"/>
            <a:ext cx="3100197" cy="13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9167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CHAT / CONTENT / EMERGENCY 자동 트리거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857250" y="6729413"/>
            <a:ext cx="16573500" cy="1285875"/>
          </a:xfrm>
          <a:prstGeom prst="roundRect">
            <a:avLst>
              <a:gd fmla="val 14815" name="adj"/>
            </a:avLst>
          </a:prstGeom>
          <a:noFill/>
          <a:ln cap="flat" cmpd="sng" w="19050">
            <a:solidFill>
              <a:srgbClr val="D7E0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8184431" y="6538913"/>
            <a:ext cx="1919139" cy="438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8393981" y="6538913"/>
            <a:ext cx="169195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82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6B7F82"/>
                </a:solidFill>
                <a:latin typeface="Noto Sans"/>
                <a:ea typeface="Noto Sans"/>
                <a:cs typeface="Noto Sans"/>
                <a:sym typeface="Noto Sans"/>
              </a:rPr>
              <a:t>Metric Box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1736973" y="7110413"/>
            <a:ext cx="27169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850"/>
              <a:buFont typeface="Noto Sans"/>
              <a:buNone/>
            </a:pPr>
            <a:r>
              <a:rPr b="1" i="0" lang="en-US" sz="28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수집 주기 [15분]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4626025" y="7167563"/>
            <a:ext cx="170259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9D3D4"/>
              </a:buClr>
              <a:buSzPts val="2850"/>
              <a:buFont typeface="Noto Sans"/>
              <a:buNone/>
            </a:pPr>
            <a:r>
              <a:rPr b="1" i="0" lang="en-US" sz="2850" u="none" cap="none" strike="noStrike">
                <a:solidFill>
                  <a:srgbClr val="C9D3D4"/>
                </a:solidFill>
                <a:latin typeface="Noto Sans"/>
                <a:ea typeface="Noto Sans"/>
                <a:cs typeface="Noto Sans"/>
                <a:sym typeface="Noto Sans"/>
              </a:rPr>
              <a:t>|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5139184" y="7110413"/>
            <a:ext cx="382690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850"/>
              <a:buFont typeface="Noto Sans"/>
              <a:buNone/>
            </a:pPr>
            <a:r>
              <a:rPr b="1" i="0" lang="en-US" sz="28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전처리~산출 [5초 이내]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9037290" y="7167563"/>
            <a:ext cx="170259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9D3D4"/>
              </a:buClr>
              <a:buSzPts val="2850"/>
              <a:buFont typeface="Noto Sans"/>
              <a:buNone/>
            </a:pPr>
            <a:r>
              <a:rPr b="1" i="0" lang="en-US" sz="2850" u="none" cap="none" strike="noStrike">
                <a:solidFill>
                  <a:srgbClr val="C9D3D4"/>
                </a:solidFill>
                <a:latin typeface="Noto Sans"/>
                <a:ea typeface="Noto Sans"/>
                <a:cs typeface="Noto Sans"/>
                <a:sym typeface="Noto Sans"/>
              </a:rPr>
              <a:t>|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9550450" y="7110413"/>
            <a:ext cx="367072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850"/>
              <a:buFont typeface="Noto Sans"/>
              <a:buNone/>
            </a:pPr>
            <a:r>
              <a:rPr b="1" i="0" lang="en-US" sz="28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위기 추론 [1.5초 이내]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13306574" y="7167563"/>
            <a:ext cx="170259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9D3D4"/>
              </a:buClr>
              <a:buSzPts val="2850"/>
              <a:buFont typeface="Noto Sans"/>
              <a:buNone/>
            </a:pPr>
            <a:r>
              <a:rPr b="1" i="0" lang="en-US" sz="2850" u="none" cap="none" strike="noStrike">
                <a:solidFill>
                  <a:srgbClr val="C9D3D4"/>
                </a:solidFill>
                <a:latin typeface="Noto Sans"/>
                <a:ea typeface="Noto Sans"/>
                <a:cs typeface="Noto Sans"/>
                <a:sym typeface="Noto Sans"/>
              </a:rPr>
              <a:t>|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13819733" y="7110413"/>
            <a:ext cx="3004259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850"/>
              <a:buFont typeface="Noto Sans"/>
              <a:buNone/>
            </a:pPr>
            <a:r>
              <a:rPr b="1" i="0" lang="en-US" sz="28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긴급 UI [3초 이내]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1282700" y="508000"/>
            <a:ext cx="146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데이터 처리 파이프라인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9519000" y="6819900"/>
            <a:ext cx="77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대화 위기탐지 모듈 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4F9FA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1047750" y="1524000"/>
            <a:ext cx="178117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E55"/>
              </a:buClr>
              <a:buSzPts val="5400"/>
              <a:buFont typeface="Noto Sans"/>
              <a:buNone/>
            </a:pPr>
            <a:r>
              <a:rPr b="1" i="0" lang="en-US" sz="5400" u="none" cap="none" strike="noStrike">
                <a:solidFill>
                  <a:srgbClr val="2F4E55"/>
                </a:solidFill>
                <a:latin typeface="Noto Sans"/>
                <a:ea typeface="Noto Sans"/>
                <a:cs typeface="Noto Sans"/>
                <a:sym typeface="Noto Sans"/>
              </a:rPr>
              <a:t>Tech Specs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1047750" y="2755900"/>
            <a:ext cx="5016401" cy="7264400"/>
          </a:xfrm>
          <a:prstGeom prst="roundRect">
            <a:avLst>
              <a:gd fmla="val 5696" name="adj"/>
            </a:avLst>
          </a:prstGeom>
          <a:solidFill>
            <a:srgbClr val="FFFFFF"/>
          </a:solidFill>
          <a:ln>
            <a:noFill/>
          </a:ln>
          <a:effectLst>
            <a:outerShdw blurRad="419100" rotWithShape="0" algn="bl" dir="5400000" dist="171450">
              <a:srgbClr val="1E3C4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1190388" y="3213100"/>
            <a:ext cx="4873763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300"/>
              <a:buFont typeface="Noto Sans"/>
              <a:buNone/>
            </a:pPr>
            <a:r>
              <a:rPr b="1" i="0" lang="en-US" sz="33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이상 감지 및 정서 위험도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1485900" y="4083050"/>
            <a:ext cx="4140101" cy="19050"/>
          </a:xfrm>
          <a:prstGeom prst="rect">
            <a:avLst/>
          </a:prstGeom>
          <a:solidFill>
            <a:srgbClr val="DBE4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1485905" y="4432300"/>
            <a:ext cx="4264304" cy="10108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5B7F86"/>
              </a:buClr>
              <a:buSzPts val="600"/>
              <a:buFont typeface="Noto Sans"/>
              <a:buNone/>
            </a:pPr>
            <a:r>
              <a:rPr b="1" i="0" lang="en-US" sz="2400" u="none" cap="none" strike="noStrike">
                <a:solidFill>
                  <a:srgbClr val="5B7F86"/>
                </a:solidFill>
                <a:latin typeface="Noto Sans"/>
                <a:ea typeface="Noto Sans"/>
                <a:cs typeface="Noto Sans"/>
                <a:sym typeface="Noto Sans"/>
              </a:rPr>
              <a:t>Model: </a:t>
            </a: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LSTM Autoencoder + LightGBM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1485900" y="5588489"/>
            <a:ext cx="4264304" cy="26919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rgbClr val="5B7F86"/>
              </a:buClr>
              <a:buSzPts val="600"/>
              <a:buFont typeface="Noto Sans"/>
              <a:buNone/>
            </a:pPr>
            <a:r>
              <a:rPr b="1" i="0" lang="en-US" sz="2400" u="none" cap="none" strike="noStrike">
                <a:solidFill>
                  <a:srgbClr val="5B7F86"/>
                </a:solidFill>
                <a:latin typeface="Noto Sans"/>
                <a:ea typeface="Noto Sans"/>
                <a:cs typeface="Noto Sans"/>
                <a:sym typeface="Noto Sans"/>
              </a:rPr>
              <a:t>Method: </a:t>
            </a:r>
            <a:r>
              <a:rPr b="1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PMData</a:t>
            </a: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(비지도 이상탐지) + </a:t>
            </a:r>
            <a:r>
              <a:rPr b="1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GLOBEM</a:t>
            </a: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(BDI-II 라벨 지도학습), 소수 클래스 SMOTE 보정, Group K-Fold 검증</a:t>
            </a:r>
            <a:endParaRPr b="0" i="0" sz="2400" u="none" cap="none" strike="noStrike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1485900" y="8661400"/>
            <a:ext cx="4140101" cy="990600"/>
          </a:xfrm>
          <a:prstGeom prst="roundRect">
            <a:avLst>
              <a:gd fmla="val 11538" name="adj"/>
            </a:avLst>
          </a:pr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1652398" y="8826500"/>
            <a:ext cx="3807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Noto Sans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[Accuracy 85%↑ | F1-Score 0.80↑]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635651" y="2755900"/>
            <a:ext cx="5016550" cy="7264400"/>
          </a:xfrm>
          <a:prstGeom prst="roundRect">
            <a:avLst>
              <a:gd fmla="val 5696" name="adj"/>
            </a:avLst>
          </a:prstGeom>
          <a:solidFill>
            <a:srgbClr val="FFFFFF"/>
          </a:solidFill>
          <a:ln>
            <a:noFill/>
          </a:ln>
          <a:effectLst>
            <a:outerShdw blurRad="419100" rotWithShape="0" algn="bl" dir="5400000" dist="171450">
              <a:srgbClr val="1E3C4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6866788" y="3213100"/>
            <a:ext cx="45542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300"/>
              <a:buFont typeface="Noto Sans"/>
              <a:buNone/>
            </a:pPr>
            <a:r>
              <a:rPr b="1" i="0" lang="en-US" sz="33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실시간 위기 문맥 탐지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7073801" y="4064000"/>
            <a:ext cx="4140250" cy="19050"/>
          </a:xfrm>
          <a:prstGeom prst="rect">
            <a:avLst/>
          </a:prstGeom>
          <a:solidFill>
            <a:srgbClr val="DBE4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7073801" y="4381500"/>
            <a:ext cx="4264457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5B7F86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5B7F86"/>
                </a:solidFill>
                <a:latin typeface="Noto Sans"/>
                <a:ea typeface="Noto Sans"/>
                <a:cs typeface="Noto Sans"/>
                <a:sym typeface="Noto Sans"/>
              </a:rPr>
              <a:t>Model: </a:t>
            </a: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위험 키워드 필터링 + OpenAI 프롬프트 기반 문맥 분석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7073800" y="5575300"/>
            <a:ext cx="42645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5B7F86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5B7F86"/>
                </a:solidFill>
                <a:latin typeface="Noto Sans"/>
                <a:ea typeface="Noto Sans"/>
                <a:cs typeface="Noto Sans"/>
                <a:sym typeface="Noto Sans"/>
              </a:rPr>
              <a:t>Method: </a:t>
            </a: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위기 키워드 사전 구축(1차), GPT 프롬프트로 문맥·심각도 판단(2차), PII [MASK] 처리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7073801" y="8661400"/>
            <a:ext cx="4140300" cy="990600"/>
          </a:xfrm>
          <a:prstGeom prst="roundRect">
            <a:avLst>
              <a:gd fmla="val 11538" name="adj"/>
            </a:avLst>
          </a:pr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7240297" y="8826500"/>
            <a:ext cx="3807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Noto Sans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프롬프트 검증 기준 목표</a:t>
            </a:r>
            <a:endParaRPr b="1" i="0" sz="225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Noto Sans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재현율 90%↑ 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12223700" y="2755900"/>
            <a:ext cx="5016550" cy="7264400"/>
          </a:xfrm>
          <a:prstGeom prst="roundRect">
            <a:avLst>
              <a:gd fmla="val 5696" name="adj"/>
            </a:avLst>
          </a:prstGeom>
          <a:solidFill>
            <a:srgbClr val="FFFFFF"/>
          </a:solidFill>
          <a:ln>
            <a:noFill/>
          </a:ln>
          <a:effectLst>
            <a:outerShdw blurRad="419100" rotWithShape="0" algn="bl" dir="5400000" dist="171450">
              <a:srgbClr val="1E3C42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12454838" y="3213100"/>
            <a:ext cx="45542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300"/>
              <a:buFont typeface="Noto Sans"/>
              <a:buNone/>
            </a:pPr>
            <a:r>
              <a:rPr b="1" i="0" lang="en-US" sz="33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힐링 콘텐츠 추천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12661850" y="4064000"/>
            <a:ext cx="4140250" cy="19050"/>
          </a:xfrm>
          <a:prstGeom prst="rect">
            <a:avLst/>
          </a:prstGeom>
          <a:solidFill>
            <a:srgbClr val="DBE4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12661850" y="4381500"/>
            <a:ext cx="4264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5B7F86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5B7F86"/>
                </a:solidFill>
                <a:latin typeface="Noto Sans"/>
                <a:ea typeface="Noto Sans"/>
                <a:cs typeface="Noto Sans"/>
                <a:sym typeface="Noto Sans"/>
              </a:rPr>
              <a:t>Model: </a:t>
            </a:r>
            <a:r>
              <a:rPr lang="en-US" sz="24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감정 코드(emotion_id) 기반 규칙 매핑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12661850" y="5362575"/>
            <a:ext cx="4264500" cy="29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5B7F86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5B7F86"/>
                </a:solidFill>
                <a:latin typeface="Noto Sans"/>
                <a:ea typeface="Noto Sans"/>
                <a:cs typeface="Noto Sans"/>
                <a:sym typeface="Noto Sans"/>
              </a:rPr>
              <a:t>Method: </a:t>
            </a:r>
            <a:r>
              <a:rPr lang="en-US" sz="24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CAUTION 판정 시 emotion_id 로  HEALING_CONTENTS 를 필터링해</a:t>
            </a:r>
            <a:endParaRPr sz="2400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        3~5건을 무작위 노출. 전량 사전 검수 콘텐츠만 사용</a:t>
            </a:r>
            <a:endParaRPr sz="2400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5B7F86"/>
              </a:buClr>
              <a:buSzPts val="2400"/>
              <a:buFont typeface="Noto Sans"/>
              <a:buNone/>
            </a:pPr>
            <a:r>
              <a:t/>
            </a:r>
            <a:endParaRPr sz="2400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12828347" y="8648700"/>
            <a:ext cx="38073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Noto Sans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[정서 개선율 20%↑ | 지연 0.5초↓]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1282700" y="508000"/>
            <a:ext cx="146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AI 모델 설계 (Tech Specs)</a:t>
            </a:r>
            <a:endParaRPr b="1" i="0" sz="3000" u="none" cap="none" strike="noStrike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12723951" y="8661400"/>
            <a:ext cx="4140300" cy="990600"/>
          </a:xfrm>
          <a:prstGeom prst="roundRect">
            <a:avLst>
              <a:gd fmla="val 11538" name="adj"/>
            </a:avLst>
          </a:pr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12890450" y="8961350"/>
            <a:ext cx="3807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[추천 응답 1초 이내]</a:t>
            </a:r>
            <a:endParaRPr b="1" sz="225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"/>
          <p:cNvSpPr/>
          <p:nvPr/>
        </p:nvSpPr>
        <p:spPr>
          <a:xfrm>
            <a:off x="1238250" y="1524000"/>
            <a:ext cx="15811500" cy="2578100"/>
          </a:xfrm>
          <a:prstGeom prst="roundRect">
            <a:avLst>
              <a:gd fmla="val 8790" name="adj"/>
            </a:avLst>
          </a:prstGeom>
          <a:solidFill>
            <a:srgbClr val="FBDC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704850" y="2159000"/>
            <a:ext cx="1428750" cy="1428750"/>
          </a:xfrm>
          <a:prstGeom prst="ellipse">
            <a:avLst/>
          </a:prstGeom>
          <a:solidFill>
            <a:srgbClr val="F04438"/>
          </a:solidFill>
          <a:ln>
            <a:noFill/>
          </a:ln>
          <a:effectLst>
            <a:outerShdw blurRad="400050" rotWithShape="0" algn="bl" dir="16200000" dist="50800">
              <a:srgbClr val="F04438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1171575" y="2578100"/>
            <a:ext cx="495300" cy="495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2667000" y="2133600"/>
            <a:ext cx="419100" cy="419100"/>
          </a:xfrm>
          <a:prstGeom prst="ellipse">
            <a:avLst/>
          </a:prstGeom>
          <a:solidFill>
            <a:srgbClr val="F044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3276600" y="2095500"/>
            <a:ext cx="42402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4200"/>
              <a:buFont typeface="Noto Sans"/>
              <a:buNone/>
            </a:pPr>
            <a:r>
              <a:rPr b="1" i="0" lang="en-US" sz="42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CRITICAL (심각)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2667000" y="2819400"/>
            <a:ext cx="8672703" cy="949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75"/>
              <a:buFont typeface="Noto Sans"/>
              <a:buNone/>
            </a:pPr>
            <a:r>
              <a:rPr b="0" i="0" lang="en-US" sz="247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Emotions: DESPAIR, CRISIS  / ANGER (score ≥ 70)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11506200" y="1905000"/>
            <a:ext cx="5124450" cy="1803400"/>
          </a:xfrm>
          <a:prstGeom prst="roundRect">
            <a:avLst>
              <a:gd fmla="val 77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11830050" y="2184400"/>
            <a:ext cx="49244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550"/>
              <a:buFont typeface="Noto Sans"/>
              <a:buNone/>
            </a:pPr>
            <a:r>
              <a:rPr b="1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[EMERGENCY]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11830050" y="2628900"/>
            <a:ext cx="4611052" cy="9218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405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즉시 위기 개입 알림 및 상담사 연결 안내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1238250" y="4483100"/>
            <a:ext cx="15811500" cy="2578100"/>
          </a:xfrm>
          <a:prstGeom prst="roundRect">
            <a:avLst>
              <a:gd fmla="val 8790" name="adj"/>
            </a:avLst>
          </a:prstGeom>
          <a:solidFill>
            <a:srgbClr val="FBEEC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704850" y="5118100"/>
            <a:ext cx="1428750" cy="1428750"/>
          </a:xfrm>
          <a:prstGeom prst="ellipse">
            <a:avLst/>
          </a:prstGeom>
          <a:solidFill>
            <a:srgbClr val="F5C118"/>
          </a:solidFill>
          <a:ln>
            <a:noFill/>
          </a:ln>
          <a:effectLst>
            <a:outerShdw blurRad="400050" rotWithShape="0" algn="bl" dir="16200000" dist="50800">
              <a:srgbClr val="F5C118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1171575" y="5549900"/>
            <a:ext cx="495300" cy="495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2667000" y="5092700"/>
            <a:ext cx="419100" cy="419100"/>
          </a:xfrm>
          <a:prstGeom prst="ellipse">
            <a:avLst/>
          </a:prstGeom>
          <a:solidFill>
            <a:srgbClr val="F5C1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3276600" y="5054600"/>
            <a:ext cx="4001866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884"/>
              <a:buFont typeface="Noto Sans"/>
              <a:buNone/>
            </a:pPr>
            <a:r>
              <a:rPr b="1" i="0" lang="en-US" sz="388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CAUTION (주의)</a:t>
            </a:r>
            <a:endParaRPr b="0" i="0" sz="3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2667000" y="5778500"/>
            <a:ext cx="8672703" cy="949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921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75"/>
              <a:buFont typeface="Noto Sans"/>
              <a:buNone/>
            </a:pPr>
            <a:r>
              <a:rPr b="0" i="0" lang="en-US" sz="247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Emotions: SADNESS, ANXIETY, LONELINESS / ANGER (score &lt; 70)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11506200" y="4864100"/>
            <a:ext cx="5124450" cy="1803400"/>
          </a:xfrm>
          <a:prstGeom prst="roundRect">
            <a:avLst>
              <a:gd fmla="val 77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11830050" y="5143500"/>
            <a:ext cx="49244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550"/>
              <a:buFont typeface="Noto Sans"/>
              <a:buNone/>
            </a:pPr>
            <a:r>
              <a:rPr b="1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[CONTENT]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11830050" y="5588000"/>
            <a:ext cx="4611052" cy="9218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405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맞춤형 힐링 콘텐츠 제공 및 정서 상태 재확인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1238250" y="7442200"/>
            <a:ext cx="15811500" cy="2578100"/>
          </a:xfrm>
          <a:prstGeom prst="roundRect">
            <a:avLst>
              <a:gd fmla="val 8790" name="adj"/>
            </a:avLst>
          </a:prstGeom>
          <a:solidFill>
            <a:srgbClr val="CFE7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704850" y="8077200"/>
            <a:ext cx="1428750" cy="1428750"/>
          </a:xfrm>
          <a:prstGeom prst="ellipse">
            <a:avLst/>
          </a:prstGeom>
          <a:solidFill>
            <a:srgbClr val="22A06B"/>
          </a:solidFill>
          <a:ln>
            <a:noFill/>
          </a:ln>
          <a:effectLst>
            <a:outerShdw blurRad="400050" rotWithShape="0" algn="bl" dir="16200000" dist="50800">
              <a:srgbClr val="22A06B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1171575" y="8509000"/>
            <a:ext cx="495300" cy="495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2667000" y="8267700"/>
            <a:ext cx="419100" cy="419100"/>
          </a:xfrm>
          <a:prstGeom prst="ellipse">
            <a:avLst/>
          </a:prstGeom>
          <a:solidFill>
            <a:srgbClr val="22A0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3276600" y="8229600"/>
            <a:ext cx="385961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3884"/>
              <a:buFont typeface="Noto Sans"/>
              <a:buNone/>
            </a:pPr>
            <a:r>
              <a:rPr b="1" i="0" lang="en-US" sz="388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NORMAL (안정)</a:t>
            </a:r>
            <a:endParaRPr b="0" i="0" sz="3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2667000" y="8953500"/>
            <a:ext cx="9262110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75"/>
              <a:buFont typeface="Noto Sans"/>
              <a:buNone/>
            </a:pPr>
            <a:r>
              <a:rPr b="0" i="0" lang="en-US" sz="247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Emotions: HAPPINESS, JOY, DELIGHT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11506200" y="7835900"/>
            <a:ext cx="5124450" cy="1803400"/>
          </a:xfrm>
          <a:prstGeom prst="roundRect">
            <a:avLst>
              <a:gd fmla="val 77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11830050" y="8115300"/>
            <a:ext cx="49244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550"/>
              <a:buFont typeface="Noto Sans"/>
              <a:buNone/>
            </a:pPr>
            <a:r>
              <a:rPr b="1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[CHAT]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11830050" y="8559800"/>
            <a:ext cx="4611052" cy="9218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405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일상 공감 대화 유지 및 라이프로그 상시 모니터링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 txBox="1"/>
          <p:nvPr/>
        </p:nvSpPr>
        <p:spPr>
          <a:xfrm>
            <a:off x="1282700" y="508000"/>
            <a:ext cx="146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위험 단계별 대응 시나리오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"/>
          <p:cNvSpPr/>
          <p:nvPr/>
        </p:nvSpPr>
        <p:spPr>
          <a:xfrm>
            <a:off x="3184769" y="1858962"/>
            <a:ext cx="4978301" cy="7162800"/>
          </a:xfrm>
          <a:prstGeom prst="roundRect">
            <a:avLst>
              <a:gd fmla="val 8419" name="adj"/>
            </a:avLst>
          </a:prstGeom>
          <a:noFill/>
          <a:ln cap="flat" cmpd="sng" w="47625">
            <a:solidFill>
              <a:srgbClr val="8EC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5226244" y="1414462"/>
            <a:ext cx="914400" cy="914400"/>
          </a:xfrm>
          <a:prstGeom prst="roundRect">
            <a:avLst>
              <a:gd fmla="val 18750" name="adj"/>
            </a:avLst>
          </a:prstGeom>
          <a:solidFill>
            <a:srgbClr val="9ED3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5550094" y="1706562"/>
            <a:ext cx="247650" cy="323850"/>
          </a:xfrm>
          <a:prstGeom prst="roundRect">
            <a:avLst>
              <a:gd fmla="val 230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3651494" y="2570162"/>
            <a:ext cx="4044851" cy="1421011"/>
          </a:xfrm>
          <a:prstGeom prst="roundRect">
            <a:avLst>
              <a:gd fmla="val 50000" name="adj"/>
            </a:avLst>
          </a:prstGeom>
          <a:solidFill>
            <a:srgbClr val="DCEC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3793631" y="2952089"/>
            <a:ext cx="3785100" cy="8490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5294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675"/>
              <a:buFont typeface="Noto Sans"/>
              <a:buNone/>
            </a:pPr>
            <a:r>
              <a:rPr b="1" i="0" lang="en-US" sz="2700" u="none" cap="none" strike="noStrike">
                <a:solidFill>
                  <a:srgbClr val="1B2B2E"/>
                </a:solidFill>
                <a:highlight>
                  <a:srgbClr val="DCECEC"/>
                </a:highlight>
                <a:latin typeface="Noto Sans"/>
                <a:ea typeface="Noto Sans"/>
                <a:cs typeface="Noto Sans"/>
                <a:sym typeface="Noto Sans"/>
              </a:rPr>
              <a:t>PMData</a:t>
            </a:r>
            <a:endParaRPr b="1" i="0" sz="2700" u="none" cap="none" strike="noStrike">
              <a:solidFill>
                <a:srgbClr val="1B2B2E"/>
              </a:solidFill>
              <a:highlight>
                <a:srgbClr val="DCECEC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95294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675"/>
              <a:buFont typeface="Noto Sans"/>
              <a:buNone/>
            </a:pPr>
            <a:r>
              <a:rPr b="1" i="0" lang="en-US" sz="2700" u="none" cap="none" strike="noStrike">
                <a:solidFill>
                  <a:srgbClr val="1B2B2E"/>
                </a:solidFill>
                <a:highlight>
                  <a:srgbClr val="DCECEC"/>
                </a:highlight>
                <a:latin typeface="Noto Sans"/>
                <a:ea typeface="Noto Sans"/>
                <a:cs typeface="Noto Sans"/>
                <a:sym typeface="Noto Sans"/>
              </a:rPr>
              <a:t>(SimulaMet)</a:t>
            </a:r>
            <a:endParaRPr b="1" i="0" sz="2700" u="none" cap="none" strike="noStrike">
              <a:solidFill>
                <a:srgbClr val="1B2B2E"/>
              </a:solidFill>
              <a:highlight>
                <a:srgbClr val="DCECEC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3651494" y="4424362"/>
            <a:ext cx="4166196" cy="1438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rgbClr val="2C7A73"/>
              </a:buClr>
              <a:buSzPts val="600"/>
              <a:buFont typeface="Noto Sans"/>
              <a:buNone/>
            </a:pPr>
            <a:r>
              <a:rPr b="1" i="0" lang="en-US" sz="24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Source: </a:t>
            </a: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Fitbit 기반 일상 라이프로그 - 수면 단계, 분 단위 심박수, 걸음 수</a:t>
            </a:r>
            <a:endParaRPr b="0" i="0" sz="2400" u="none" cap="none" strike="noStrike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3651494" y="6138862"/>
            <a:ext cx="4166196" cy="2464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rgbClr val="2C7A73"/>
              </a:buClr>
              <a:buSzPts val="600"/>
              <a:buFont typeface="Noto Sans"/>
              <a:buNone/>
            </a:pPr>
            <a:r>
              <a:rPr b="1" i="0" lang="en-US" sz="24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Use: </a:t>
            </a: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라벨 없는 정상 패턴 시계열로 LSTM  Autoencoder 비지도 학습, 재구성 오차 기반 이상 탐지</a:t>
            </a:r>
            <a:endParaRPr b="0" i="0" sz="2400" u="none" cap="none" strike="noStrike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 txBox="1"/>
          <p:nvPr/>
        </p:nvSpPr>
        <p:spPr>
          <a:xfrm>
            <a:off x="1282700" y="508000"/>
            <a:ext cx="146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학습 데이터셋 확보 계획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9632461" y="1858962"/>
            <a:ext cx="4978301" cy="7162800"/>
          </a:xfrm>
          <a:prstGeom prst="roundRect">
            <a:avLst>
              <a:gd fmla="val 8419" name="adj"/>
            </a:avLst>
          </a:prstGeom>
          <a:noFill/>
          <a:ln cap="flat" cmpd="sng" w="47625">
            <a:solidFill>
              <a:srgbClr val="8EC3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11667097" y="1424781"/>
            <a:ext cx="914400" cy="914400"/>
          </a:xfrm>
          <a:prstGeom prst="roundRect">
            <a:avLst>
              <a:gd fmla="val 18750" name="adj"/>
            </a:avLst>
          </a:prstGeom>
          <a:solidFill>
            <a:srgbClr val="9ED3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11997787" y="1706562"/>
            <a:ext cx="247650" cy="323850"/>
          </a:xfrm>
          <a:prstGeom prst="roundRect">
            <a:avLst>
              <a:gd fmla="val 230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10099187" y="2570162"/>
            <a:ext cx="4044851" cy="1421011"/>
          </a:xfrm>
          <a:prstGeom prst="roundRect">
            <a:avLst>
              <a:gd fmla="val 50000" name="adj"/>
            </a:avLst>
          </a:prstGeom>
          <a:solidFill>
            <a:srgbClr val="DCEC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10229111" y="2931362"/>
            <a:ext cx="3785100" cy="9101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5294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675"/>
              <a:buFont typeface="Noto Sans"/>
              <a:buNone/>
            </a:pPr>
            <a:r>
              <a:rPr b="1" i="0" lang="en-US" sz="2700" u="none" cap="none" strike="noStrike">
                <a:solidFill>
                  <a:srgbClr val="1B2B2E"/>
                </a:solidFill>
                <a:highlight>
                  <a:srgbClr val="DCECEC"/>
                </a:highlight>
                <a:latin typeface="Noto Sans"/>
                <a:ea typeface="Noto Sans"/>
                <a:cs typeface="Noto Sans"/>
                <a:sym typeface="Noto Sans"/>
              </a:rPr>
              <a:t>GLOBEM</a:t>
            </a:r>
            <a:endParaRPr b="1" i="0" sz="2700" u="none" cap="none" strike="noStrike">
              <a:solidFill>
                <a:srgbClr val="1B2B2E"/>
              </a:solidFill>
              <a:highlight>
                <a:srgbClr val="DCECEC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95294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675"/>
              <a:buFont typeface="Noto Sans"/>
              <a:buNone/>
            </a:pPr>
            <a:r>
              <a:rPr b="1" i="0" lang="en-US" sz="2700" u="none" cap="none" strike="noStrike">
                <a:solidFill>
                  <a:srgbClr val="1B2B2E"/>
                </a:solidFill>
                <a:highlight>
                  <a:srgbClr val="DCECEC"/>
                </a:highlight>
                <a:latin typeface="Noto Sans"/>
                <a:ea typeface="Noto Sans"/>
                <a:cs typeface="Noto Sans"/>
                <a:sym typeface="Noto Sans"/>
              </a:rPr>
              <a:t>(Microsoft Research)</a:t>
            </a:r>
            <a:endParaRPr b="1" i="0" sz="2700" u="none" cap="none" strike="noStrike">
              <a:solidFill>
                <a:srgbClr val="1B2B2E"/>
              </a:solidFill>
              <a:highlight>
                <a:srgbClr val="DCECEC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10099187" y="4424362"/>
            <a:ext cx="4166196" cy="1438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rgbClr val="2C7A73"/>
              </a:buClr>
              <a:buSzPts val="600"/>
              <a:buFont typeface="Noto Sans"/>
              <a:buNone/>
            </a:pPr>
            <a:r>
              <a:rPr b="1" i="0" lang="en-US" sz="24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Source: </a:t>
            </a: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14일 집계 수면·걸음 피처 + </a:t>
            </a:r>
            <a:r>
              <a:rPr b="1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BDI-II 우울 척도 점수·우울 라벨</a:t>
            </a:r>
            <a:endParaRPr b="1" i="0" sz="2400" u="none" cap="none" strike="noStrike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10099187" y="6138862"/>
            <a:ext cx="4166196" cy="1438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729"/>
              </a:lnSpc>
              <a:spcBef>
                <a:spcPts val="0"/>
              </a:spcBef>
              <a:spcAft>
                <a:spcPts val="0"/>
              </a:spcAft>
              <a:buClr>
                <a:srgbClr val="2C7A73"/>
              </a:buClr>
              <a:buSzPts val="600"/>
              <a:buFont typeface="Noto Sans"/>
              <a:buNone/>
            </a:pPr>
            <a:r>
              <a:rPr b="1" i="0" lang="en-US" sz="2400" u="none" cap="none" strike="noStrike">
                <a:solidFill>
                  <a:srgbClr val="2C7A73"/>
                </a:solidFill>
                <a:latin typeface="Noto Sans"/>
                <a:ea typeface="Noto Sans"/>
                <a:cs typeface="Noto Sans"/>
                <a:sym typeface="Noto Sans"/>
              </a:rPr>
              <a:t>Use: </a:t>
            </a: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1차 이상 점수와 결합하여 LightGBM 2차 위험도 분류 지도학습</a:t>
            </a:r>
            <a:endParaRPr b="0" i="0" sz="2400" u="none" cap="none" strike="noStrike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3"/>
          <p:cNvSpPr/>
          <p:nvPr/>
        </p:nvSpPr>
        <p:spPr>
          <a:xfrm>
            <a:off x="952500" y="1727200"/>
            <a:ext cx="5578822" cy="1742480"/>
          </a:xfrm>
          <a:prstGeom prst="roundRect">
            <a:avLst>
              <a:gd fmla="val 12026" name="adj"/>
            </a:avLst>
          </a:prstGeom>
          <a:solidFill>
            <a:srgbClr val="FFFFFF"/>
          </a:solidFill>
          <a:ln>
            <a:noFill/>
          </a:ln>
          <a:effectLst>
            <a:outerShdw blurRad="342900" rotWithShape="0" algn="bl" dir="5400000" dist="13335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851818" y="2057400"/>
            <a:ext cx="5298504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E88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2F6E88"/>
                </a:solidFill>
                <a:latin typeface="Noto Sans"/>
                <a:ea typeface="Noto Sans"/>
                <a:cs typeface="Noto Sans"/>
                <a:sym typeface="Noto Sans"/>
              </a:rPr>
              <a:t>식별자 표준화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851818" y="2717800"/>
            <a:ext cx="5298504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24861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(모든 PK는 UUID v4 적용)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952500" y="3898900"/>
            <a:ext cx="5578822" cy="2170509"/>
          </a:xfrm>
          <a:prstGeom prst="roundRect">
            <a:avLst>
              <a:gd fmla="val 9654" name="adj"/>
            </a:avLst>
          </a:prstGeom>
          <a:solidFill>
            <a:srgbClr val="FFFFFF"/>
          </a:solidFill>
          <a:ln>
            <a:noFill/>
          </a:ln>
          <a:effectLst>
            <a:outerShdw blurRad="342900" rotWithShape="0" algn="bl" dir="5400000" dist="13335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851818" y="4216400"/>
            <a:ext cx="5298504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E88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2F6E88"/>
                </a:solidFill>
                <a:latin typeface="Noto Sans"/>
                <a:ea typeface="Noto Sans"/>
                <a:cs typeface="Noto Sans"/>
                <a:sym typeface="Noto Sans"/>
              </a:rPr>
              <a:t>철저한 마스킹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1188995" y="4889500"/>
            <a:ext cx="4961327" cy="894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14861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(대화 내 PII 성명, 번호 정규식 탐지 후 [MASK] 처리)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952500" y="6477000"/>
            <a:ext cx="5578822" cy="2170509"/>
          </a:xfrm>
          <a:prstGeom prst="roundRect">
            <a:avLst>
              <a:gd fmla="val 9654" name="adj"/>
            </a:avLst>
          </a:prstGeom>
          <a:solidFill>
            <a:srgbClr val="FFFFFF"/>
          </a:solidFill>
          <a:ln>
            <a:noFill/>
          </a:ln>
          <a:effectLst>
            <a:outerShdw blurRad="342900" rotWithShape="0" algn="bl" dir="5400000" dist="13335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851818" y="6807200"/>
            <a:ext cx="5298504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E88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2F6E88"/>
                </a:solidFill>
                <a:latin typeface="Noto Sans"/>
                <a:ea typeface="Noto Sans"/>
                <a:cs typeface="Noto Sans"/>
                <a:sym typeface="Noto Sans"/>
              </a:rPr>
              <a:t>시계열 최적화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1188995" y="7467600"/>
            <a:ext cx="4961327" cy="894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14861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(복합 인덱스 및 중복 수집 방지용 UPSERT 처리)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8238976" y="3365500"/>
            <a:ext cx="1809750" cy="514350"/>
          </a:xfrm>
          <a:prstGeom prst="roundRect">
            <a:avLst>
              <a:gd fmla="val 50000" name="adj"/>
            </a:avLst>
          </a:prstGeom>
          <a:solidFill>
            <a:srgbClr val="8FC4BF"/>
          </a:solidFill>
          <a:ln cap="flat" cmpd="sng" w="47625">
            <a:solidFill>
              <a:srgbClr val="2C7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8238976" y="3962400"/>
            <a:ext cx="1809750" cy="514350"/>
          </a:xfrm>
          <a:prstGeom prst="roundRect">
            <a:avLst>
              <a:gd fmla="val 50000" name="adj"/>
            </a:avLst>
          </a:prstGeom>
          <a:solidFill>
            <a:srgbClr val="8FC4BF"/>
          </a:solidFill>
          <a:ln cap="flat" cmpd="sng" w="47625">
            <a:solidFill>
              <a:srgbClr val="2C7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8238976" y="4546600"/>
            <a:ext cx="1809750" cy="514350"/>
          </a:xfrm>
          <a:prstGeom prst="roundRect">
            <a:avLst>
              <a:gd fmla="val 50000" name="adj"/>
            </a:avLst>
          </a:prstGeom>
          <a:solidFill>
            <a:srgbClr val="8FC4BF"/>
          </a:solidFill>
          <a:ln cap="flat" cmpd="sng" w="47625">
            <a:solidFill>
              <a:srgbClr val="2C7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7667027" y="5308600"/>
            <a:ext cx="2953649" cy="17467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863"/>
              <a:buFont typeface="Noto Sans"/>
              <a:buNone/>
            </a:pPr>
            <a:r>
              <a:rPr b="1" i="0" lang="en-US" sz="34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PostgreSQL 단일 DB </a:t>
            </a:r>
            <a:endParaRPr b="1" i="0" sz="3450" u="none" cap="none" strike="noStrike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863"/>
              <a:buFont typeface="Noto Sans"/>
              <a:buNone/>
            </a:pPr>
            <a:r>
              <a:rPr b="1" i="0" lang="en-US" sz="34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무결성 관리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11756529" y="1524000"/>
            <a:ext cx="5578971" cy="2170509"/>
          </a:xfrm>
          <a:prstGeom prst="roundRect">
            <a:avLst>
              <a:gd fmla="val 9654" name="adj"/>
            </a:avLst>
          </a:prstGeom>
          <a:solidFill>
            <a:srgbClr val="FFFFFF"/>
          </a:solidFill>
          <a:ln>
            <a:noFill/>
          </a:ln>
          <a:effectLst>
            <a:outerShdw blurRad="342900" rotWithShape="0" algn="bl" dir="5400000" dist="13335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12137529" y="1841500"/>
            <a:ext cx="529866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E88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2F6E88"/>
                </a:solidFill>
                <a:latin typeface="Noto Sans"/>
                <a:ea typeface="Noto Sans"/>
                <a:cs typeface="Noto Sans"/>
                <a:sym typeface="Noto Sans"/>
              </a:rPr>
              <a:t>인증 외부화 배제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12137529" y="2514600"/>
            <a:ext cx="4961480" cy="894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861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(자체 Bcrypt/Argon2 단방향 해시, 비밀번호 미저장)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11756529" y="4102100"/>
            <a:ext cx="5578971" cy="2170509"/>
          </a:xfrm>
          <a:prstGeom prst="roundRect">
            <a:avLst>
              <a:gd fmla="val 9654" name="adj"/>
            </a:avLst>
          </a:prstGeom>
          <a:solidFill>
            <a:srgbClr val="FFFFFF"/>
          </a:solidFill>
          <a:ln>
            <a:noFill/>
          </a:ln>
          <a:effectLst>
            <a:outerShdw blurRad="342900" rotWithShape="0" algn="bl" dir="5400000" dist="13335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12137529" y="4432300"/>
            <a:ext cx="529866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E88"/>
              </a:buClr>
              <a:buSzPts val="750"/>
              <a:buFont typeface="Noto Sans"/>
              <a:buNone/>
            </a:pPr>
            <a:r>
              <a:rPr b="1" i="0" lang="en-US" sz="3000" u="none" cap="none" strike="noStrike">
                <a:solidFill>
                  <a:srgbClr val="2F6E88"/>
                </a:solidFill>
                <a:latin typeface="Noto Sans"/>
                <a:ea typeface="Noto Sans"/>
                <a:cs typeface="Noto Sans"/>
                <a:sym typeface="Noto Sans"/>
              </a:rPr>
              <a:t>계층적 암호화</a:t>
            </a:r>
            <a:endParaRPr b="1" i="0" sz="3000" u="none" cap="none" strike="noStrike">
              <a:solidFill>
                <a:srgbClr val="2F6E8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12137529" y="5092700"/>
            <a:ext cx="4961480" cy="894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861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581"/>
              <a:buFont typeface="Noto Sans"/>
              <a:buNone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(전송 HTTPS/TLS · 매체 암호화 · 민감 컬럼 AES-256)</a:t>
            </a:r>
            <a:endParaRPr b="0" i="0" sz="2325" u="none" cap="none" strike="noStrike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11756529" y="6692900"/>
            <a:ext cx="5578971" cy="2170509"/>
          </a:xfrm>
          <a:prstGeom prst="roundRect">
            <a:avLst>
              <a:gd fmla="val 9654" name="adj"/>
            </a:avLst>
          </a:prstGeom>
          <a:solidFill>
            <a:srgbClr val="FFFFFF"/>
          </a:solidFill>
          <a:ln>
            <a:noFill/>
          </a:ln>
          <a:effectLst>
            <a:outerShdw blurRad="342900" rotWithShape="0" algn="bl" dir="5400000" dist="13335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12137529" y="7023100"/>
            <a:ext cx="529866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E88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2F6E88"/>
                </a:solidFill>
                <a:latin typeface="Noto Sans"/>
                <a:ea typeface="Noto Sans"/>
                <a:cs typeface="Noto Sans"/>
                <a:sym typeface="Noto Sans"/>
              </a:rPr>
              <a:t>안전 삭제 정책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12137529" y="7683500"/>
            <a:ext cx="4961480" cy="894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861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(사용자 탈퇴 시 연관 테이블 CASCADE 자동 삭제)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 txBox="1"/>
          <p:nvPr/>
        </p:nvSpPr>
        <p:spPr>
          <a:xfrm>
            <a:off x="1282700" y="508000"/>
            <a:ext cx="146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데이터 보안·개인정보 보호 설계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4"/>
          <p:cNvSpPr/>
          <p:nvPr/>
        </p:nvSpPr>
        <p:spPr>
          <a:xfrm>
            <a:off x="1047750" y="2222500"/>
            <a:ext cx="817245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E88"/>
              </a:buClr>
              <a:buSzPts val="4500"/>
              <a:buFont typeface="Noto Sans"/>
              <a:buNone/>
            </a:pPr>
            <a:r>
              <a:rPr b="1" i="0" lang="en-US" sz="4500" u="none" cap="none" strike="noStrike">
                <a:solidFill>
                  <a:srgbClr val="2F6E88"/>
                </a:solidFill>
                <a:latin typeface="Noto Sans"/>
                <a:ea typeface="Noto Sans"/>
                <a:cs typeface="Noto Sans"/>
                <a:sym typeface="Noto Sans"/>
              </a:rPr>
              <a:t>기능 요구사항 (FR)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1428750" y="3543300"/>
            <a:ext cx="77533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E88"/>
              </a:buClr>
              <a:buSzPts val="2700"/>
              <a:buFont typeface="Noto Sans"/>
              <a:buNone/>
            </a:pPr>
            <a:r>
              <a:rPr b="1" i="0" lang="en-US" sz="2700" u="none" cap="none" strike="noStrike">
                <a:solidFill>
                  <a:srgbClr val="2F6E88"/>
                </a:solidFill>
                <a:latin typeface="Noto Sans"/>
                <a:ea typeface="Noto Sans"/>
                <a:cs typeface="Noto Sans"/>
                <a:sym typeface="Noto Sans"/>
              </a:rPr>
              <a:t>[자동 수집]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1428750" y="4025900"/>
            <a:ext cx="725995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263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75"/>
              <a:buFont typeface="Noto Sans"/>
              <a:buNone/>
            </a:pPr>
            <a:r>
              <a:rPr lang="en-US" sz="2475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앱 push 기반 최소 15분 간격 자동 수집 (FR-DP-001)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1428750" y="5564050"/>
            <a:ext cx="7753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E88"/>
              </a:buClr>
              <a:buSzPts val="2700"/>
              <a:buFont typeface="Noto Sans"/>
              <a:buNone/>
            </a:pPr>
            <a:r>
              <a:rPr b="1" i="0" lang="en-US" sz="2700" u="none" cap="none" strike="noStrike">
                <a:solidFill>
                  <a:srgbClr val="2F6E88"/>
                </a:solidFill>
                <a:latin typeface="Noto Sans"/>
                <a:ea typeface="Noto Sans"/>
                <a:cs typeface="Noto Sans"/>
                <a:sym typeface="Noto Sans"/>
              </a:rPr>
              <a:t>[LLM 안전망]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1428750" y="6059350"/>
            <a:ext cx="72600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263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75"/>
              <a:buFont typeface="Noto Sans"/>
              <a:buNone/>
            </a:pPr>
            <a:r>
              <a:rPr b="0" i="0" lang="en-US" sz="247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진단, 자해, 약물 정보 제공 금지 시스템 프롬프트 고정 (FR-AI-002)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1428750" y="7883525"/>
            <a:ext cx="7753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E88"/>
              </a:buClr>
              <a:buSzPts val="2700"/>
              <a:buFont typeface="Noto Sans"/>
              <a:buNone/>
            </a:pPr>
            <a:r>
              <a:rPr b="1" i="0" lang="en-US" sz="2700" u="none" cap="none" strike="noStrike">
                <a:solidFill>
                  <a:srgbClr val="2F6E88"/>
                </a:solidFill>
                <a:latin typeface="Noto Sans"/>
                <a:ea typeface="Noto Sans"/>
                <a:cs typeface="Noto Sans"/>
                <a:sym typeface="Noto Sans"/>
              </a:rPr>
              <a:t>[안전 검수]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1428750" y="8378825"/>
            <a:ext cx="72600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263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75"/>
              <a:buFont typeface="Noto Sans"/>
              <a:buNone/>
            </a:pPr>
            <a:r>
              <a:rPr b="0" i="0" lang="en-US" sz="2475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자극적인 콘텐츠 배제, 사전 검수된 중립적 콘텐츠만 추천 (FR-CS-001)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9144000" y="1524000"/>
            <a:ext cx="9144000" cy="8509000"/>
          </a:xfrm>
          <a:prstGeom prst="rect">
            <a:avLst/>
          </a:prstGeom>
          <a:solidFill>
            <a:srgbClr val="EEF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9810750" y="2222500"/>
            <a:ext cx="79935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6E88"/>
              </a:buClr>
              <a:buSzPts val="4500"/>
              <a:buFont typeface="Noto Sans"/>
              <a:buNone/>
            </a:pPr>
            <a:r>
              <a:rPr b="1" i="0" lang="en-US" sz="4500" u="none" cap="none" strike="noStrike">
                <a:solidFill>
                  <a:srgbClr val="2F6E88"/>
                </a:solidFill>
                <a:latin typeface="Noto Sans"/>
                <a:ea typeface="Noto Sans"/>
                <a:cs typeface="Noto Sans"/>
                <a:sym typeface="Noto Sans"/>
              </a:rPr>
              <a:t>비기능 요구사항 및 한계치 (NFR)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9810750" y="3733788"/>
            <a:ext cx="1409700" cy="1409700"/>
          </a:xfrm>
          <a:prstGeom prst="ellipse">
            <a:avLst/>
          </a:prstGeom>
          <a:solidFill>
            <a:srgbClr val="D7ECEA"/>
          </a:solidFill>
          <a:ln cap="flat" cmpd="sng" w="85725">
            <a:solidFill>
              <a:srgbClr val="3E90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 rot="-1927500">
            <a:off x="10356379" y="4152786"/>
            <a:ext cx="76161" cy="457156"/>
          </a:xfrm>
          <a:prstGeom prst="rect">
            <a:avLst/>
          </a:prstGeom>
          <a:solidFill>
            <a:srgbClr val="2F4E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11601450" y="3543288"/>
            <a:ext cx="6202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550"/>
              <a:buFont typeface="Noto Sans"/>
              <a:buNone/>
            </a:pPr>
            <a:r>
              <a:rPr b="1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[응답 지연]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11601450" y="3987788"/>
            <a:ext cx="5808000" cy="13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암복호화 지연 200ms 이내 / 전체 대화 응답 3초 이내 (NFR-DE-002, DV-001)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9710325" y="5911588"/>
            <a:ext cx="1581300" cy="781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76200">
            <a:solidFill>
              <a:srgbClr val="2F4E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9881850" y="6154379"/>
            <a:ext cx="381000" cy="266700"/>
          </a:xfrm>
          <a:prstGeom prst="roundRect">
            <a:avLst>
              <a:gd fmla="val 14286" name="adj"/>
            </a:avLst>
          </a:pr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10310475" y="6154379"/>
            <a:ext cx="381000" cy="266700"/>
          </a:xfrm>
          <a:prstGeom prst="roundRect">
            <a:avLst>
              <a:gd fmla="val 14286" name="adj"/>
            </a:avLst>
          </a:prstGeom>
          <a:solidFill>
            <a:srgbClr val="3E908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10739100" y="6154379"/>
            <a:ext cx="381000" cy="266700"/>
          </a:xfrm>
          <a:prstGeom prst="roundRect">
            <a:avLst>
              <a:gd fmla="val 14286" name="adj"/>
            </a:avLst>
          </a:prstGeom>
          <a:solidFill>
            <a:srgbClr val="F5C1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11586750" y="5473363"/>
            <a:ext cx="60141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550"/>
              <a:buFont typeface="Noto Sans"/>
              <a:buNone/>
            </a:pPr>
            <a:r>
              <a:rPr b="1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[장애 대응]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11586750" y="5911588"/>
            <a:ext cx="5631300" cy="13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외부 API 장애 시 30초 간격 3회 재시도 후 자체 대체 응답</a:t>
            </a:r>
            <a:endParaRPr b="0" i="0" sz="2400" u="none" cap="none" strike="noStrike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(NFR-DV-002, NFR-DV-003)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10063784" y="8151475"/>
            <a:ext cx="1143000" cy="990600"/>
          </a:xfrm>
          <a:custGeom>
            <a:rect b="b" l="l" r="r" t="t"/>
            <a:pathLst>
              <a:path extrusionOk="0" h="990600" w="1143000">
                <a:moveTo>
                  <a:pt x="495300" y="0"/>
                </a:moveTo>
                <a:lnTo>
                  <a:pt x="647700" y="0"/>
                </a:lnTo>
                <a:cubicBezTo>
                  <a:pt x="779062" y="0"/>
                  <a:pt x="905043" y="52183"/>
                  <a:pt x="997930" y="145070"/>
                </a:cubicBezTo>
                <a:cubicBezTo>
                  <a:pt x="1090817" y="237957"/>
                  <a:pt x="1143000" y="363938"/>
                  <a:pt x="1143000" y="495300"/>
                </a:cubicBezTo>
                <a:lnTo>
                  <a:pt x="1143000" y="876300"/>
                </a:lnTo>
                <a:cubicBezTo>
                  <a:pt x="1143000" y="939426"/>
                  <a:pt x="1091826" y="990600"/>
                  <a:pt x="1028700" y="990600"/>
                </a:cubicBezTo>
                <a:lnTo>
                  <a:pt x="114300" y="990600"/>
                </a:lnTo>
                <a:cubicBezTo>
                  <a:pt x="51174" y="990600"/>
                  <a:pt x="0" y="939426"/>
                  <a:pt x="0" y="876300"/>
                </a:cubicBezTo>
                <a:lnTo>
                  <a:pt x="0" y="495300"/>
                </a:lnTo>
                <a:cubicBezTo>
                  <a:pt x="0" y="221753"/>
                  <a:pt x="221753" y="0"/>
                  <a:pt x="495300" y="0"/>
                </a:cubicBezTo>
                <a:close/>
              </a:path>
            </a:pathLst>
          </a:custGeom>
          <a:solidFill>
            <a:srgbClr val="EF8579"/>
          </a:solidFill>
          <a:ln cap="flat" cmpd="sng" w="76200">
            <a:solidFill>
              <a:srgbClr val="E457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10101884" y="8214975"/>
            <a:ext cx="10668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"/>
              <a:buFont typeface="Noto Sans"/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!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11635400" y="7835400"/>
            <a:ext cx="6391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550"/>
              <a:buFont typeface="Noto Sans"/>
              <a:buNone/>
            </a:pPr>
            <a:r>
              <a:rPr b="1" i="0" lang="en-US" sz="255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[긴급 UI]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11650100" y="8340300"/>
            <a:ext cx="5984700" cy="13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1B2B2E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CRITICAL 판정 시 3초 이내 직통 연결 UI 렌더링 (NFR-TS-001)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 txBox="1"/>
          <p:nvPr/>
        </p:nvSpPr>
        <p:spPr>
          <a:xfrm>
            <a:off x="1282700" y="508000"/>
            <a:ext cx="146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기능·비기능 요구사항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5"/>
          <p:cNvSpPr/>
          <p:nvPr/>
        </p:nvSpPr>
        <p:spPr>
          <a:xfrm>
            <a:off x="912815" y="1524000"/>
            <a:ext cx="296857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E55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2F4E55"/>
                </a:solidFill>
                <a:latin typeface="Noto Sans"/>
                <a:ea typeface="Noto Sans"/>
                <a:cs typeface="Noto Sans"/>
                <a:sym typeface="Noto Sans"/>
              </a:rPr>
              <a:t>1주차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3611515" y="1524000"/>
            <a:ext cx="296857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E55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2F4E55"/>
                </a:solidFill>
                <a:latin typeface="Noto Sans"/>
                <a:ea typeface="Noto Sans"/>
                <a:cs typeface="Noto Sans"/>
                <a:sym typeface="Noto Sans"/>
              </a:rPr>
              <a:t>2주차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6310208" y="1524000"/>
            <a:ext cx="2968734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E55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2F4E55"/>
                </a:solidFill>
                <a:latin typeface="Noto Sans"/>
                <a:ea typeface="Noto Sans"/>
                <a:cs typeface="Noto Sans"/>
                <a:sym typeface="Noto Sans"/>
              </a:rPr>
              <a:t>3주차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9009065" y="1524000"/>
            <a:ext cx="296857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E55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2F4E55"/>
                </a:solidFill>
                <a:latin typeface="Noto Sans"/>
                <a:ea typeface="Noto Sans"/>
                <a:cs typeface="Noto Sans"/>
                <a:sym typeface="Noto Sans"/>
              </a:rPr>
              <a:t>4주차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11707765" y="1524000"/>
            <a:ext cx="296857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E55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2F4E55"/>
                </a:solidFill>
                <a:latin typeface="Noto Sans"/>
                <a:ea typeface="Noto Sans"/>
                <a:cs typeface="Noto Sans"/>
                <a:sym typeface="Noto Sans"/>
              </a:rPr>
              <a:t>5주차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14406458" y="1524000"/>
            <a:ext cx="2968734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4E55"/>
              </a:buClr>
              <a:buSzPts val="3000"/>
              <a:buFont typeface="Noto Sans"/>
              <a:buNone/>
            </a:pPr>
            <a:r>
              <a:rPr b="0" i="0" lang="en-US" sz="3000" u="none" cap="none" strike="noStrike">
                <a:solidFill>
                  <a:srgbClr val="2F4E55"/>
                </a:solidFill>
                <a:latin typeface="Noto Sans"/>
                <a:ea typeface="Noto Sans"/>
                <a:cs typeface="Noto Sans"/>
                <a:sym typeface="Noto Sans"/>
              </a:rPr>
              <a:t>6주차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1047750" y="2260600"/>
            <a:ext cx="16192500" cy="19050"/>
          </a:xfrm>
          <a:prstGeom prst="rect">
            <a:avLst/>
          </a:prstGeom>
          <a:solidFill>
            <a:srgbClr val="D7E0E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16983075" y="2273300"/>
            <a:ext cx="47625" cy="690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1047750" y="2679700"/>
            <a:ext cx="4722763" cy="847725"/>
          </a:xfrm>
          <a:prstGeom prst="roundRect">
            <a:avLst>
              <a:gd fmla="val 15730" name="adj"/>
            </a:avLst>
          </a:prstGeom>
          <a:solidFill>
            <a:srgbClr val="3E9089"/>
          </a:solidFill>
          <a:ln>
            <a:noFill/>
          </a:ln>
          <a:effectLst>
            <a:outerShdw blurRad="228600" rotWithShape="0" algn="bl" dir="5400000" dist="95250">
              <a:srgbClr val="1E3C42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1333500" y="2882900"/>
            <a:ext cx="4292946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기획안 작성 및 약식 UI/UX 설계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3746450" y="3746500"/>
            <a:ext cx="5397550" cy="847725"/>
          </a:xfrm>
          <a:prstGeom prst="roundRect">
            <a:avLst>
              <a:gd fmla="val 15730" name="adj"/>
            </a:avLst>
          </a:prstGeom>
          <a:solidFill>
            <a:srgbClr val="3E9089"/>
          </a:solidFill>
          <a:ln>
            <a:noFill/>
          </a:ln>
          <a:effectLst>
            <a:outerShdw blurRad="228600" rotWithShape="0" algn="bl" dir="5400000" dist="95250">
              <a:srgbClr val="1E3C42">
                <a:alpha val="16078"/>
              </a:srgbClr>
            </a:outerShdw>
          </a:effectLst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3951237" y="3949700"/>
            <a:ext cx="4987976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정식 UI/UX 설계 및 DB 구조 설계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6445151" y="4813300"/>
            <a:ext cx="8096250" cy="847725"/>
          </a:xfrm>
          <a:prstGeom prst="roundRect">
            <a:avLst>
              <a:gd fmla="val 15730" name="adj"/>
            </a:avLst>
          </a:prstGeom>
          <a:solidFill>
            <a:srgbClr val="3E9089"/>
          </a:solidFill>
          <a:ln>
            <a:noFill/>
          </a:ln>
          <a:effectLst>
            <a:outerShdw blurRad="228600" rotWithShape="0" algn="bl" dir="5400000" dist="95250">
              <a:srgbClr val="1E3C42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6609457" y="5016500"/>
            <a:ext cx="776763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UI/UX 디자인 및 백엔드 개발 시작, AI 모델링(LSTM) 착수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6445151" y="5880100"/>
            <a:ext cx="8771037" cy="847725"/>
          </a:xfrm>
          <a:prstGeom prst="roundRect">
            <a:avLst>
              <a:gd fmla="val 15730" name="adj"/>
            </a:avLst>
          </a:prstGeom>
          <a:solidFill>
            <a:srgbClr val="3E9089"/>
          </a:solidFill>
          <a:ln>
            <a:noFill/>
          </a:ln>
          <a:effectLst>
            <a:outerShdw blurRad="228600" rotWithShape="0" algn="bl" dir="5400000" dist="95250">
              <a:srgbClr val="1E3C42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6599335" y="6083300"/>
            <a:ext cx="8462668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백엔드 고도화, AI 모델링(LightGBM), 프론트엔드 개발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9144000" y="6934200"/>
            <a:ext cx="8096250" cy="847725"/>
          </a:xfrm>
          <a:prstGeom prst="roundRect">
            <a:avLst>
              <a:gd fmla="val 15730" name="adj"/>
            </a:avLst>
          </a:prstGeom>
          <a:solidFill>
            <a:srgbClr val="3E9089"/>
          </a:solidFill>
          <a:ln>
            <a:noFill/>
          </a:ln>
          <a:effectLst>
            <a:outerShdw blurRad="228600" rotWithShape="0" algn="bl" dir="5400000" dist="95250">
              <a:srgbClr val="1E3C42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9308306" y="7137400"/>
            <a:ext cx="776763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프론트엔드/백엔드 통합 및 전체 시스템 통합 테스트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11842700" y="8001000"/>
            <a:ext cx="5397550" cy="847725"/>
          </a:xfrm>
          <a:prstGeom prst="roundRect">
            <a:avLst>
              <a:gd fmla="val 15730" name="adj"/>
            </a:avLst>
          </a:prstGeom>
          <a:solidFill>
            <a:srgbClr val="3E9089"/>
          </a:solidFill>
          <a:ln>
            <a:noFill/>
          </a:ln>
          <a:effectLst>
            <a:outerShdw blurRad="228600" rotWithShape="0" algn="bl" dir="5400000" dist="95250">
              <a:srgbClr val="1E3C42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12047487" y="8204200"/>
            <a:ext cx="4987976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Noto Sans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최종 테스트 및 발표 준비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9599231" y="9474847"/>
            <a:ext cx="6981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13716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550"/>
              <a:buFont typeface="Noto Sans"/>
              <a:buNone/>
            </a:pPr>
            <a:r>
              <a:rPr b="1" i="0" lang="en-US" sz="2550" u="none" cap="none" strike="noStrike">
                <a:solidFill>
                  <a:srgbClr val="C0392B"/>
                </a:solidFill>
                <a:latin typeface="Noto Sans"/>
                <a:ea typeface="Noto Sans"/>
                <a:cs typeface="Noto Sans"/>
                <a:sym typeface="Noto Sans"/>
              </a:rPr>
              <a:t>8월 28일 시스템 최종 발표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16654388" y="9340850"/>
            <a:ext cx="705000" cy="705000"/>
          </a:xfrm>
          <a:prstGeom prst="ellipse">
            <a:avLst/>
          </a:prstGeom>
          <a:solidFill>
            <a:srgbClr val="FFFFFF"/>
          </a:solidFill>
          <a:ln cap="flat" cmpd="sng" w="857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16911563" y="9582150"/>
            <a:ext cx="190500" cy="1905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 txBox="1"/>
          <p:nvPr/>
        </p:nvSpPr>
        <p:spPr>
          <a:xfrm>
            <a:off x="1282700" y="508000"/>
            <a:ext cx="146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6주 개발 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6"/>
          <p:cNvSpPr/>
          <p:nvPr/>
        </p:nvSpPr>
        <p:spPr>
          <a:xfrm>
            <a:off x="1238250" y="1524000"/>
            <a:ext cx="5041850" cy="2108200"/>
          </a:xfrm>
          <a:prstGeom prst="roundRect">
            <a:avLst>
              <a:gd fmla="val 7968" name="adj"/>
            </a:avLst>
          </a:prstGeom>
          <a:solidFill>
            <a:srgbClr val="FFFFFF"/>
          </a:solidFill>
          <a:ln>
            <a:noFill/>
          </a:ln>
          <a:effectLst>
            <a:outerShdw blurRad="304800" rotWithShape="0" algn="bl" dir="5400000" dist="11430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1384302" y="1841500"/>
            <a:ext cx="4749745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64"/>
              </a:buClr>
              <a:buSzPts val="6300"/>
              <a:buFont typeface="Noto Sans"/>
              <a:buNone/>
            </a:pPr>
            <a:r>
              <a:rPr b="1" i="0" lang="en-US" sz="6300" u="none" cap="none" strike="noStrike">
                <a:solidFill>
                  <a:srgbClr val="1A6B64"/>
                </a:solidFill>
                <a:latin typeface="Noto Sans"/>
                <a:ea typeface="Noto Sans"/>
                <a:cs typeface="Noto Sans"/>
                <a:sym typeface="Noto Sans"/>
              </a:rPr>
              <a:t>15분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1384302" y="2933700"/>
            <a:ext cx="4749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250"/>
              <a:buFont typeface="Noto Sans"/>
              <a:buNone/>
            </a:pPr>
            <a:r>
              <a:rPr b="0" i="0" lang="en-US" sz="225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라이프로그 수집 주기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6623000" y="1524000"/>
            <a:ext cx="5041850" cy="2108200"/>
          </a:xfrm>
          <a:prstGeom prst="roundRect">
            <a:avLst>
              <a:gd fmla="val 7968" name="adj"/>
            </a:avLst>
          </a:prstGeom>
          <a:solidFill>
            <a:srgbClr val="FFFFFF"/>
          </a:solidFill>
          <a:ln>
            <a:noFill/>
          </a:ln>
          <a:effectLst>
            <a:outerShdw blurRad="304800" rotWithShape="0" algn="bl" dir="5400000" dist="11430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6769053" y="1841500"/>
            <a:ext cx="4749745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64"/>
              </a:buClr>
              <a:buSzPts val="6300"/>
              <a:buFont typeface="Noto Sans"/>
              <a:buNone/>
            </a:pPr>
            <a:r>
              <a:rPr b="1" i="0" lang="en-US" sz="6300" u="none" cap="none" strike="noStrike">
                <a:solidFill>
                  <a:srgbClr val="1A6B64"/>
                </a:solidFill>
                <a:latin typeface="Noto Sans"/>
                <a:ea typeface="Noto Sans"/>
                <a:cs typeface="Noto Sans"/>
                <a:sym typeface="Noto Sans"/>
              </a:rPr>
              <a:t>5초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6769053" y="2933700"/>
            <a:ext cx="4749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250"/>
              <a:buFont typeface="Noto Sans"/>
              <a:buNone/>
            </a:pPr>
            <a:r>
              <a:rPr b="0" i="0" lang="en-US" sz="225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전처리~위험도 산출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12007751" y="1524000"/>
            <a:ext cx="5041850" cy="2108200"/>
          </a:xfrm>
          <a:prstGeom prst="roundRect">
            <a:avLst>
              <a:gd fmla="val 7968" name="adj"/>
            </a:avLst>
          </a:prstGeom>
          <a:solidFill>
            <a:srgbClr val="FFFFFF"/>
          </a:solidFill>
          <a:ln>
            <a:noFill/>
          </a:ln>
          <a:effectLst>
            <a:outerShdw blurRad="304800" rotWithShape="0" algn="bl" dir="5400000" dist="11430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12153803" y="1841500"/>
            <a:ext cx="4749745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574C"/>
              </a:buClr>
              <a:buSzPts val="6300"/>
              <a:buFont typeface="Noto Sans"/>
              <a:buNone/>
            </a:pPr>
            <a:r>
              <a:rPr b="1" i="0" lang="en-US" sz="6300" u="none" cap="none" strike="noStrike">
                <a:solidFill>
                  <a:srgbClr val="E4574C"/>
                </a:solidFill>
                <a:latin typeface="Noto Sans"/>
                <a:ea typeface="Noto Sans"/>
                <a:cs typeface="Noto Sans"/>
                <a:sym typeface="Noto Sans"/>
              </a:rPr>
              <a:t>3초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12153803" y="2933700"/>
            <a:ext cx="4749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250"/>
              <a:buFont typeface="Noto Sans"/>
              <a:buNone/>
            </a:pPr>
            <a:r>
              <a:rPr b="0" i="0" lang="en-US" sz="225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긴급 상담 UI 노출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1238250" y="3937000"/>
            <a:ext cx="5041850" cy="1905000"/>
          </a:xfrm>
          <a:prstGeom prst="roundRect">
            <a:avLst>
              <a:gd fmla="val 8811" name="adj"/>
            </a:avLst>
          </a:prstGeom>
          <a:solidFill>
            <a:srgbClr val="FFFFFF"/>
          </a:solidFill>
          <a:ln>
            <a:noFill/>
          </a:ln>
          <a:effectLst>
            <a:outerShdw blurRad="304800" rotWithShape="0" algn="bl" dir="5400000" dist="11430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1384302" y="4254500"/>
            <a:ext cx="474974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6B64"/>
              </a:buClr>
              <a:buSzPts val="6300"/>
              <a:buFont typeface="Noto Sans"/>
              <a:buNone/>
            </a:pPr>
            <a:r>
              <a:rPr b="1" i="0" lang="en-US" sz="6300" u="none" cap="none" strike="noStrike">
                <a:solidFill>
                  <a:srgbClr val="1A6B64"/>
                </a:solidFill>
                <a:latin typeface="Noto Sans"/>
                <a:ea typeface="Noto Sans"/>
                <a:cs typeface="Noto Sans"/>
                <a:sym typeface="Noto Sans"/>
              </a:rPr>
              <a:t>85%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1384302" y="5156200"/>
            <a:ext cx="4749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250"/>
              <a:buFont typeface="Noto Sans"/>
              <a:buNone/>
            </a:pPr>
            <a:r>
              <a:rPr b="0" i="0" lang="en-US" sz="225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위험도 분류 정확도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6623000" y="3937000"/>
            <a:ext cx="5041850" cy="1905000"/>
          </a:xfrm>
          <a:prstGeom prst="roundRect">
            <a:avLst>
              <a:gd fmla="val 8811" name="adj"/>
            </a:avLst>
          </a:prstGeom>
          <a:solidFill>
            <a:srgbClr val="FFFFFF"/>
          </a:solidFill>
          <a:ln>
            <a:noFill/>
          </a:ln>
          <a:effectLst>
            <a:outerShdw blurRad="304800" rotWithShape="0" algn="bl" dir="5400000" dist="11430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6769053" y="4254500"/>
            <a:ext cx="474974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6B64"/>
              </a:buClr>
              <a:buSzPts val="6300"/>
              <a:buFont typeface="Noto Sans"/>
              <a:buNone/>
            </a:pPr>
            <a:r>
              <a:rPr b="1" i="0" lang="en-US" sz="6300" u="none" cap="none" strike="noStrike">
                <a:solidFill>
                  <a:srgbClr val="1A6B64"/>
                </a:solidFill>
                <a:latin typeface="Noto Sans"/>
                <a:ea typeface="Noto Sans"/>
                <a:cs typeface="Noto Sans"/>
                <a:sym typeface="Noto Sans"/>
              </a:rPr>
              <a:t>0.80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6769053" y="5156200"/>
            <a:ext cx="4749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250"/>
              <a:buFont typeface="Noto Sans"/>
              <a:buNone/>
            </a:pPr>
            <a:r>
              <a:rPr b="0" i="0" lang="en-US" sz="225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위험 단계 F1-Score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12007751" y="3937000"/>
            <a:ext cx="5041850" cy="1905000"/>
          </a:xfrm>
          <a:prstGeom prst="roundRect">
            <a:avLst>
              <a:gd fmla="val 8811" name="adj"/>
            </a:avLst>
          </a:prstGeom>
          <a:solidFill>
            <a:srgbClr val="FFFFFF"/>
          </a:solidFill>
          <a:ln>
            <a:noFill/>
          </a:ln>
          <a:effectLst>
            <a:outerShdw blurRad="304800" rotWithShape="0" algn="bl" dir="5400000" dist="11430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12153803" y="4254500"/>
            <a:ext cx="474974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6B64"/>
              </a:buClr>
              <a:buSzPts val="1575"/>
              <a:buFont typeface="Noto Sans"/>
              <a:buNone/>
            </a:pPr>
            <a:r>
              <a:rPr b="1" i="0" lang="en-US" sz="6300" u="none" cap="none" strike="noStrike">
                <a:solidFill>
                  <a:srgbClr val="1A6B64"/>
                </a:solidFill>
                <a:latin typeface="Noto Sans"/>
                <a:ea typeface="Noto Sans"/>
                <a:cs typeface="Noto Sans"/>
                <a:sym typeface="Noto Sans"/>
              </a:rPr>
              <a:t>0.8</a:t>
            </a:r>
            <a:r>
              <a:rPr b="1" lang="en-US" sz="6300">
                <a:solidFill>
                  <a:srgbClr val="1A6B64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b="1" i="0" sz="6300" u="none" cap="none" strike="noStrike">
              <a:solidFill>
                <a:srgbClr val="1A6B6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12153803" y="5156200"/>
            <a:ext cx="4749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250"/>
              <a:buFont typeface="Noto Sans"/>
              <a:buNone/>
            </a:pPr>
            <a:r>
              <a:rPr b="0" i="0" lang="en-US" sz="225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위기 문맥 F1-Score (재현율 90%)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1238250" y="6146800"/>
            <a:ext cx="5041850" cy="2108200"/>
          </a:xfrm>
          <a:prstGeom prst="roundRect">
            <a:avLst>
              <a:gd fmla="val 7968" name="adj"/>
            </a:avLst>
          </a:prstGeom>
          <a:solidFill>
            <a:srgbClr val="FFFFFF"/>
          </a:solidFill>
          <a:ln>
            <a:noFill/>
          </a:ln>
          <a:effectLst>
            <a:outerShdw blurRad="304800" rotWithShape="0" algn="bl" dir="5400000" dist="11430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1384302" y="6464300"/>
            <a:ext cx="4749745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64"/>
              </a:buClr>
              <a:buSzPts val="6300"/>
              <a:buFont typeface="Noto Sans"/>
              <a:buNone/>
            </a:pPr>
            <a:r>
              <a:rPr b="1" i="0" lang="en-US" sz="6300" u="none" cap="none" strike="noStrike">
                <a:solidFill>
                  <a:srgbClr val="1A6B64"/>
                </a:solidFill>
                <a:latin typeface="Noto Sans"/>
                <a:ea typeface="Noto Sans"/>
                <a:cs typeface="Noto Sans"/>
                <a:sym typeface="Noto Sans"/>
              </a:rPr>
              <a:t>1.5초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1384302" y="7569200"/>
            <a:ext cx="4749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250"/>
              <a:buFont typeface="Noto Sans"/>
              <a:buNone/>
            </a:pPr>
            <a:r>
              <a:rPr b="0" i="0" lang="en-US" sz="225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단일 대화 위기 추론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6623000" y="6146800"/>
            <a:ext cx="5041850" cy="2108200"/>
          </a:xfrm>
          <a:prstGeom prst="roundRect">
            <a:avLst>
              <a:gd fmla="val 7968" name="adj"/>
            </a:avLst>
          </a:prstGeom>
          <a:solidFill>
            <a:srgbClr val="FFFFFF"/>
          </a:solidFill>
          <a:ln>
            <a:noFill/>
          </a:ln>
          <a:effectLst>
            <a:outerShdw blurRad="304800" rotWithShape="0" algn="bl" dir="5400000" dist="11430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6769053" y="6464300"/>
            <a:ext cx="474974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6B64"/>
              </a:buClr>
              <a:buSzPts val="6300"/>
              <a:buFont typeface="Noto Sans"/>
              <a:buNone/>
            </a:pPr>
            <a:r>
              <a:rPr b="1" i="0" lang="en-US" sz="6300" u="none" cap="none" strike="noStrike">
                <a:solidFill>
                  <a:srgbClr val="1A6B64"/>
                </a:solidFill>
                <a:latin typeface="Noto Sans"/>
                <a:ea typeface="Noto Sans"/>
                <a:cs typeface="Noto Sans"/>
                <a:sym typeface="Noto Sans"/>
              </a:rPr>
              <a:t>200ms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6769053" y="7366000"/>
            <a:ext cx="4749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250"/>
              <a:buFont typeface="Noto Sans"/>
              <a:buNone/>
            </a:pPr>
            <a:r>
              <a:rPr b="0" i="0" lang="en-US" sz="225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암복호화 허용 지연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12007751" y="6146800"/>
            <a:ext cx="5041850" cy="2108200"/>
          </a:xfrm>
          <a:prstGeom prst="roundRect">
            <a:avLst>
              <a:gd fmla="val 7968" name="adj"/>
            </a:avLst>
          </a:prstGeom>
          <a:solidFill>
            <a:srgbClr val="FFFFFF"/>
          </a:solidFill>
          <a:ln>
            <a:noFill/>
          </a:ln>
          <a:effectLst>
            <a:outerShdw blurRad="304800" rotWithShape="0" algn="bl" dir="5400000" dist="114300">
              <a:srgbClr val="1E3C42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12153803" y="6464300"/>
            <a:ext cx="4749745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64"/>
              </a:buClr>
              <a:buSzPts val="6300"/>
              <a:buFont typeface="Noto Sans"/>
              <a:buNone/>
            </a:pPr>
            <a:r>
              <a:rPr b="1" i="0" lang="en-US" sz="6300" u="none" cap="none" strike="noStrike">
                <a:solidFill>
                  <a:srgbClr val="1A6B64"/>
                </a:solidFill>
                <a:latin typeface="Noto Sans"/>
                <a:ea typeface="Noto Sans"/>
                <a:cs typeface="Noto Sans"/>
                <a:sym typeface="Noto Sans"/>
              </a:rPr>
              <a:t>3회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12153803" y="7569200"/>
            <a:ext cx="4749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84C"/>
              </a:buClr>
              <a:buSzPts val="2250"/>
              <a:buFont typeface="Noto Sans"/>
              <a:buNone/>
            </a:pPr>
            <a:r>
              <a:rPr b="0" i="0" lang="en-US" sz="2250" u="none" cap="none" strike="noStrike">
                <a:solidFill>
                  <a:srgbClr val="33484C"/>
                </a:solidFill>
                <a:latin typeface="Noto Sans"/>
                <a:ea typeface="Noto Sans"/>
                <a:cs typeface="Noto Sans"/>
                <a:sym typeface="Noto Sans"/>
              </a:rPr>
              <a:t>수집 실패 재시도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1001078" y="8795365"/>
            <a:ext cx="1628584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1250"/>
              </a:lnSpc>
              <a:spcBef>
                <a:spcPts val="0"/>
              </a:spcBef>
              <a:spcAft>
                <a:spcPts val="0"/>
              </a:spcAft>
              <a:buClr>
                <a:srgbClr val="1A6B64"/>
              </a:buClr>
              <a:buSzPts val="3150"/>
              <a:buFont typeface="Noto Sans"/>
              <a:buNone/>
            </a:pPr>
            <a:r>
              <a:rPr b="1" i="0" lang="en-US" sz="3150" u="none" cap="none" strike="noStrike">
                <a:solidFill>
                  <a:srgbClr val="1A6B64"/>
                </a:solidFill>
                <a:latin typeface="Noto Sans"/>
                <a:ea typeface="Noto Sans"/>
                <a:cs typeface="Noto Sans"/>
                <a:sym typeface="Noto Sans"/>
              </a:rPr>
              <a:t>1인가구의 고립을 막는 기술적 보완책을 넘어,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1250"/>
              </a:lnSpc>
              <a:spcBef>
                <a:spcPts val="0"/>
              </a:spcBef>
              <a:spcAft>
                <a:spcPts val="0"/>
              </a:spcAft>
              <a:buClr>
                <a:srgbClr val="1A6B64"/>
              </a:buClr>
              <a:buSzPts val="3150"/>
              <a:buFont typeface="Noto Sans"/>
              <a:buNone/>
            </a:pPr>
            <a:r>
              <a:rPr b="1" i="0" lang="en-US" sz="3150" u="none" cap="none" strike="noStrike">
                <a:solidFill>
                  <a:srgbClr val="1A6B64"/>
                </a:solidFill>
                <a:latin typeface="Noto Sans"/>
                <a:ea typeface="Noto Sans"/>
                <a:cs typeface="Noto Sans"/>
                <a:sym typeface="Noto Sans"/>
              </a:rPr>
              <a:t>향후 EAP(근로자 지원 프로그램) 및 지자체 연계 웰니스 플랫폼으로 확장합니다.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1054100" y="635000"/>
            <a:ext cx="76200" cy="4826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 txBox="1"/>
          <p:nvPr/>
        </p:nvSpPr>
        <p:spPr>
          <a:xfrm>
            <a:off x="1282700" y="508000"/>
            <a:ext cx="1460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핵심 성과 지표와 확장 계획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7"/>
          <p:cNvSpPr/>
          <p:nvPr/>
        </p:nvSpPr>
        <p:spPr>
          <a:xfrm>
            <a:off x="914400" y="1924050"/>
            <a:ext cx="3981300" cy="6305700"/>
          </a:xfrm>
          <a:prstGeom prst="roundRect">
            <a:avLst>
              <a:gd fmla="val 4455" name="adj"/>
            </a:avLst>
          </a:prstGeom>
          <a:solidFill>
            <a:srgbClr val="EE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1419225" y="2476500"/>
            <a:ext cx="3415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E9089"/>
                </a:solidFill>
                <a:latin typeface="Arial"/>
                <a:ea typeface="Arial"/>
                <a:cs typeface="Arial"/>
                <a:sym typeface="Arial"/>
              </a:rPr>
              <a:t>PM</a:t>
            </a:r>
            <a:endParaRPr b="0" i="0" sz="1900" u="none" cap="none" strike="noStrike">
              <a:solidFill>
                <a:srgbClr val="3E90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1419225" y="2943225"/>
            <a:ext cx="34158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이응균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1419225" y="3819525"/>
            <a:ext cx="3198300" cy="15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2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일정·산출물 총괄, 기획서 및 DB 명세 작성, 최종 발표</a:t>
            </a:r>
            <a:endParaRPr b="0" i="0" sz="20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1371600" y="7008392"/>
            <a:ext cx="3415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6F8393"/>
                </a:solidFill>
                <a:latin typeface="Noto Sans KR"/>
                <a:ea typeface="Noto Sans KR"/>
                <a:cs typeface="Noto Sans KR"/>
                <a:sym typeface="Noto Sans KR"/>
              </a:rPr>
              <a:t>팀장</a:t>
            </a:r>
            <a:endParaRPr b="1" i="0" sz="2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5029200" y="1924050"/>
            <a:ext cx="3981300" cy="6305700"/>
          </a:xfrm>
          <a:prstGeom prst="roundRect">
            <a:avLst>
              <a:gd fmla="val 4455" name="adj"/>
            </a:avLst>
          </a:prstGeom>
          <a:solidFill>
            <a:srgbClr val="EE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5534025" y="2476500"/>
            <a:ext cx="3415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E9089"/>
                </a:solidFill>
                <a:latin typeface="Arial"/>
                <a:ea typeface="Arial"/>
                <a:cs typeface="Arial"/>
                <a:sym typeface="Arial"/>
              </a:rPr>
              <a:t>DATA / AI</a:t>
            </a:r>
            <a:endParaRPr b="0" i="0" sz="1900" u="none" cap="none" strike="noStrike">
              <a:solidFill>
                <a:srgbClr val="3E90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5534025" y="2943225"/>
            <a:ext cx="34158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김건영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5534025" y="3819525"/>
            <a:ext cx="3198300" cy="15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2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LSTM Autoencoder · LightGBM 2단계 모델, </a:t>
            </a:r>
            <a:endParaRPr b="0" i="0" sz="20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62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위기 대화 탐지</a:t>
            </a:r>
            <a:endParaRPr b="0" i="0" sz="20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5524500" y="7008392"/>
            <a:ext cx="3415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6F8393"/>
                </a:solidFill>
                <a:latin typeface="Noto Sans KR"/>
                <a:ea typeface="Noto Sans KR"/>
                <a:cs typeface="Noto Sans KR"/>
                <a:sym typeface="Noto Sans KR"/>
              </a:rPr>
              <a:t>Python · PyTorch</a:t>
            </a:r>
            <a:endParaRPr b="1" i="0" sz="2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9144000" y="1924050"/>
            <a:ext cx="3981600" cy="6305700"/>
          </a:xfrm>
          <a:prstGeom prst="roundRect">
            <a:avLst>
              <a:gd fmla="val 4455" name="adj"/>
            </a:avLst>
          </a:prstGeom>
          <a:solidFill>
            <a:srgbClr val="EE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9648825" y="2476500"/>
            <a:ext cx="3415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E9089"/>
                </a:solidFill>
                <a:latin typeface="Arial"/>
                <a:ea typeface="Arial"/>
                <a:cs typeface="Arial"/>
                <a:sym typeface="Arial"/>
              </a:rPr>
              <a:t>BACKEND / DB</a:t>
            </a:r>
            <a:endParaRPr b="0" i="0" sz="1900" u="none" cap="none" strike="noStrike">
              <a:solidFill>
                <a:srgbClr val="3E90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9648825" y="2943225"/>
            <a:ext cx="34158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윤일준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9648825" y="3819525"/>
            <a:ext cx="3198300" cy="23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2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API 서버, PostgreSQL 설계, Health Connect 연동</a:t>
            </a:r>
            <a:endParaRPr b="0" i="0" sz="20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9655492" y="7008392"/>
            <a:ext cx="3415800" cy="10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6F8393"/>
                </a:solidFill>
                <a:latin typeface="Noto Sans KR"/>
                <a:ea typeface="Noto Sans KR"/>
                <a:cs typeface="Noto Sans KR"/>
                <a:sym typeface="Noto Sans KR"/>
              </a:rPr>
              <a:t>FastAPI · </a:t>
            </a:r>
            <a:endParaRPr b="1" i="0" sz="2500" u="none" cap="none" strike="noStrike">
              <a:solidFill>
                <a:srgbClr val="6F839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6F8393"/>
                </a:solidFill>
                <a:latin typeface="Noto Sans KR"/>
                <a:ea typeface="Noto Sans KR"/>
                <a:cs typeface="Noto Sans KR"/>
                <a:sym typeface="Noto Sans KR"/>
              </a:rPr>
              <a:t>PostgreSQL</a:t>
            </a:r>
            <a:endParaRPr b="1" i="0" sz="2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13258801" y="1924050"/>
            <a:ext cx="3981300" cy="6305700"/>
          </a:xfrm>
          <a:prstGeom prst="roundRect">
            <a:avLst>
              <a:gd fmla="val 4455" name="adj"/>
            </a:avLst>
          </a:prstGeom>
          <a:solidFill>
            <a:srgbClr val="EE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13763625" y="2476500"/>
            <a:ext cx="3415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E9089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900" u="none" cap="none" strike="noStrike">
              <a:solidFill>
                <a:srgbClr val="3E90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13763625" y="2943225"/>
            <a:ext cx="34158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함은선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13763626" y="3819525"/>
            <a:ext cx="3198300" cy="15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2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앱 UI/UX 설계·디자인, </a:t>
            </a:r>
            <a:endParaRPr b="0" i="0" sz="20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62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감정 추이 대시보드 시각화</a:t>
            </a:r>
            <a:endParaRPr b="0" i="0" sz="20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13716000" y="7008392"/>
            <a:ext cx="3415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6F8393"/>
                </a:solidFill>
                <a:latin typeface="Noto Sans KR"/>
                <a:ea typeface="Noto Sans KR"/>
                <a:cs typeface="Noto Sans KR"/>
                <a:sym typeface="Noto Sans KR"/>
              </a:rPr>
              <a:t>React · Flutter</a:t>
            </a:r>
            <a:endParaRPr b="1" i="0" sz="2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1054100" y="635000"/>
            <a:ext cx="76200" cy="482700"/>
          </a:xfrm>
          <a:prstGeom prst="rect">
            <a:avLst/>
          </a:prstGeom>
          <a:solidFill>
            <a:srgbClr val="2C7A73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 txBox="1"/>
          <p:nvPr/>
        </p:nvSpPr>
        <p:spPr>
          <a:xfrm>
            <a:off x="1282700" y="565150"/>
            <a:ext cx="5079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귀기울임 팀원 소개</a:t>
            </a:r>
            <a:endParaRPr b="1" i="0" sz="3000" u="none" cap="none" strike="noStrike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0" name="Google Shape;550;p17"/>
          <p:cNvSpPr txBox="1"/>
          <p:nvPr/>
        </p:nvSpPr>
        <p:spPr>
          <a:xfrm>
            <a:off x="1054100" y="8915254"/>
            <a:ext cx="5079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경청해주셔서 감사합니다.</a:t>
            </a:r>
            <a:endParaRPr b="1" i="0" sz="3000" u="none" cap="none" strike="noStrike">
              <a:solidFill>
                <a:srgbClr val="1B2B2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[1785141252792]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2026-07-27T07:50:52.000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